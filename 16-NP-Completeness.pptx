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trictFirstAndLastChars="0" saveSubsetFonts="1" autoCompressPictures="0">
  <p:sldMasterIdLst>
    <p:sldMasterId id="2147483709" r:id="rId1"/>
  </p:sldMasterIdLst>
  <p:notesMasterIdLst>
    <p:notesMasterId r:id="rId25"/>
  </p:notesMasterIdLst>
  <p:handoutMasterIdLst>
    <p:handoutMasterId r:id="rId26"/>
  </p:handoutMasterIdLst>
  <p:sldIdLst>
    <p:sldId id="612" r:id="rId2"/>
    <p:sldId id="764" r:id="rId3"/>
    <p:sldId id="765" r:id="rId4"/>
    <p:sldId id="770" r:id="rId5"/>
    <p:sldId id="802" r:id="rId6"/>
    <p:sldId id="771" r:id="rId7"/>
    <p:sldId id="772" r:id="rId8"/>
    <p:sldId id="792" r:id="rId9"/>
    <p:sldId id="793" r:id="rId10"/>
    <p:sldId id="774" r:id="rId11"/>
    <p:sldId id="775" r:id="rId12"/>
    <p:sldId id="776" r:id="rId13"/>
    <p:sldId id="777" r:id="rId14"/>
    <p:sldId id="778" r:id="rId15"/>
    <p:sldId id="786" r:id="rId16"/>
    <p:sldId id="806" r:id="rId17"/>
    <p:sldId id="808" r:id="rId18"/>
    <p:sldId id="809" r:id="rId19"/>
    <p:sldId id="805" r:id="rId20"/>
    <p:sldId id="804" r:id="rId21"/>
    <p:sldId id="784" r:id="rId22"/>
    <p:sldId id="807" r:id="rId23"/>
    <p:sldId id="803" r:id="rId24"/>
  </p:sldIdLst>
  <p:sldSz cx="10058400" cy="7315200"/>
  <p:notesSz cx="7315200" cy="9601200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kumimoji="1" sz="17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kumimoji="1" sz="17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kumimoji="1" sz="17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kumimoji="1" sz="17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kumimoji="1" sz="17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umimoji="1" sz="17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umimoji="1" sz="17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umimoji="1" sz="17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umimoji="1" sz="17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3300"/>
    <a:srgbClr val="006600"/>
    <a:srgbClr val="990033"/>
    <a:srgbClr val="CC0000"/>
    <a:srgbClr val="003300"/>
    <a:srgbClr val="0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 autoAdjust="0"/>
    <p:restoredTop sz="94664" autoAdjust="0"/>
  </p:normalViewPr>
  <p:slideViewPr>
    <p:cSldViewPr snapToGrid="0">
      <p:cViewPr varScale="1">
        <p:scale>
          <a:sx n="110" d="100"/>
          <a:sy n="110" d="100"/>
        </p:scale>
        <p:origin x="1368" y="152"/>
      </p:cViewPr>
      <p:guideLst>
        <p:guide orient="horz" pos="2304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624"/>
    </p:cViewPr>
  </p:sorterViewPr>
  <p:notesViewPr>
    <p:cSldViewPr snapToGrid="0">
      <p:cViewPr varScale="1">
        <p:scale>
          <a:sx n="52" d="100"/>
          <a:sy n="52" d="100"/>
        </p:scale>
        <p:origin x="-1836" y="-108"/>
      </p:cViewPr>
      <p:guideLst>
        <p:guide orient="horz" pos="3025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589" cy="480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5998">
              <a:defRPr kumimoji="0" sz="1200">
                <a:latin typeface="Comic Sans MS" pitchFamily="6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5611" y="0"/>
            <a:ext cx="3169589" cy="480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defTabSz="965998">
              <a:defRPr kumimoji="0" sz="1200">
                <a:latin typeface="Comic Sans MS" pitchFamily="64" charset="0"/>
              </a:defRPr>
            </a:lvl1pPr>
          </a:lstStyle>
          <a:p>
            <a:pPr>
              <a:defRPr/>
            </a:pPr>
            <a:fld id="{3ABAA211-F40E-4358-AADF-1CF8DC4E0ED7}" type="datetime1">
              <a:rPr lang="en-US"/>
              <a:pPr>
                <a:defRPr/>
              </a:pPr>
              <a:t>1/25/22</a:t>
            </a:fld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5611" y="9121058"/>
            <a:ext cx="3169589" cy="480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5998">
              <a:defRPr kumimoji="0" sz="1200">
                <a:latin typeface="Comic Sans MS" pitchFamily="64" charset="0"/>
              </a:defRPr>
            </a:lvl1pPr>
          </a:lstStyle>
          <a:p>
            <a:pPr>
              <a:defRPr/>
            </a:pPr>
            <a:fld id="{33388654-CC3D-4EC2-B540-019711B093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589" cy="480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5998">
              <a:defRPr kumimoji="0" sz="1200">
                <a:latin typeface="Comic Sans MS" pitchFamily="6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9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82688" y="720725"/>
            <a:ext cx="4951412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" name="Rectangle 10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7677" y="4561351"/>
            <a:ext cx="5359848" cy="4319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611" y="0"/>
            <a:ext cx="3169589" cy="480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defTabSz="965998">
              <a:defRPr kumimoji="0" sz="1200">
                <a:latin typeface="Comic Sans MS" pitchFamily="64" charset="0"/>
              </a:defRPr>
            </a:lvl1pPr>
          </a:lstStyle>
          <a:p>
            <a:pPr>
              <a:defRPr/>
            </a:pPr>
            <a:fld id="{AB21562F-3062-45EF-8A93-5E1243F90669}" type="datetime1">
              <a:rPr lang="en-US"/>
              <a:pPr>
                <a:defRPr/>
              </a:pPr>
              <a:t>1/25/22</a:t>
            </a:fld>
            <a:endParaRPr lang="en-US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058"/>
            <a:ext cx="3169589" cy="480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l" defTabSz="965998">
              <a:defRPr kumimoji="0" sz="1200">
                <a:latin typeface="Comic Sans MS" pitchFamily="64" charset="0"/>
              </a:defRPr>
            </a:lvl1pPr>
          </a:lstStyle>
          <a:p>
            <a:pPr>
              <a:defRPr/>
            </a:pPr>
            <a:r>
              <a:rPr lang="en-US"/>
              <a:t>Copyright 2000, Kevin Wayne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611" y="9121058"/>
            <a:ext cx="3169589" cy="480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5998">
              <a:defRPr kumimoji="0" sz="1200">
                <a:latin typeface="Comic Sans MS" pitchFamily="64" charset="0"/>
              </a:defRPr>
            </a:lvl1pPr>
          </a:lstStyle>
          <a:p>
            <a:pPr>
              <a:defRPr/>
            </a:pPr>
            <a:fld id="{BD56B6AD-F711-4055-B246-98232A2401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itchFamily="-8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itchFamily="-84" charset="0"/>
        <a:ea typeface="ＭＳ Ｐゴシック" pitchFamily="-8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itchFamily="-84" charset="0"/>
        <a:ea typeface="ＭＳ Ｐゴシック" pitchFamily="-8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itchFamily="-84" charset="0"/>
        <a:ea typeface="ＭＳ Ｐゴシック" pitchFamily="-8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itchFamily="-84" charset="0"/>
        <a:ea typeface="ＭＳ Ｐゴシック" pitchFamily="-8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en-US">
              <a:ea typeface="SimSun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063" y="2271713"/>
            <a:ext cx="8550275" cy="1568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125" y="4144963"/>
            <a:ext cx="7042150" cy="18700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38" y="4700588"/>
            <a:ext cx="8548687" cy="14525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3100388"/>
            <a:ext cx="8548687" cy="16002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122363"/>
            <a:ext cx="4449762" cy="46339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122363"/>
            <a:ext cx="4449763" cy="46339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293688"/>
            <a:ext cx="9051925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8" y="1636713"/>
            <a:ext cx="4443412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238" y="2319338"/>
            <a:ext cx="4443412" cy="4214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0163" y="1636713"/>
            <a:ext cx="4445000" cy="6826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0163" y="2319338"/>
            <a:ext cx="4445000" cy="4214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290513"/>
            <a:ext cx="3308350" cy="12398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238" y="290513"/>
            <a:ext cx="5622925" cy="62436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238" y="1530350"/>
            <a:ext cx="3308350" cy="5003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675" y="5121275"/>
            <a:ext cx="6035675" cy="6032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675" y="654050"/>
            <a:ext cx="6035675" cy="4389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675" y="5724525"/>
            <a:ext cx="6035675" cy="8588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975" y="244475"/>
            <a:ext cx="2262188" cy="5511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44475"/>
            <a:ext cx="6637337" cy="5511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892175"/>
            <a:ext cx="5029200" cy="80963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</p:spPr>
        <p:txBody>
          <a:bodyPr wrap="none" lIns="99234" tIns="49618" rIns="99234" bIns="49618" anchor="ctr"/>
          <a:lstStyle/>
          <a:p>
            <a:pPr algn="ctr" defTabSz="992188" eaLnBrk="1" hangingPunct="1">
              <a:defRPr/>
            </a:pPr>
            <a:endParaRPr kumimoji="0" lang="en-US" sz="2600">
              <a:latin typeface="Tahoma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029200" y="892175"/>
            <a:ext cx="5029200" cy="80963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</p:spPr>
        <p:txBody>
          <a:bodyPr wrap="none" lIns="99234" tIns="49618" rIns="99234" bIns="49618" anchor="ctr"/>
          <a:lstStyle/>
          <a:p>
            <a:pPr algn="ctr" defTabSz="992188" eaLnBrk="1" hangingPunct="1">
              <a:defRPr/>
            </a:pPr>
            <a:endParaRPr kumimoji="0" lang="en-US" sz="2600">
              <a:latin typeface="Tahoma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 userDrawn="1"/>
        </p:nvSpPr>
        <p:spPr bwMode="auto">
          <a:xfrm>
            <a:off x="3108325" y="7096125"/>
            <a:ext cx="4694238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9923" tIns="49962" rIns="99923" bIns="49962" anchor="ctr"/>
          <a:lstStyle/>
          <a:p>
            <a:pPr algn="l" defTabSz="992188">
              <a:defRPr/>
            </a:pPr>
            <a:r>
              <a:rPr kumimoji="0" lang="en-US" sz="1300" b="1">
                <a:solidFill>
                  <a:srgbClr val="FF6600"/>
                </a:solidFill>
                <a:latin typeface="Arial" charset="0"/>
              </a:rPr>
              <a:t>Dr. Md. Abul Kashem Mia, Professor, CSE Dept, BUET</a:t>
            </a:r>
            <a:endParaRPr kumimoji="0" lang="en-US" sz="1000" b="1">
              <a:latin typeface="Arial" charset="0"/>
            </a:endParaRPr>
          </a:p>
        </p:txBody>
      </p:sp>
      <p:sp>
        <p:nvSpPr>
          <p:cNvPr id="28058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244475"/>
            <a:ext cx="90519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3" tIns="49962" rIns="99923" bIns="4996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122363"/>
            <a:ext cx="9051925" cy="463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3" tIns="49962" rIns="99923" bIns="499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ctr" defTabSz="992188" rtl="0" eaLnBrk="0" fontAlgn="base" hangingPunct="0">
        <a:spcBef>
          <a:spcPct val="0"/>
        </a:spcBef>
        <a:spcAft>
          <a:spcPct val="0"/>
        </a:spcAft>
        <a:defRPr sz="39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92188" rtl="0" eaLnBrk="0" fontAlgn="base" hangingPunct="0">
        <a:spcBef>
          <a:spcPct val="0"/>
        </a:spcBef>
        <a:spcAft>
          <a:spcPct val="0"/>
        </a:spcAft>
        <a:defRPr sz="39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2pPr>
      <a:lvl3pPr algn="ctr" defTabSz="992188" rtl="0" eaLnBrk="0" fontAlgn="base" hangingPunct="0">
        <a:spcBef>
          <a:spcPct val="0"/>
        </a:spcBef>
        <a:spcAft>
          <a:spcPct val="0"/>
        </a:spcAft>
        <a:defRPr sz="39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3pPr>
      <a:lvl4pPr algn="ctr" defTabSz="992188" rtl="0" eaLnBrk="0" fontAlgn="base" hangingPunct="0">
        <a:spcBef>
          <a:spcPct val="0"/>
        </a:spcBef>
        <a:spcAft>
          <a:spcPct val="0"/>
        </a:spcAft>
        <a:defRPr sz="39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4pPr>
      <a:lvl5pPr algn="ctr" defTabSz="992188" rtl="0" eaLnBrk="0" fontAlgn="base" hangingPunct="0">
        <a:spcBef>
          <a:spcPct val="0"/>
        </a:spcBef>
        <a:spcAft>
          <a:spcPct val="0"/>
        </a:spcAft>
        <a:defRPr sz="39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5pPr>
      <a:lvl6pPr marL="457200" algn="ctr" defTabSz="992188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6pPr>
      <a:lvl7pPr marL="914400" algn="ctr" defTabSz="992188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7pPr>
      <a:lvl8pPr marL="1371600" algn="ctr" defTabSz="992188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8pPr>
      <a:lvl9pPr marL="1828800" algn="ctr" defTabSz="992188" rtl="0" fontAlgn="base">
        <a:spcBef>
          <a:spcPct val="0"/>
        </a:spcBef>
        <a:spcAft>
          <a:spcPct val="0"/>
        </a:spcAft>
        <a:defRPr sz="39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9pPr>
    </p:titleStyle>
    <p:bodyStyle>
      <a:lvl1pPr marL="373063" indent="-373063" algn="l" defTabSz="992188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6450" indent="-309563" algn="l" defTabSz="992188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n"/>
        <a:defRPr sz="2600">
          <a:solidFill>
            <a:schemeClr val="tx1"/>
          </a:solidFill>
          <a:latin typeface="+mn-lt"/>
          <a:cs typeface="+mn-cs"/>
        </a:defRPr>
      </a:lvl2pPr>
      <a:lvl3pPr marL="1241425" indent="-249238" algn="l" defTabSz="992188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u"/>
        <a:defRPr sz="2400">
          <a:solidFill>
            <a:schemeClr val="tx1"/>
          </a:solidFill>
          <a:latin typeface="+mn-lt"/>
          <a:cs typeface="+mn-cs"/>
        </a:defRPr>
      </a:lvl3pPr>
      <a:lvl4pPr marL="1736725" indent="-247650" algn="l" defTabSz="992188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200">
          <a:solidFill>
            <a:schemeClr val="tx1"/>
          </a:solidFill>
          <a:latin typeface="+mn-lt"/>
          <a:cs typeface="+mn-cs"/>
        </a:defRPr>
      </a:lvl4pPr>
      <a:lvl5pPr marL="2233613" indent="-247650" algn="l" defTabSz="992188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200">
          <a:solidFill>
            <a:schemeClr val="tx1"/>
          </a:solidFill>
          <a:latin typeface="+mn-lt"/>
          <a:cs typeface="+mn-cs"/>
        </a:defRPr>
      </a:lvl5pPr>
      <a:lvl6pPr marL="2690813" indent="-247650" algn="l" defTabSz="992188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200">
          <a:solidFill>
            <a:schemeClr val="tx1"/>
          </a:solidFill>
          <a:latin typeface="+mn-lt"/>
          <a:cs typeface="+mn-cs"/>
        </a:defRPr>
      </a:lvl6pPr>
      <a:lvl7pPr marL="3148013" indent="-247650" algn="l" defTabSz="992188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200">
          <a:solidFill>
            <a:schemeClr val="tx1"/>
          </a:solidFill>
          <a:latin typeface="+mn-lt"/>
          <a:cs typeface="+mn-cs"/>
        </a:defRPr>
      </a:lvl7pPr>
      <a:lvl8pPr marL="3605213" indent="-247650" algn="l" defTabSz="992188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200">
          <a:solidFill>
            <a:schemeClr val="tx1"/>
          </a:solidFill>
          <a:latin typeface="+mn-lt"/>
          <a:cs typeface="+mn-cs"/>
        </a:defRPr>
      </a:lvl8pPr>
      <a:lvl9pPr marL="4062413" indent="-247650" algn="l" defTabSz="992188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76275" y="2181225"/>
            <a:ext cx="8788400" cy="2924175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b="1">
                <a:latin typeface="Times New Roman" pitchFamily="16" charset="0"/>
              </a:rPr>
              <a:t>NP Completeness</a:t>
            </a:r>
            <a:br>
              <a:rPr lang="en-US" sz="4800" b="1">
                <a:latin typeface="Times New Roman" pitchFamily="16" charset="0"/>
              </a:rPr>
            </a:br>
            <a:r>
              <a:rPr lang="en-US" sz="4800" b="1">
                <a:latin typeface="Times New Roman" pitchFamily="16" charset="0"/>
              </a:rPr>
              <a:t>Approximation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Review: Dynamic Programming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122363"/>
            <a:ext cx="9051925" cy="5054600"/>
          </a:xfrm>
        </p:spPr>
        <p:txBody>
          <a:bodyPr/>
          <a:lstStyle/>
          <a:p>
            <a:pPr eaLnBrk="1" hangingPunct="1"/>
            <a:r>
              <a:rPr lang="en-US"/>
              <a:t>When applicable: </a:t>
            </a:r>
          </a:p>
          <a:p>
            <a:pPr lvl="1" eaLnBrk="1" hangingPunct="1"/>
            <a:r>
              <a:rPr lang="en-US">
                <a:solidFill>
                  <a:srgbClr val="0000CC"/>
                </a:solidFill>
              </a:rPr>
              <a:t>Optimal substructure</a:t>
            </a:r>
            <a:r>
              <a:rPr lang="en-US"/>
              <a:t>: optimal solution to problem consists of optimal solutions to subproblems</a:t>
            </a:r>
          </a:p>
          <a:p>
            <a:pPr lvl="1" eaLnBrk="1" hangingPunct="1"/>
            <a:r>
              <a:rPr lang="en-US">
                <a:solidFill>
                  <a:srgbClr val="0000CC"/>
                </a:solidFill>
              </a:rPr>
              <a:t>Overlapping subproblems</a:t>
            </a:r>
            <a:r>
              <a:rPr lang="en-US"/>
              <a:t>: few subproblems in total, many recurring instances of each</a:t>
            </a:r>
            <a:endParaRPr lang="en-US" i="1"/>
          </a:p>
          <a:p>
            <a:pPr lvl="1" eaLnBrk="1" hangingPunct="1"/>
            <a:r>
              <a:rPr lang="en-US" u="sng"/>
              <a:t>Basic approach</a:t>
            </a:r>
            <a:r>
              <a:rPr lang="en-US"/>
              <a:t>:</a:t>
            </a:r>
          </a:p>
          <a:p>
            <a:pPr lvl="2" eaLnBrk="1" hangingPunct="1"/>
            <a:r>
              <a:rPr lang="en-US"/>
              <a:t>Build a table of solved subproblems that are used to solve larger ones</a:t>
            </a:r>
          </a:p>
          <a:p>
            <a:pPr lvl="2" eaLnBrk="1" hangingPunct="1"/>
            <a:r>
              <a:rPr lang="en-US" i="1">
                <a:solidFill>
                  <a:schemeClr val="accent1"/>
                </a:solidFill>
              </a:rPr>
              <a:t>What is the difference between memoization and dynamic programming?</a:t>
            </a:r>
          </a:p>
          <a:p>
            <a:pPr lvl="2" eaLnBrk="1" hangingPunct="1"/>
            <a:r>
              <a:rPr lang="en-US" i="1">
                <a:solidFill>
                  <a:schemeClr val="accent1"/>
                </a:solidFill>
              </a:rPr>
              <a:t>Why might the latter be more efficient?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Review: Greedy Algorithms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</a:t>
            </a:r>
            <a:r>
              <a:rPr lang="en-US" i="1">
                <a:solidFill>
                  <a:schemeClr val="tx2"/>
                </a:solidFill>
              </a:rPr>
              <a:t>greedy algorithm</a:t>
            </a:r>
            <a:r>
              <a:rPr lang="en-US"/>
              <a:t> always makes the choice that looks best at the moment</a:t>
            </a:r>
          </a:p>
          <a:p>
            <a:pPr lvl="1" eaLnBrk="1" hangingPunct="1"/>
            <a:r>
              <a:rPr lang="en-US"/>
              <a:t>The hope: a locally optimal choice will lead to a globally optimal solution</a:t>
            </a:r>
          </a:p>
          <a:p>
            <a:pPr lvl="1" eaLnBrk="1" hangingPunct="1"/>
            <a:r>
              <a:rPr lang="en-US"/>
              <a:t>For some problems, it works</a:t>
            </a:r>
          </a:p>
          <a:p>
            <a:pPr lvl="2" eaLnBrk="1" hangingPunct="1"/>
            <a:r>
              <a:rPr lang="en-US"/>
              <a:t>Yes: fractional knapsack problem</a:t>
            </a:r>
          </a:p>
          <a:p>
            <a:pPr lvl="2" eaLnBrk="1" hangingPunct="1"/>
            <a:r>
              <a:rPr lang="en-US"/>
              <a:t>No: 0/1 knapsack problem</a:t>
            </a:r>
          </a:p>
          <a:p>
            <a:pPr eaLnBrk="1" hangingPunct="1"/>
            <a:r>
              <a:rPr lang="en-US"/>
              <a:t>Dynamic programming can be overkill; greedy algorithms tend to be easier to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Review: The Knapsack Problem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122363"/>
            <a:ext cx="9051925" cy="5443537"/>
          </a:xfrm>
        </p:spPr>
        <p:txBody>
          <a:bodyPr/>
          <a:lstStyle/>
          <a:p>
            <a:pPr eaLnBrk="1" hangingPunct="1"/>
            <a:r>
              <a:rPr lang="en-US"/>
              <a:t>The </a:t>
            </a:r>
            <a:r>
              <a:rPr lang="en-US" i="1">
                <a:solidFill>
                  <a:schemeClr val="tx2"/>
                </a:solidFill>
              </a:rPr>
              <a:t>0-1 knapsack problem</a:t>
            </a:r>
            <a:r>
              <a:rPr lang="en-US"/>
              <a:t>:</a:t>
            </a:r>
          </a:p>
          <a:p>
            <a:pPr lvl="1" eaLnBrk="1" hangingPunct="1"/>
            <a:r>
              <a:rPr lang="en-US"/>
              <a:t>A thief must choose among </a:t>
            </a:r>
            <a:r>
              <a:rPr lang="en-US" i="1"/>
              <a:t>n</a:t>
            </a:r>
            <a:r>
              <a:rPr lang="en-US"/>
              <a:t> items, where the </a:t>
            </a:r>
            <a:r>
              <a:rPr lang="en-US" i="1"/>
              <a:t>i</a:t>
            </a:r>
            <a:r>
              <a:rPr lang="en-US"/>
              <a:t>th item worth </a:t>
            </a:r>
            <a:r>
              <a:rPr lang="en-US" i="1"/>
              <a:t>v</a:t>
            </a:r>
            <a:r>
              <a:rPr lang="en-US" i="1" baseline="-25000"/>
              <a:t>i</a:t>
            </a:r>
            <a:r>
              <a:rPr lang="en-US" i="1"/>
              <a:t> </a:t>
            </a:r>
            <a:r>
              <a:rPr lang="en-US"/>
              <a:t>dollars and weighs </a:t>
            </a:r>
            <a:r>
              <a:rPr lang="en-US" i="1"/>
              <a:t>w</a:t>
            </a:r>
            <a:r>
              <a:rPr lang="en-US" i="1" baseline="-25000"/>
              <a:t>i</a:t>
            </a:r>
            <a:r>
              <a:rPr lang="en-US"/>
              <a:t> pounds</a:t>
            </a:r>
          </a:p>
          <a:p>
            <a:pPr lvl="1" eaLnBrk="1" hangingPunct="1"/>
            <a:r>
              <a:rPr lang="en-US"/>
              <a:t>Carrying at most </a:t>
            </a:r>
            <a:r>
              <a:rPr lang="en-US" i="1"/>
              <a:t>W</a:t>
            </a:r>
            <a:r>
              <a:rPr lang="en-US"/>
              <a:t> pounds, maximize value</a:t>
            </a:r>
          </a:p>
          <a:p>
            <a:pPr eaLnBrk="1" hangingPunct="1"/>
            <a:r>
              <a:rPr lang="en-US"/>
              <a:t>A variation, the </a:t>
            </a:r>
            <a:r>
              <a:rPr lang="en-US" i="1">
                <a:solidFill>
                  <a:schemeClr val="tx2"/>
                </a:solidFill>
              </a:rPr>
              <a:t>fractional knapsack problem</a:t>
            </a:r>
            <a:r>
              <a:rPr lang="en-US"/>
              <a:t>:</a:t>
            </a:r>
          </a:p>
          <a:p>
            <a:pPr lvl="1" eaLnBrk="1" hangingPunct="1"/>
            <a:r>
              <a:rPr lang="en-US"/>
              <a:t>Thief can take fractions of items</a:t>
            </a:r>
          </a:p>
          <a:p>
            <a:pPr lvl="1" eaLnBrk="1" hangingPunct="1"/>
            <a:r>
              <a:rPr lang="en-US"/>
              <a:t>Think of items in 0-1 problem as gold ingots, in fractional problem as buckets of gold dust</a:t>
            </a:r>
          </a:p>
          <a:p>
            <a:pPr lvl="1" eaLnBrk="1" hangingPunct="1"/>
            <a:endParaRPr lang="en-US"/>
          </a:p>
          <a:p>
            <a:pPr eaLnBrk="1" hangingPunct="1"/>
            <a:r>
              <a:rPr lang="en-US" i="1">
                <a:solidFill>
                  <a:schemeClr val="accent1"/>
                </a:solidFill>
              </a:rPr>
              <a:t>Why greedy choice algorithm works for the fractional problem but not for the 0-1 problem?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NP-Complete Problems</a:t>
            </a:r>
          </a:p>
        </p:txBody>
      </p:sp>
      <p:pic>
        <p:nvPicPr>
          <p:cNvPr id="717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600200"/>
            <a:ext cx="7086600" cy="4819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5029200" y="2133600"/>
            <a:ext cx="2533650" cy="381000"/>
          </a:xfrm>
          <a:prstGeom prst="wedgeRoundRectCallout">
            <a:avLst>
              <a:gd name="adj1" fmla="val 14653"/>
              <a:gd name="adj2" fmla="val 157500"/>
              <a:gd name="adj3" fmla="val 16667"/>
            </a:avLst>
          </a:prstGeom>
          <a:solidFill>
            <a:srgbClr val="FFFFC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</a:rPr>
              <a:t>Do you are best then?</a:t>
            </a:r>
          </a:p>
        </p:txBody>
      </p:sp>
      <p:sp>
        <p:nvSpPr>
          <p:cNvPr id="8" name="WordArt 4"/>
          <p:cNvSpPr>
            <a:spLocks noChangeArrowheads="1" noChangeShapeType="1" noTextEdit="1"/>
          </p:cNvSpPr>
          <p:nvPr/>
        </p:nvSpPr>
        <p:spPr bwMode="auto">
          <a:xfrm>
            <a:off x="3840163" y="1943100"/>
            <a:ext cx="122237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9080">
                  <a:solidFill>
                    <a:srgbClr val="99CCFF"/>
                  </a:solidFill>
                  <a:miter lim="800000"/>
                  <a:headEnd/>
                  <a:tailEnd/>
                </a:ln>
                <a:solidFill>
                  <a:srgbClr val="0066CC"/>
                </a:solidFill>
                <a:effectLst>
                  <a:outerShdw dist="17819" dir="2700000" algn="ctr" rotWithShape="0">
                    <a:srgbClr val="990000"/>
                  </a:outerShdw>
                </a:effectLst>
                <a:latin typeface="Impact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NP-Completeness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122363"/>
            <a:ext cx="9051925" cy="5262562"/>
          </a:xfrm>
        </p:spPr>
        <p:txBody>
          <a:bodyPr/>
          <a:lstStyle/>
          <a:p>
            <a:pPr eaLnBrk="1" hangingPunct="1"/>
            <a:r>
              <a:rPr lang="en-US"/>
              <a:t>Some problems are </a:t>
            </a:r>
            <a:r>
              <a:rPr lang="en-US" i="1">
                <a:solidFill>
                  <a:schemeClr val="tx2"/>
                </a:solidFill>
              </a:rPr>
              <a:t>intractable</a:t>
            </a:r>
            <a:r>
              <a:rPr lang="en-US"/>
              <a:t>: </a:t>
            </a:r>
            <a:br>
              <a:rPr lang="en-US"/>
            </a:br>
            <a:r>
              <a:rPr lang="en-US"/>
              <a:t>as they grow large, we are unable to solve them in </a:t>
            </a:r>
            <a:r>
              <a:rPr lang="en-US" u="sng"/>
              <a:t>reasonable time</a:t>
            </a:r>
          </a:p>
          <a:p>
            <a:pPr eaLnBrk="1" hangingPunct="1"/>
            <a:endParaRPr lang="en-US" u="sng"/>
          </a:p>
          <a:p>
            <a:pPr eaLnBrk="1" hangingPunct="1"/>
            <a:r>
              <a:rPr lang="en-US"/>
              <a:t>What constitutes </a:t>
            </a:r>
            <a:r>
              <a:rPr lang="en-US" u="sng"/>
              <a:t>reasonable time</a:t>
            </a:r>
            <a:r>
              <a:rPr lang="en-US"/>
              <a:t>? </a:t>
            </a:r>
          </a:p>
          <a:p>
            <a:pPr lvl="1" eaLnBrk="1" hangingPunct="1"/>
            <a:r>
              <a:rPr lang="en-US"/>
              <a:t>Standard working definition: </a:t>
            </a:r>
            <a:r>
              <a:rPr lang="en-US" i="1">
                <a:solidFill>
                  <a:schemeClr val="tx2"/>
                </a:solidFill>
              </a:rPr>
              <a:t>polynomial time</a:t>
            </a:r>
            <a:endParaRPr lang="en-US">
              <a:solidFill>
                <a:schemeClr val="tx2"/>
              </a:solidFill>
            </a:endParaRPr>
          </a:p>
          <a:p>
            <a:pPr lvl="1" eaLnBrk="1" hangingPunct="1"/>
            <a:r>
              <a:rPr lang="en-US"/>
              <a:t>On an input of size </a:t>
            </a:r>
            <a:r>
              <a:rPr lang="en-US" i="1"/>
              <a:t>n</a:t>
            </a:r>
            <a:r>
              <a:rPr lang="en-US"/>
              <a:t> the worst-case running time is </a:t>
            </a:r>
            <a:r>
              <a:rPr lang="en-US" i="1"/>
              <a:t>O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 i="1" baseline="30000"/>
              <a:t>k</a:t>
            </a:r>
            <a:r>
              <a:rPr lang="en-US"/>
              <a:t>) for some constant </a:t>
            </a:r>
            <a:r>
              <a:rPr lang="en-US" i="1"/>
              <a:t>k</a:t>
            </a:r>
          </a:p>
          <a:p>
            <a:pPr lvl="1" eaLnBrk="1" hangingPunct="1"/>
            <a:r>
              <a:rPr lang="en-US"/>
              <a:t>Polynomial time: </a:t>
            </a:r>
            <a:r>
              <a:rPr lang="en-US" i="1"/>
              <a:t>O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 baseline="30000"/>
              <a:t>2</a:t>
            </a:r>
            <a:r>
              <a:rPr lang="en-US"/>
              <a:t>), </a:t>
            </a:r>
            <a:r>
              <a:rPr lang="en-US" i="1"/>
              <a:t>O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 baseline="30000"/>
              <a:t>3</a:t>
            </a:r>
            <a:r>
              <a:rPr lang="en-US"/>
              <a:t>), </a:t>
            </a:r>
            <a:r>
              <a:rPr lang="en-US" i="1"/>
              <a:t>O</a:t>
            </a:r>
            <a:r>
              <a:rPr lang="en-US"/>
              <a:t>(1), </a:t>
            </a:r>
            <a:r>
              <a:rPr lang="en-US" i="1"/>
              <a:t>O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/>
              <a:t> lg </a:t>
            </a:r>
            <a:r>
              <a:rPr lang="en-US" i="1"/>
              <a:t>n</a:t>
            </a:r>
            <a:r>
              <a:rPr lang="en-US"/>
              <a:t>) </a:t>
            </a:r>
          </a:p>
          <a:p>
            <a:pPr lvl="1" eaLnBrk="1" hangingPunct="1"/>
            <a:r>
              <a:rPr lang="en-US"/>
              <a:t>Not in polynomial time: </a:t>
            </a:r>
            <a:r>
              <a:rPr lang="en-US" i="1"/>
              <a:t>O</a:t>
            </a:r>
            <a:r>
              <a:rPr lang="en-US"/>
              <a:t>(2</a:t>
            </a:r>
            <a:r>
              <a:rPr lang="en-US" i="1" baseline="30000"/>
              <a:t>n</a:t>
            </a:r>
            <a:r>
              <a:rPr lang="en-US"/>
              <a:t>), O(</a:t>
            </a:r>
            <a:r>
              <a:rPr lang="en-US" i="1"/>
              <a:t>n</a:t>
            </a:r>
            <a:r>
              <a:rPr lang="en-US" i="1" baseline="30000"/>
              <a:t>n</a:t>
            </a:r>
            <a:r>
              <a:rPr lang="en-US"/>
              <a:t>), O(</a:t>
            </a:r>
            <a:r>
              <a:rPr lang="en-US" i="1"/>
              <a:t>n</a:t>
            </a:r>
            <a:r>
              <a:rPr lang="en-US"/>
              <a:t>!)</a:t>
            </a:r>
          </a:p>
          <a:p>
            <a:pPr lvl="1" eaLnBrk="1" hangingPunct="1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Polynomial-Time Algorithms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122363"/>
            <a:ext cx="9051925" cy="5337175"/>
          </a:xfrm>
        </p:spPr>
        <p:txBody>
          <a:bodyPr/>
          <a:lstStyle/>
          <a:p>
            <a:pPr eaLnBrk="1" hangingPunct="1"/>
            <a:r>
              <a:rPr lang="en-US"/>
              <a:t>Are some problems solvable in polynomial time?</a:t>
            </a:r>
          </a:p>
          <a:p>
            <a:pPr lvl="1" eaLnBrk="1" hangingPunct="1"/>
            <a:r>
              <a:rPr lang="en-US">
                <a:solidFill>
                  <a:srgbClr val="0000CC"/>
                </a:solidFill>
              </a:rPr>
              <a:t>Of course</a:t>
            </a:r>
            <a:r>
              <a:rPr lang="en-US"/>
              <a:t>: every algorithm we have studied provides polynomial-time solution to some problem</a:t>
            </a:r>
          </a:p>
          <a:p>
            <a:pPr lvl="1" eaLnBrk="1" hangingPunct="1"/>
            <a:r>
              <a:rPr lang="en-US"/>
              <a:t>We define </a:t>
            </a:r>
            <a:r>
              <a:rPr lang="en-US" b="1"/>
              <a:t>P</a:t>
            </a:r>
            <a:r>
              <a:rPr lang="en-US"/>
              <a:t> to be the class of problems solvable in polynomial time</a:t>
            </a:r>
          </a:p>
          <a:p>
            <a:pPr lvl="1" eaLnBrk="1" hangingPunct="1"/>
            <a:endParaRPr lang="en-US"/>
          </a:p>
          <a:p>
            <a:pPr eaLnBrk="1" hangingPunct="1"/>
            <a:r>
              <a:rPr lang="en-US"/>
              <a:t>Are all problems solvable in polynomial time?</a:t>
            </a:r>
          </a:p>
          <a:p>
            <a:pPr lvl="1" eaLnBrk="1" hangingPunct="1"/>
            <a:r>
              <a:rPr lang="en-US">
                <a:solidFill>
                  <a:srgbClr val="0000CC"/>
                </a:solidFill>
              </a:rPr>
              <a:t>No</a:t>
            </a:r>
            <a:r>
              <a:rPr lang="en-US"/>
              <a:t>: “Circuit Satisfiability Problem” is not solvable by any computer, no matter how much time is given</a:t>
            </a:r>
          </a:p>
          <a:p>
            <a:pPr lvl="1" eaLnBrk="1" hangingPunct="1"/>
            <a:r>
              <a:rPr lang="en-US"/>
              <a:t>Such problems are clearly intractable, not in </a:t>
            </a:r>
            <a:r>
              <a:rPr lang="en-US" b="1"/>
              <a:t>P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9966" tIns="49983" rIns="99966" bIns="49983"/>
          <a:lstStyle/>
          <a:p>
            <a:pPr eaLnBrk="1" hangingPunct="1"/>
            <a:r>
              <a:rPr lang="en-US" sz="2600">
                <a:solidFill>
                  <a:srgbClr val="0000FF"/>
                </a:solidFill>
              </a:rPr>
              <a:t>Shortest Paths Problem</a:t>
            </a:r>
          </a:p>
          <a:p>
            <a:pPr lvl="1" eaLnBrk="1" hangingPunct="1"/>
            <a:r>
              <a:rPr lang="en-US"/>
              <a:t>Given a weighted graph </a:t>
            </a:r>
            <a:r>
              <a:rPr lang="en-US" i="1"/>
              <a:t>G</a:t>
            </a:r>
            <a:r>
              <a:rPr lang="en-US"/>
              <a:t> and a source vertex </a:t>
            </a:r>
            <a:r>
              <a:rPr lang="en-US" i="1"/>
              <a:t>s</a:t>
            </a:r>
            <a:r>
              <a:rPr lang="en-US"/>
              <a:t>, find the minimum weight path from </a:t>
            </a:r>
            <a:r>
              <a:rPr lang="en-US" i="1"/>
              <a:t>s</a:t>
            </a:r>
            <a:r>
              <a:rPr lang="en-US"/>
              <a:t> to each vertex </a:t>
            </a:r>
            <a:r>
              <a:rPr lang="en-US" i="1"/>
              <a:t>v</a:t>
            </a:r>
            <a:endParaRPr lang="en-US"/>
          </a:p>
          <a:p>
            <a:pPr lvl="1" eaLnBrk="1" hangingPunct="1"/>
            <a:r>
              <a:rPr lang="en-US"/>
              <a:t>The running time is </a:t>
            </a:r>
            <a:r>
              <a:rPr lang="en-US" i="1"/>
              <a:t>O</a:t>
            </a:r>
            <a:r>
              <a:rPr lang="en-US"/>
              <a:t>(</a:t>
            </a:r>
            <a:r>
              <a:rPr lang="en-US" i="1"/>
              <a:t>n</a:t>
            </a:r>
            <a:r>
              <a:rPr lang="en-US">
                <a:sym typeface="Symbol" pitchFamily="18" charset="2"/>
              </a:rPr>
              <a:t></a:t>
            </a:r>
            <a:r>
              <a:rPr lang="en-US" i="1">
                <a:sym typeface="Symbol" pitchFamily="18" charset="2"/>
              </a:rPr>
              <a:t>m</a:t>
            </a:r>
            <a:r>
              <a:rPr lang="en-US">
                <a:sym typeface="Symbol" pitchFamily="18" charset="2"/>
              </a:rPr>
              <a:t>)	 </a:t>
            </a:r>
            <a:r>
              <a:rPr lang="en-US"/>
              <a:t>[Bellman-Ford Algorithm]</a:t>
            </a:r>
            <a:endParaRPr lang="en-US">
              <a:sym typeface="Symbol" pitchFamily="18" charset="2"/>
            </a:endParaRPr>
          </a:p>
          <a:p>
            <a:pPr lvl="1" eaLnBrk="1" hangingPunct="1"/>
            <a:endParaRPr lang="en-US"/>
          </a:p>
          <a:p>
            <a:pPr eaLnBrk="1" hangingPunct="1"/>
            <a:r>
              <a:rPr lang="en-US" sz="2600">
                <a:solidFill>
                  <a:srgbClr val="0000FF"/>
                </a:solidFill>
              </a:rPr>
              <a:t>Longest Paths Problem</a:t>
            </a:r>
          </a:p>
          <a:p>
            <a:pPr lvl="1" eaLnBrk="1" hangingPunct="1">
              <a:buClr>
                <a:srgbClr val="CC0000"/>
              </a:buClr>
            </a:pPr>
            <a:r>
              <a:rPr lang="en-US">
                <a:solidFill>
                  <a:srgbClr val="000000"/>
                </a:solidFill>
              </a:rPr>
              <a:t>Find a longest path between two vertices</a:t>
            </a:r>
          </a:p>
          <a:p>
            <a:pPr lvl="1" eaLnBrk="1" hangingPunct="1">
              <a:buClr>
                <a:srgbClr val="CC0000"/>
              </a:buClr>
            </a:pPr>
            <a:r>
              <a:rPr lang="en-US">
                <a:solidFill>
                  <a:srgbClr val="000000"/>
                </a:solidFill>
              </a:rPr>
              <a:t>The problem is </a:t>
            </a:r>
            <a:r>
              <a:rPr lang="en-US">
                <a:solidFill>
                  <a:schemeClr val="tx2"/>
                </a:solidFill>
              </a:rPr>
              <a:t>NP-Complete</a:t>
            </a:r>
          </a:p>
          <a:p>
            <a:pPr eaLnBrk="1" hangingPunct="1"/>
            <a:endParaRPr lang="en-US" sz="2600"/>
          </a:p>
        </p:txBody>
      </p:sp>
      <p:sp>
        <p:nvSpPr>
          <p:cNvPr id="557061" name="Rectangle 5"/>
          <p:cNvSpPr>
            <a:spLocks noChangeArrowheads="1"/>
          </p:cNvSpPr>
          <p:nvPr/>
        </p:nvSpPr>
        <p:spPr bwMode="auto">
          <a:xfrm>
            <a:off x="503238" y="244475"/>
            <a:ext cx="90519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923" tIns="49962" rIns="99923" bIns="49962" anchor="ctr"/>
          <a:lstStyle/>
          <a:p>
            <a:pPr algn="ctr" defTabSz="992188" eaLnBrk="1" hangingPunct="1">
              <a:defRPr/>
            </a:pPr>
            <a:r>
              <a:rPr kumimoji="0" lang="en-US" sz="39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NP-Complete 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3238" y="1122363"/>
            <a:ext cx="9051925" cy="5772150"/>
          </a:xfrm>
        </p:spPr>
        <p:txBody>
          <a:bodyPr lIns="99966" tIns="49983" rIns="99966" bIns="49983"/>
          <a:lstStyle/>
          <a:p>
            <a:pPr eaLnBrk="1" hangingPunct="1"/>
            <a:r>
              <a:rPr lang="en-US" sz="2600" dirty="0">
                <a:solidFill>
                  <a:srgbClr val="0000FF"/>
                </a:solidFill>
              </a:rPr>
              <a:t>Euler Tour Problem</a:t>
            </a:r>
          </a:p>
          <a:p>
            <a:pPr lvl="1" eaLnBrk="1" hangingPunct="1"/>
            <a:r>
              <a:rPr lang="en-US" sz="2400" dirty="0"/>
              <a:t>An Euler tour of a connected graph </a:t>
            </a:r>
            <a:r>
              <a:rPr lang="en-US" sz="2400" i="1" dirty="0"/>
              <a:t>G </a:t>
            </a:r>
            <a:r>
              <a:rPr lang="en-US" sz="2400" dirty="0"/>
              <a:t>is a cycle that traverses each edge of </a:t>
            </a:r>
            <a:r>
              <a:rPr lang="en-US" sz="2400" i="1" dirty="0"/>
              <a:t>G</a:t>
            </a:r>
            <a:r>
              <a:rPr lang="en-US" sz="2400" dirty="0"/>
              <a:t> exactly once</a:t>
            </a:r>
          </a:p>
          <a:p>
            <a:pPr lvl="1" eaLnBrk="1" hangingPunct="1"/>
            <a:r>
              <a:rPr lang="en-US" sz="2400" dirty="0"/>
              <a:t>The Euler Tour Problem is to determine an Euler tour in a connected graph</a:t>
            </a:r>
          </a:p>
          <a:p>
            <a:pPr lvl="1" eaLnBrk="1" hangingPunct="1"/>
            <a:r>
              <a:rPr lang="en-US" sz="2400" dirty="0"/>
              <a:t>The running time is </a:t>
            </a:r>
            <a:r>
              <a:rPr lang="en-US" sz="2400" i="1" dirty="0"/>
              <a:t>O</a:t>
            </a:r>
            <a:r>
              <a:rPr lang="en-US" sz="2400" dirty="0"/>
              <a:t>(</a:t>
            </a:r>
            <a:r>
              <a:rPr lang="en-US" sz="2400" i="1" dirty="0">
                <a:sym typeface="Symbol" pitchFamily="18" charset="2"/>
              </a:rPr>
              <a:t>m</a:t>
            </a:r>
            <a:r>
              <a:rPr lang="en-US" sz="2400" dirty="0">
                <a:sym typeface="Symbol" pitchFamily="18" charset="2"/>
              </a:rPr>
              <a:t>)</a:t>
            </a:r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600" dirty="0">
                <a:solidFill>
                  <a:srgbClr val="0000FF"/>
                </a:solidFill>
              </a:rPr>
              <a:t>Hamiltonian Cycle Problem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sz="2400" dirty="0"/>
              <a:t>A Hamiltonian cycle of a connected graph </a:t>
            </a:r>
            <a:r>
              <a:rPr lang="en-US" sz="2400" i="1" dirty="0"/>
              <a:t>G </a:t>
            </a:r>
            <a:r>
              <a:rPr lang="en-US" sz="2400" dirty="0"/>
              <a:t>is a simple cycle that contains each vertex of </a:t>
            </a:r>
            <a:r>
              <a:rPr lang="en-US" sz="2400" i="1" dirty="0"/>
              <a:t>G</a:t>
            </a:r>
            <a:r>
              <a:rPr lang="en-US" sz="2400" dirty="0"/>
              <a:t> exactly once</a:t>
            </a:r>
          </a:p>
          <a:p>
            <a:pPr lvl="1" eaLnBrk="1" hangingPunct="1">
              <a:buClr>
                <a:srgbClr val="CC0000"/>
              </a:buClr>
            </a:pPr>
            <a:r>
              <a:rPr lang="en-US" sz="2400" dirty="0"/>
              <a:t>The Hamiltonian cycle problem: given a graph </a:t>
            </a:r>
            <a:r>
              <a:rPr lang="en-US" sz="2400" i="1" dirty="0"/>
              <a:t>G</a:t>
            </a:r>
            <a:r>
              <a:rPr lang="en-US" sz="2400" dirty="0"/>
              <a:t>, does it have a Hamiltonian cycle?</a:t>
            </a:r>
            <a:endParaRPr lang="en-US" sz="2400" dirty="0">
              <a:solidFill>
                <a:srgbClr val="000000"/>
              </a:solidFill>
            </a:endParaRPr>
          </a:p>
          <a:p>
            <a:pPr lvl="1" eaLnBrk="1" hangingPunct="1">
              <a:buClr>
                <a:srgbClr val="CC0000"/>
              </a:buClr>
            </a:pPr>
            <a:r>
              <a:rPr lang="en-US" sz="2400" dirty="0">
                <a:solidFill>
                  <a:srgbClr val="000000"/>
                </a:solidFill>
              </a:rPr>
              <a:t>The problem is </a:t>
            </a:r>
            <a:r>
              <a:rPr lang="en-US" sz="2400" dirty="0">
                <a:solidFill>
                  <a:schemeClr val="tx2"/>
                </a:solidFill>
              </a:rPr>
              <a:t>NP-Complete</a:t>
            </a:r>
          </a:p>
        </p:txBody>
      </p:sp>
      <p:sp>
        <p:nvSpPr>
          <p:cNvPr id="558085" name="Rectangle 5"/>
          <p:cNvSpPr>
            <a:spLocks noChangeArrowheads="1"/>
          </p:cNvSpPr>
          <p:nvPr/>
        </p:nvSpPr>
        <p:spPr bwMode="auto">
          <a:xfrm>
            <a:off x="503238" y="244475"/>
            <a:ext cx="90519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923" tIns="49962" rIns="99923" bIns="49962" anchor="ctr"/>
          <a:lstStyle/>
          <a:p>
            <a:pPr algn="ctr" defTabSz="992188" eaLnBrk="1" hangingPunct="1">
              <a:defRPr/>
            </a:pPr>
            <a:r>
              <a:rPr kumimoji="0" lang="en-US" sz="39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NP-Complete Problems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NP-Complete Problems</a:t>
            </a:r>
          </a:p>
        </p:txBody>
      </p:sp>
      <p:sp>
        <p:nvSpPr>
          <p:cNvPr id="12291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03238" y="1211263"/>
            <a:ext cx="9220200" cy="4483100"/>
          </a:xfrm>
          <a:noFill/>
        </p:spPr>
        <p:txBody>
          <a:bodyPr/>
          <a:lstStyle/>
          <a:p>
            <a:pPr eaLnBrk="1" hangingPunct="1"/>
            <a:r>
              <a:rPr lang="en-US" sz="2600"/>
              <a:t>The well-known </a:t>
            </a:r>
            <a:r>
              <a:rPr lang="en-US" sz="2600" i="1">
                <a:solidFill>
                  <a:schemeClr val="tx2"/>
                </a:solidFill>
              </a:rPr>
              <a:t>traveling salesman problem</a:t>
            </a:r>
            <a:r>
              <a:rPr lang="en-US" sz="2600"/>
              <a:t>:</a:t>
            </a:r>
            <a:endParaRPr lang="en-US"/>
          </a:p>
          <a:p>
            <a:pPr lvl="1" eaLnBrk="1" hangingPunct="1"/>
            <a:r>
              <a:rPr lang="en-US">
                <a:solidFill>
                  <a:srgbClr val="0000CC"/>
                </a:solidFill>
              </a:rPr>
              <a:t>Optimization variant</a:t>
            </a:r>
            <a:r>
              <a:rPr lang="en-US"/>
              <a:t>: a salesman must travel to </a:t>
            </a:r>
            <a:r>
              <a:rPr lang="en-US" i="1"/>
              <a:t>n</a:t>
            </a:r>
            <a:r>
              <a:rPr lang="en-US"/>
              <a:t> cities, visiting each city exactly once and finishing where he begins.  How to minimize travel cost?</a:t>
            </a:r>
          </a:p>
          <a:p>
            <a:pPr lvl="1" eaLnBrk="1" hangingPunct="1"/>
            <a:r>
              <a:rPr lang="en-US"/>
              <a:t>We are given a weighted complete undirected graph </a:t>
            </a:r>
            <a:r>
              <a:rPr lang="en-US" i="1"/>
              <a:t>G</a:t>
            </a:r>
            <a:r>
              <a:rPr lang="en-US"/>
              <a:t>, and we must find a Hamiltonian cycle of </a:t>
            </a:r>
            <a:r>
              <a:rPr lang="en-US" i="1"/>
              <a:t>G</a:t>
            </a:r>
            <a:r>
              <a:rPr lang="en-US"/>
              <a:t> with minimum cost</a:t>
            </a:r>
          </a:p>
          <a:p>
            <a:pPr lvl="1" eaLnBrk="1" hangingPunct="1"/>
            <a:endParaRPr lang="en-US"/>
          </a:p>
          <a:p>
            <a:pPr eaLnBrk="1" hangingPunct="1"/>
            <a:r>
              <a:rPr lang="en-US" i="1"/>
              <a:t>How would we turn this into a</a:t>
            </a:r>
            <a:r>
              <a:rPr lang="en-US" i="1">
                <a:solidFill>
                  <a:schemeClr val="accent1"/>
                </a:solidFill>
              </a:rPr>
              <a:t> decision problem?</a:t>
            </a:r>
            <a:endParaRPr lang="en-US">
              <a:solidFill>
                <a:schemeClr val="accent1"/>
              </a:solidFill>
            </a:endParaRPr>
          </a:p>
          <a:p>
            <a:pPr lvl="1" eaLnBrk="1" hangingPunct="1"/>
            <a:r>
              <a:rPr lang="en-US"/>
              <a:t>A: ask if there exists</a:t>
            </a:r>
            <a:r>
              <a:rPr lang="en-US">
                <a:sym typeface="Symbol" pitchFamily="18" charset="2"/>
              </a:rPr>
              <a:t> a TSP with cost  </a:t>
            </a:r>
            <a:r>
              <a:rPr lang="en-US" i="1">
                <a:sym typeface="Symbol" pitchFamily="18" charset="2"/>
              </a:rPr>
              <a:t>k</a:t>
            </a:r>
            <a:r>
              <a:rPr lang="en-US"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 and NP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As mentioned, P is set of problems that can be solved in polynomial time</a:t>
            </a:r>
          </a:p>
          <a:p>
            <a:pPr eaLnBrk="1" hangingPunct="1"/>
            <a:r>
              <a:rPr lang="en-US" b="1" dirty="0"/>
              <a:t>NP</a:t>
            </a:r>
            <a:r>
              <a:rPr lang="en-US" dirty="0"/>
              <a:t> (</a:t>
            </a:r>
            <a:r>
              <a:rPr lang="en-US" i="1" dirty="0"/>
              <a:t>Nondeterministic Polynomial time</a:t>
            </a:r>
            <a:r>
              <a:rPr lang="en-US" dirty="0"/>
              <a:t>) is the set of problems that can be solved in polynomial time by a </a:t>
            </a:r>
            <a:r>
              <a:rPr lang="en-US" i="1" dirty="0">
                <a:solidFill>
                  <a:schemeClr val="tx2"/>
                </a:solidFill>
              </a:rPr>
              <a:t>nondeterministic</a:t>
            </a:r>
            <a:r>
              <a:rPr lang="en-US" dirty="0"/>
              <a:t> computer</a:t>
            </a:r>
          </a:p>
          <a:p>
            <a:pPr lvl="1" eaLnBrk="1" hangingPunct="1"/>
            <a:r>
              <a:rPr lang="en-US" i="1" dirty="0">
                <a:solidFill>
                  <a:schemeClr val="accent1"/>
                </a:solidFill>
              </a:rPr>
              <a:t>What the hell is that?</a:t>
            </a:r>
            <a:endParaRPr lang="en-US" dirty="0">
              <a:solidFill>
                <a:schemeClr val="accent1"/>
              </a:solidFill>
            </a:endParaRPr>
          </a:p>
          <a:p>
            <a:pPr lvl="1" eaLnBrk="1" hangingPunct="1"/>
            <a:endParaRPr lang="en-US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Nondeterminism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122363"/>
            <a:ext cx="9051925" cy="5324475"/>
          </a:xfrm>
        </p:spPr>
        <p:txBody>
          <a:bodyPr/>
          <a:lstStyle/>
          <a:p>
            <a:pPr eaLnBrk="1" hangingPunct="1"/>
            <a:r>
              <a:rPr lang="en-US" dirty="0"/>
              <a:t>Think of a non-deterministic computer as a computer that magically “guesses” a solution, then has to verify that it is correct</a:t>
            </a:r>
          </a:p>
          <a:p>
            <a:pPr lvl="1" eaLnBrk="1" hangingPunct="1"/>
            <a:r>
              <a:rPr lang="en-US" dirty="0"/>
              <a:t>If a solution exists, computer always guesses it</a:t>
            </a:r>
          </a:p>
          <a:p>
            <a:pPr lvl="1" eaLnBrk="1" hangingPunct="1"/>
            <a:r>
              <a:rPr lang="en-US" dirty="0"/>
              <a:t>One way to imagine it: a parallel computer that can freely spawn an infinite number of processes</a:t>
            </a:r>
          </a:p>
          <a:p>
            <a:pPr lvl="2" eaLnBrk="1" hangingPunct="1"/>
            <a:r>
              <a:rPr lang="en-US" dirty="0"/>
              <a:t>Have one processor work on each possible solution</a:t>
            </a:r>
          </a:p>
          <a:p>
            <a:pPr lvl="2" eaLnBrk="1" hangingPunct="1"/>
            <a:r>
              <a:rPr lang="en-US" dirty="0"/>
              <a:t>All processors attempt to verify that their solution works</a:t>
            </a:r>
          </a:p>
          <a:p>
            <a:pPr lvl="2" eaLnBrk="1" hangingPunct="1"/>
            <a:r>
              <a:rPr lang="en-US" dirty="0"/>
              <a:t>If a processor finds it has a working solution</a:t>
            </a:r>
          </a:p>
          <a:p>
            <a:pPr lvl="2" eaLnBrk="1" hangingPunct="1"/>
            <a:endParaRPr lang="en-US" dirty="0"/>
          </a:p>
          <a:p>
            <a:pPr lvl="1" eaLnBrk="1" hangingPunct="1"/>
            <a:r>
              <a:rPr lang="en-US" dirty="0"/>
              <a:t>So, </a:t>
            </a:r>
            <a:r>
              <a:rPr lang="en-US" b="1" dirty="0"/>
              <a:t>NP</a:t>
            </a:r>
            <a:r>
              <a:rPr lang="en-US" dirty="0"/>
              <a:t> = problems </a:t>
            </a:r>
            <a:r>
              <a:rPr lang="en-US" i="1" dirty="0">
                <a:solidFill>
                  <a:schemeClr val="tx2"/>
                </a:solidFill>
              </a:rPr>
              <a:t>verifiable</a:t>
            </a:r>
            <a:r>
              <a:rPr lang="en-US" dirty="0"/>
              <a:t> in polynomial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 and NP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146175"/>
            <a:ext cx="9136063" cy="5635625"/>
          </a:xfrm>
        </p:spPr>
        <p:txBody>
          <a:bodyPr/>
          <a:lstStyle/>
          <a:p>
            <a:pPr eaLnBrk="1" hangingPunct="1"/>
            <a:r>
              <a:rPr lang="en-US" dirty="0"/>
              <a:t>Summary so far:</a:t>
            </a:r>
          </a:p>
          <a:p>
            <a:pPr lvl="1" eaLnBrk="1" hangingPunct="1"/>
            <a:r>
              <a:rPr lang="en-US" b="1" dirty="0"/>
              <a:t>P</a:t>
            </a:r>
            <a:r>
              <a:rPr lang="en-US" dirty="0"/>
              <a:t> = problems that can be solved in polynomial time</a:t>
            </a:r>
          </a:p>
          <a:p>
            <a:pPr lvl="1" eaLnBrk="1" hangingPunct="1"/>
            <a:r>
              <a:rPr lang="en-US" b="1" dirty="0"/>
              <a:t>NP</a:t>
            </a:r>
            <a:r>
              <a:rPr lang="en-US" dirty="0"/>
              <a:t> = problems for which a solution can be verified in polynomial time</a:t>
            </a:r>
          </a:p>
          <a:p>
            <a:pPr lvl="1" eaLnBrk="1" hangingPunct="1"/>
            <a:r>
              <a:rPr lang="en-US" b="1" dirty="0"/>
              <a:t>P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</a:t>
            </a:r>
            <a:r>
              <a:rPr lang="en-US" dirty="0"/>
              <a:t> </a:t>
            </a:r>
            <a:r>
              <a:rPr lang="en-US" b="1" dirty="0"/>
              <a:t>NP</a:t>
            </a:r>
          </a:p>
          <a:p>
            <a:pPr lvl="1" eaLnBrk="1" hangingPunct="1"/>
            <a:r>
              <a:rPr lang="en-US" dirty="0"/>
              <a:t>The big question: Does</a:t>
            </a:r>
            <a:r>
              <a:rPr lang="en-US" b="1" dirty="0"/>
              <a:t> P = NP </a:t>
            </a:r>
            <a:r>
              <a:rPr lang="en-US" dirty="0"/>
              <a:t>? (most suspect not)</a:t>
            </a:r>
          </a:p>
          <a:p>
            <a:pPr lvl="1" eaLnBrk="1" hangingPunct="1"/>
            <a:endParaRPr lang="en-US" b="1" dirty="0"/>
          </a:p>
          <a:p>
            <a:pPr eaLnBrk="1" hangingPunct="1"/>
            <a:r>
              <a:rPr lang="en-US" dirty="0"/>
              <a:t>Hamiltonian-cycle problem is in </a:t>
            </a:r>
            <a:r>
              <a:rPr lang="en-US" b="1" dirty="0"/>
              <a:t>NP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/>
              <a:t>Cannot be solved in polynomial time</a:t>
            </a:r>
          </a:p>
          <a:p>
            <a:pPr lvl="1" eaLnBrk="1" hangingPunct="1"/>
            <a:r>
              <a:rPr lang="en-US" dirty="0"/>
              <a:t>Easy to verify a solution in polynomial time (</a:t>
            </a:r>
            <a:r>
              <a:rPr lang="en-US" i="1" dirty="0">
                <a:solidFill>
                  <a:schemeClr val="accent1"/>
                </a:solidFill>
              </a:rPr>
              <a:t>How?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NP-Complete Problems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122363"/>
            <a:ext cx="9051925" cy="5651500"/>
          </a:xfrm>
        </p:spPr>
        <p:txBody>
          <a:bodyPr/>
          <a:lstStyle/>
          <a:p>
            <a:pPr eaLnBrk="1" hangingPunct="1"/>
            <a:r>
              <a:rPr lang="en-US" dirty="0"/>
              <a:t>We will see that NP-Complete problems are the “hardest” problems in NP:</a:t>
            </a:r>
          </a:p>
          <a:p>
            <a:pPr lvl="1" eaLnBrk="1" hangingPunct="1"/>
            <a:r>
              <a:rPr lang="en-US" dirty="0"/>
              <a:t>If any </a:t>
            </a:r>
            <a:r>
              <a:rPr lang="en-US" i="1" dirty="0"/>
              <a:t>one</a:t>
            </a:r>
            <a:r>
              <a:rPr lang="en-US" dirty="0"/>
              <a:t> NP-Complete problem can be solved in polynomial time…</a:t>
            </a:r>
          </a:p>
          <a:p>
            <a:pPr lvl="1" eaLnBrk="1" hangingPunct="1"/>
            <a:r>
              <a:rPr lang="en-US" dirty="0"/>
              <a:t>…then </a:t>
            </a:r>
            <a:r>
              <a:rPr lang="en-US" i="1" dirty="0"/>
              <a:t>every </a:t>
            </a:r>
            <a:r>
              <a:rPr lang="en-US" dirty="0"/>
              <a:t>NP-Complete problem can be solved in polynomial time…</a:t>
            </a:r>
          </a:p>
          <a:p>
            <a:pPr lvl="1" eaLnBrk="1" hangingPunct="1"/>
            <a:r>
              <a:rPr lang="en-US" dirty="0"/>
              <a:t>…and in fact </a:t>
            </a:r>
            <a:r>
              <a:rPr lang="en-US" i="1" dirty="0"/>
              <a:t>every </a:t>
            </a:r>
            <a:r>
              <a:rPr lang="en-US" dirty="0"/>
              <a:t>problem in </a:t>
            </a:r>
            <a:r>
              <a:rPr lang="en-US" b="1" dirty="0"/>
              <a:t>NP</a:t>
            </a:r>
            <a:r>
              <a:rPr lang="en-US" dirty="0"/>
              <a:t> can be solved in polynomial time (which would show </a:t>
            </a:r>
            <a:r>
              <a:rPr lang="en-US" b="1" dirty="0"/>
              <a:t>P = NP</a:t>
            </a:r>
            <a:r>
              <a:rPr lang="en-US" dirty="0"/>
              <a:t>)</a:t>
            </a:r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Thus: solve Hamiltonian-cycle problem in O(</a:t>
            </a:r>
            <a:r>
              <a:rPr lang="en-US" i="1" dirty="0"/>
              <a:t>n</a:t>
            </a:r>
            <a:r>
              <a:rPr lang="en-US" baseline="30000" dirty="0"/>
              <a:t>100</a:t>
            </a:r>
            <a:r>
              <a:rPr lang="en-US" dirty="0"/>
              <a:t>) time, you’ve proved that </a:t>
            </a:r>
            <a:r>
              <a:rPr lang="en-US" b="1" dirty="0"/>
              <a:t>P = NP</a:t>
            </a:r>
            <a:r>
              <a:rPr lang="en-US" dirty="0"/>
              <a:t>.  </a:t>
            </a:r>
          </a:p>
          <a:p>
            <a:pPr lvl="1" eaLnBrk="1" hangingPunct="1">
              <a:buFont typeface="Monotype Sorts" pitchFamily="2" charset="2"/>
              <a:buNone/>
            </a:pPr>
            <a:r>
              <a:rPr lang="en-US" dirty="0">
                <a:solidFill>
                  <a:srgbClr val="0000CC"/>
                </a:solidFill>
              </a:rPr>
              <a:t>			</a:t>
            </a:r>
            <a:r>
              <a:rPr lang="en-US" b="1" dirty="0">
                <a:solidFill>
                  <a:srgbClr val="0000CC"/>
                </a:solidFill>
              </a:rPr>
              <a:t>Be rich &amp; famous (Turing Award) !!!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Review: </a:t>
            </a:r>
            <a:r>
              <a:rPr lang="en-US" b="1"/>
              <a:t>P </a:t>
            </a:r>
            <a:r>
              <a:rPr lang="en-US"/>
              <a:t>and</a:t>
            </a:r>
            <a:r>
              <a:rPr lang="en-US" b="1"/>
              <a:t> NP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625600"/>
            <a:ext cx="9304337" cy="4632325"/>
          </a:xfrm>
        </p:spPr>
        <p:txBody>
          <a:bodyPr/>
          <a:lstStyle/>
          <a:p>
            <a:pPr eaLnBrk="1" hangingPunct="1"/>
            <a:r>
              <a:rPr lang="en-US" i="1" dirty="0">
                <a:solidFill>
                  <a:schemeClr val="accent1"/>
                </a:solidFill>
              </a:rPr>
              <a:t>What do we mean when we say a problem is in </a:t>
            </a:r>
            <a:r>
              <a:rPr lang="en-US" b="1" i="1" dirty="0">
                <a:solidFill>
                  <a:schemeClr val="tx2"/>
                </a:solidFill>
              </a:rPr>
              <a:t>P </a:t>
            </a:r>
            <a:r>
              <a:rPr lang="en-US" dirty="0">
                <a:solidFill>
                  <a:schemeClr val="accent1"/>
                </a:solidFill>
              </a:rPr>
              <a:t>?</a:t>
            </a:r>
          </a:p>
          <a:p>
            <a:pPr lvl="1" eaLnBrk="1" hangingPunct="1"/>
            <a:r>
              <a:rPr lang="en-US" dirty="0"/>
              <a:t>A solution can be found in polynomial time</a:t>
            </a:r>
          </a:p>
          <a:p>
            <a:pPr lvl="1" eaLnBrk="1" hangingPunct="1"/>
            <a:endParaRPr lang="en-US" dirty="0"/>
          </a:p>
          <a:p>
            <a:pPr eaLnBrk="1" hangingPunct="1"/>
            <a:r>
              <a:rPr lang="en-US" i="1" dirty="0">
                <a:solidFill>
                  <a:schemeClr val="accent1"/>
                </a:solidFill>
              </a:rPr>
              <a:t>What do we mean when we say a problem is in </a:t>
            </a:r>
            <a:r>
              <a:rPr lang="en-US" b="1" i="1" dirty="0">
                <a:solidFill>
                  <a:schemeClr val="tx2"/>
                </a:solidFill>
              </a:rPr>
              <a:t>NP </a:t>
            </a:r>
            <a:r>
              <a:rPr lang="en-US" dirty="0">
                <a:solidFill>
                  <a:schemeClr val="accent1"/>
                </a:solidFill>
              </a:rPr>
              <a:t>?</a:t>
            </a:r>
          </a:p>
          <a:p>
            <a:pPr lvl="1" eaLnBrk="1" hangingPunct="1"/>
            <a:r>
              <a:rPr lang="en-US" dirty="0"/>
              <a:t>A solution can be verified in polynomial time</a:t>
            </a:r>
          </a:p>
          <a:p>
            <a:pPr lvl="1" eaLnBrk="1" hangingPunct="1"/>
            <a:endParaRPr lang="en-US" dirty="0"/>
          </a:p>
          <a:p>
            <a:pPr eaLnBrk="1" hangingPunct="1"/>
            <a:r>
              <a:rPr lang="en-US" i="1" dirty="0">
                <a:solidFill>
                  <a:schemeClr val="accent1"/>
                </a:solidFill>
              </a:rPr>
              <a:t>What is the relationship between </a:t>
            </a:r>
            <a:r>
              <a:rPr lang="en-US" b="1" i="1" dirty="0">
                <a:solidFill>
                  <a:schemeClr val="accent1"/>
                </a:solidFill>
              </a:rPr>
              <a:t>P</a:t>
            </a:r>
            <a:r>
              <a:rPr lang="en-US" i="1" dirty="0">
                <a:solidFill>
                  <a:schemeClr val="accent1"/>
                </a:solidFill>
              </a:rPr>
              <a:t> and </a:t>
            </a:r>
            <a:r>
              <a:rPr lang="en-US" b="1" i="1" dirty="0">
                <a:solidFill>
                  <a:schemeClr val="accent1"/>
                </a:solidFill>
              </a:rPr>
              <a:t>NP </a:t>
            </a:r>
            <a:r>
              <a:rPr lang="en-US" dirty="0">
                <a:solidFill>
                  <a:schemeClr val="accent1"/>
                </a:solidFill>
              </a:rPr>
              <a:t>?</a:t>
            </a:r>
          </a:p>
          <a:p>
            <a:pPr lvl="1" eaLnBrk="1" hangingPunct="1"/>
            <a:r>
              <a:rPr lang="en-US" dirty="0" err="1"/>
              <a:t>Ans</a:t>
            </a:r>
            <a:r>
              <a:rPr lang="en-US" dirty="0"/>
              <a:t>: </a:t>
            </a:r>
            <a:r>
              <a:rPr lang="en-US" b="1" dirty="0"/>
              <a:t>P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</a:t>
            </a:r>
            <a:r>
              <a:rPr lang="en-US" dirty="0"/>
              <a:t> </a:t>
            </a:r>
            <a:r>
              <a:rPr lang="en-US" b="1" dirty="0"/>
              <a:t>NP</a:t>
            </a:r>
            <a:r>
              <a:rPr lang="en-US" dirty="0"/>
              <a:t>, but no one knows whether </a:t>
            </a:r>
            <a:r>
              <a:rPr lang="en-US" b="1" dirty="0"/>
              <a:t>P = NP</a:t>
            </a:r>
            <a:endParaRPr lang="en-US" dirty="0"/>
          </a:p>
          <a:p>
            <a:pPr eaLnBrk="1" hangingPunct="1"/>
            <a:endParaRPr lang="en-US" i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Reduction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460" y="1301144"/>
            <a:ext cx="9555480" cy="5217652"/>
          </a:xfrm>
        </p:spPr>
        <p:txBody>
          <a:bodyPr/>
          <a:lstStyle/>
          <a:p>
            <a:r>
              <a:rPr lang="en-US" altLang="zh-CN" dirty="0">
                <a:ea typeface="SimSun" pitchFamily="2" charset="-122"/>
              </a:rPr>
              <a:t>A problem R can be </a:t>
            </a:r>
            <a:r>
              <a:rPr lang="en-US" altLang="zh-CN" i="1" dirty="0">
                <a:solidFill>
                  <a:schemeClr val="tx2"/>
                </a:solidFill>
                <a:ea typeface="SimSun" pitchFamily="2" charset="-122"/>
              </a:rPr>
              <a:t>reduced</a:t>
            </a:r>
            <a:r>
              <a:rPr lang="en-US" altLang="zh-CN" dirty="0">
                <a:ea typeface="SimSun" pitchFamily="2" charset="-122"/>
              </a:rPr>
              <a:t> to another problem Q if any instance of R can be rephrased to an instance of Q, the solution to which provides a solution to the instance of R.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This rephrasing is called “</a:t>
            </a:r>
            <a:r>
              <a:rPr lang="en-US" altLang="zh-CN" i="1" dirty="0">
                <a:solidFill>
                  <a:srgbClr val="C00000"/>
                </a:solidFill>
                <a:ea typeface="SimSun" pitchFamily="2" charset="-122"/>
              </a:rPr>
              <a:t>Reducibility</a:t>
            </a:r>
            <a:r>
              <a:rPr lang="en-US" altLang="zh-CN" dirty="0">
                <a:solidFill>
                  <a:srgbClr val="C00000"/>
                </a:solidFill>
                <a:ea typeface="SimSun" pitchFamily="2" charset="-122"/>
              </a:rPr>
              <a:t>”</a:t>
            </a:r>
          </a:p>
          <a:p>
            <a:pPr lvl="1"/>
            <a:endParaRPr lang="en-US" altLang="zh-CN" sz="1800" dirty="0">
              <a:ea typeface="SimSun" pitchFamily="2" charset="-122"/>
            </a:endParaRPr>
          </a:p>
          <a:p>
            <a:r>
              <a:rPr lang="en-US" altLang="zh-CN" dirty="0">
                <a:ea typeface="SimSun" pitchFamily="2" charset="-122"/>
              </a:rPr>
              <a:t>Intuitively: If R reduces in polynomial time to Q, </a:t>
            </a:r>
          </a:p>
          <a:p>
            <a:pPr>
              <a:buNone/>
            </a:pPr>
            <a:r>
              <a:rPr lang="en-US" altLang="zh-CN" dirty="0">
                <a:ea typeface="SimSun" pitchFamily="2" charset="-122"/>
              </a:rPr>
              <a:t>		R is “no harder to solve” than Q</a:t>
            </a:r>
          </a:p>
          <a:p>
            <a:endParaRPr lang="en-US" altLang="zh-CN" sz="1800" dirty="0">
              <a:ea typeface="SimSun" pitchFamily="2" charset="-122"/>
            </a:endParaRPr>
          </a:p>
          <a:p>
            <a:r>
              <a:rPr lang="en-US" altLang="zh-CN" dirty="0">
                <a:ea typeface="SimSun" pitchFamily="2" charset="-122"/>
              </a:rPr>
              <a:t>Example: </a:t>
            </a:r>
            <a:r>
              <a:rPr lang="en-US" altLang="zh-CN" i="1" dirty="0">
                <a:solidFill>
                  <a:srgbClr val="0000CC"/>
                </a:solidFill>
                <a:ea typeface="SimSun" pitchFamily="2" charset="-122"/>
              </a:rPr>
              <a:t>lcm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, </a:t>
            </a:r>
            <a:r>
              <a:rPr lang="en-US" altLang="zh-CN" i="1" dirty="0">
                <a:ea typeface="SimSun" pitchFamily="2" charset="-122"/>
              </a:rPr>
              <a:t>n</a:t>
            </a:r>
            <a:r>
              <a:rPr lang="en-US" altLang="zh-CN" dirty="0">
                <a:ea typeface="SimSun" pitchFamily="2" charset="-122"/>
              </a:rPr>
              <a:t>) = 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 * </a:t>
            </a:r>
            <a:r>
              <a:rPr lang="en-US" altLang="zh-CN" i="1" dirty="0">
                <a:ea typeface="SimSun" pitchFamily="2" charset="-122"/>
              </a:rPr>
              <a:t>n</a:t>
            </a:r>
            <a:r>
              <a:rPr lang="en-US" altLang="zh-CN" dirty="0">
                <a:ea typeface="SimSun" pitchFamily="2" charset="-122"/>
              </a:rPr>
              <a:t> / </a:t>
            </a:r>
            <a:r>
              <a:rPr lang="en-US" altLang="zh-CN" i="1" dirty="0" err="1">
                <a:solidFill>
                  <a:srgbClr val="0000CC"/>
                </a:solidFill>
                <a:ea typeface="SimSun" pitchFamily="2" charset="-122"/>
              </a:rPr>
              <a:t>gcd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, </a:t>
            </a:r>
            <a:r>
              <a:rPr lang="en-US" altLang="zh-CN" i="1" dirty="0">
                <a:ea typeface="SimSun" pitchFamily="2" charset="-122"/>
              </a:rPr>
              <a:t>n</a:t>
            </a:r>
            <a:r>
              <a:rPr lang="en-US" altLang="zh-CN" dirty="0">
                <a:ea typeface="SimSun" pitchFamily="2" charset="-122"/>
              </a:rPr>
              <a:t>), </a:t>
            </a:r>
          </a:p>
          <a:p>
            <a:pPr>
              <a:buFont typeface="Monotype Sorts" charset="2"/>
              <a:buNone/>
            </a:pPr>
            <a:r>
              <a:rPr lang="en-US" altLang="zh-CN" dirty="0">
                <a:ea typeface="SimSun" pitchFamily="2" charset="-122"/>
              </a:rPr>
              <a:t> 		</a:t>
            </a:r>
            <a:r>
              <a:rPr lang="en-US" altLang="zh-CN" i="1" dirty="0">
                <a:solidFill>
                  <a:srgbClr val="0000CC"/>
                </a:solidFill>
                <a:ea typeface="SimSun" pitchFamily="2" charset="-122"/>
              </a:rPr>
              <a:t>lcm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, </a:t>
            </a:r>
            <a:r>
              <a:rPr lang="en-US" altLang="zh-CN" i="1" dirty="0">
                <a:ea typeface="SimSun" pitchFamily="2" charset="-122"/>
              </a:rPr>
              <a:t>n</a:t>
            </a:r>
            <a:r>
              <a:rPr lang="en-US" altLang="zh-CN" dirty="0">
                <a:ea typeface="SimSun" pitchFamily="2" charset="-122"/>
              </a:rPr>
              <a:t>) problem is reduced to </a:t>
            </a:r>
            <a:r>
              <a:rPr lang="en-US" altLang="zh-CN" i="1" dirty="0" err="1">
                <a:solidFill>
                  <a:srgbClr val="0000CC"/>
                </a:solidFill>
                <a:ea typeface="SimSun" pitchFamily="2" charset="-122"/>
              </a:rPr>
              <a:t>gcd</a:t>
            </a:r>
            <a:r>
              <a:rPr lang="en-US" altLang="zh-CN" dirty="0">
                <a:ea typeface="SimSun" pitchFamily="2" charset="-122"/>
              </a:rPr>
              <a:t>(</a:t>
            </a:r>
            <a:r>
              <a:rPr lang="en-US" altLang="zh-CN" i="1" dirty="0">
                <a:ea typeface="SimSun" pitchFamily="2" charset="-122"/>
              </a:rPr>
              <a:t>m</a:t>
            </a:r>
            <a:r>
              <a:rPr lang="en-US" altLang="zh-CN" dirty="0">
                <a:ea typeface="SimSun" pitchFamily="2" charset="-122"/>
              </a:rPr>
              <a:t>, </a:t>
            </a:r>
            <a:r>
              <a:rPr lang="en-US" altLang="zh-CN" i="1" dirty="0">
                <a:ea typeface="SimSun" pitchFamily="2" charset="-122"/>
              </a:rPr>
              <a:t>n</a:t>
            </a:r>
            <a:r>
              <a:rPr lang="en-US" altLang="zh-CN" dirty="0">
                <a:ea typeface="SimSun" pitchFamily="2" charset="-122"/>
              </a:rPr>
              <a:t>)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 bldLvl="2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35441-31EE-9744-99AA-D36AB412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701CC-B5B5-8A4D-82F0-F30429CDE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sz="2000" dirty="0"/>
              <a:t>X – NP Complete</a:t>
            </a:r>
          </a:p>
          <a:p>
            <a:r>
              <a:rPr lang="en-BD" sz="2000" dirty="0"/>
              <a:t>Any problem in NP class can be </a:t>
            </a:r>
            <a:r>
              <a:rPr lang="en-BD" sz="2000" strike="sngStrike" dirty="0"/>
              <a:t>converted</a:t>
            </a:r>
            <a:r>
              <a:rPr lang="en-BD" sz="2000" dirty="0"/>
              <a:t> reduced to X in polynomial time</a:t>
            </a:r>
          </a:p>
          <a:p>
            <a:r>
              <a:rPr lang="en-BD" sz="2000" dirty="0"/>
              <a:t>A -&gt; polynomial time convert to X -&gt; solve X -&gt; convert the solution of X to solution of A in polynomial time</a:t>
            </a:r>
          </a:p>
          <a:p>
            <a:r>
              <a:rPr lang="en-BD" dirty="0"/>
              <a:t>P – poly time solve</a:t>
            </a:r>
          </a:p>
          <a:p>
            <a:r>
              <a:rPr lang="en-BD" dirty="0"/>
              <a:t>NP – poly time e verify, P \in NP</a:t>
            </a:r>
          </a:p>
          <a:p>
            <a:r>
              <a:rPr lang="en-BD" dirty="0"/>
              <a:t>NP-complete: </a:t>
            </a:r>
          </a:p>
          <a:p>
            <a:pPr lvl="1"/>
            <a:r>
              <a:rPr lang="en-BD" dirty="0"/>
              <a:t>poly time e verify</a:t>
            </a:r>
          </a:p>
          <a:p>
            <a:pPr lvl="1"/>
            <a:r>
              <a:rPr lang="en-BD" dirty="0"/>
              <a:t>Any problem in NP is reducible to NP-complete in poly time</a:t>
            </a:r>
          </a:p>
          <a:p>
            <a:r>
              <a:rPr lang="en-BD" dirty="0"/>
              <a:t>NP-hard</a:t>
            </a:r>
          </a:p>
          <a:p>
            <a:pPr lvl="1"/>
            <a:r>
              <a:rPr lang="en-BD" dirty="0"/>
              <a:t>Any problem in NP is reducible to NP-complete in poly time</a:t>
            </a:r>
          </a:p>
          <a:p>
            <a:pPr lvl="1"/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939276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C4002-E8CA-494F-9DD5-932D6D0FB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653CE6-38F1-D145-8C6A-CD180E9D4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63065"/>
            <a:ext cx="9931078" cy="530487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A1B570-0CFD-1546-8EC3-4AD1DC070F7F}"/>
              </a:ext>
            </a:extLst>
          </p:cNvPr>
          <p:cNvSpPr txBox="1"/>
          <p:nvPr/>
        </p:nvSpPr>
        <p:spPr>
          <a:xfrm>
            <a:off x="3940581" y="2893671"/>
            <a:ext cx="327044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O(n</a:t>
            </a:r>
            <a:r>
              <a:rPr lang="en-BD"/>
              <a:t>+n^x+n^y) : polynomial: yes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57656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NP-Complete  and NP-Hard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256900"/>
            <a:ext cx="9304337" cy="5247148"/>
          </a:xfrm>
        </p:spPr>
        <p:txBody>
          <a:bodyPr/>
          <a:lstStyle/>
          <a:p>
            <a:pPr eaLnBrk="1" hangingPunct="1"/>
            <a:r>
              <a:rPr lang="en-US" sz="2600" i="1" dirty="0">
                <a:solidFill>
                  <a:schemeClr val="accent1"/>
                </a:solidFill>
              </a:rPr>
              <a:t>What do we mean when we say a problem is in </a:t>
            </a:r>
            <a:r>
              <a:rPr lang="en-US" sz="2600" b="1" i="1" dirty="0">
                <a:solidFill>
                  <a:schemeClr val="tx2"/>
                </a:solidFill>
              </a:rPr>
              <a:t>NP-Hard </a:t>
            </a:r>
            <a:r>
              <a:rPr lang="en-US" sz="2600" dirty="0">
                <a:solidFill>
                  <a:schemeClr val="accent1"/>
                </a:solidFill>
              </a:rPr>
              <a:t>?</a:t>
            </a:r>
          </a:p>
          <a:p>
            <a:pPr lvl="1" eaLnBrk="1" hangingPunct="1"/>
            <a:r>
              <a:rPr lang="en-US" dirty="0"/>
              <a:t>A problem is said to be in </a:t>
            </a:r>
            <a:r>
              <a:rPr lang="en-US" i="1" dirty="0"/>
              <a:t>NP-hard</a:t>
            </a:r>
            <a:r>
              <a:rPr lang="en-US" dirty="0"/>
              <a:t> if every problem in NP can be polynomial-time reducible to it.</a:t>
            </a:r>
          </a:p>
          <a:p>
            <a:pPr lvl="1" eaLnBrk="1" hangingPunct="1"/>
            <a:endParaRPr lang="en-US" sz="1400" dirty="0"/>
          </a:p>
          <a:p>
            <a:pPr eaLnBrk="1" hangingPunct="1"/>
            <a:r>
              <a:rPr lang="en-US" sz="2600" i="1" dirty="0">
                <a:solidFill>
                  <a:schemeClr val="accent1"/>
                </a:solidFill>
              </a:rPr>
              <a:t>What do we mean when we say a problem is in </a:t>
            </a:r>
            <a:r>
              <a:rPr lang="en-US" sz="2600" b="1" i="1" dirty="0">
                <a:solidFill>
                  <a:schemeClr val="tx2"/>
                </a:solidFill>
              </a:rPr>
              <a:t>NP-Complete </a:t>
            </a:r>
            <a:r>
              <a:rPr lang="en-US" sz="2600" dirty="0">
                <a:solidFill>
                  <a:schemeClr val="accent1"/>
                </a:solidFill>
              </a:rPr>
              <a:t>?</a:t>
            </a:r>
          </a:p>
          <a:p>
            <a:pPr lvl="1" eaLnBrk="1" hangingPunct="1"/>
            <a:r>
              <a:rPr lang="en-US" dirty="0"/>
              <a:t>A problem is said to be in </a:t>
            </a:r>
            <a:r>
              <a:rPr lang="en-US" i="1" dirty="0"/>
              <a:t>NP-Complete</a:t>
            </a:r>
            <a:r>
              <a:rPr lang="en-US" dirty="0"/>
              <a:t> if </a:t>
            </a:r>
          </a:p>
          <a:p>
            <a:pPr lvl="2" eaLnBrk="1" hangingPunct="1"/>
            <a:r>
              <a:rPr lang="en-US" dirty="0"/>
              <a:t>it is in NP-Hard, and </a:t>
            </a:r>
          </a:p>
          <a:p>
            <a:pPr lvl="2" eaLnBrk="1" hangingPunct="1"/>
            <a:r>
              <a:rPr lang="en-US" dirty="0"/>
              <a:t>it is in NP</a:t>
            </a:r>
          </a:p>
          <a:p>
            <a:pPr lvl="1" eaLnBrk="1" hangingPunct="1"/>
            <a:endParaRPr lang="en-US" sz="1400" dirty="0"/>
          </a:p>
          <a:p>
            <a:pPr eaLnBrk="1" hangingPunct="1"/>
            <a:r>
              <a:rPr lang="en-US" sz="2600" i="1" dirty="0">
                <a:solidFill>
                  <a:schemeClr val="accent1"/>
                </a:solidFill>
              </a:rPr>
              <a:t>What is the relationship between </a:t>
            </a:r>
            <a:r>
              <a:rPr lang="en-US" sz="2600" b="1" i="1" dirty="0">
                <a:solidFill>
                  <a:schemeClr val="tx2"/>
                </a:solidFill>
              </a:rPr>
              <a:t>NP-Hard</a:t>
            </a:r>
            <a:r>
              <a:rPr lang="en-US" sz="2600" i="1" dirty="0">
                <a:solidFill>
                  <a:schemeClr val="accent1"/>
                </a:solidFill>
              </a:rPr>
              <a:t> and </a:t>
            </a:r>
            <a:r>
              <a:rPr lang="en-US" sz="2600" b="1" i="1" dirty="0">
                <a:solidFill>
                  <a:schemeClr val="tx2"/>
                </a:solidFill>
              </a:rPr>
              <a:t>NP-Complete </a:t>
            </a:r>
            <a:r>
              <a:rPr lang="en-US" sz="2600" dirty="0">
                <a:solidFill>
                  <a:schemeClr val="accent1"/>
                </a:solidFill>
              </a:rPr>
              <a:t>?</a:t>
            </a:r>
          </a:p>
          <a:p>
            <a:pPr lvl="1" eaLnBrk="1" hangingPunct="1"/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NP-Complete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Symbol" pitchFamily="18" charset="2"/>
              </a:rPr>
              <a:t>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NP-Hard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but </a:t>
            </a:r>
          </a:p>
          <a:p>
            <a:pPr lvl="1" eaLnBrk="1" hangingPunct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one knows whether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NP-Complete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NP-Hard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hangingPunct="1"/>
            <a:endParaRPr lang="en-US" i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NP-Complete  and NP-Hard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256900"/>
            <a:ext cx="9304337" cy="5247148"/>
          </a:xfrm>
        </p:spPr>
        <p:txBody>
          <a:bodyPr/>
          <a:lstStyle/>
          <a:p>
            <a:pPr eaLnBrk="1" hangingPunct="1"/>
            <a:r>
              <a:rPr lang="en-US" sz="2600" i="1" dirty="0">
                <a:solidFill>
                  <a:schemeClr val="accent1"/>
                </a:solidFill>
              </a:rPr>
              <a:t>What do we mean when we say a problem is in </a:t>
            </a:r>
            <a:r>
              <a:rPr lang="en-US" sz="2600" b="1" i="1" dirty="0">
                <a:solidFill>
                  <a:schemeClr val="tx2"/>
                </a:solidFill>
              </a:rPr>
              <a:t>NP-Hard </a:t>
            </a:r>
            <a:r>
              <a:rPr lang="en-US" sz="2600" dirty="0">
                <a:solidFill>
                  <a:schemeClr val="accent1"/>
                </a:solidFill>
              </a:rPr>
              <a:t>?</a:t>
            </a:r>
          </a:p>
          <a:p>
            <a:pPr lvl="1" eaLnBrk="1" hangingPunct="1"/>
            <a:r>
              <a:rPr lang="en-US" dirty="0"/>
              <a:t>A problem is said to be in </a:t>
            </a:r>
            <a:r>
              <a:rPr lang="en-US" i="1" dirty="0"/>
              <a:t>NP-hard</a:t>
            </a:r>
            <a:r>
              <a:rPr lang="en-US" dirty="0"/>
              <a:t> if every problem in NP can be polynomial-time reducible to it.</a:t>
            </a:r>
          </a:p>
          <a:p>
            <a:pPr lvl="1" eaLnBrk="1" hangingPunct="1"/>
            <a:endParaRPr lang="en-US" sz="1400" dirty="0"/>
          </a:p>
          <a:p>
            <a:pPr eaLnBrk="1" hangingPunct="1"/>
            <a:r>
              <a:rPr lang="en-US" sz="2600" i="1" dirty="0">
                <a:solidFill>
                  <a:schemeClr val="accent1"/>
                </a:solidFill>
              </a:rPr>
              <a:t>What do we mean when we say a problem is in </a:t>
            </a:r>
            <a:r>
              <a:rPr lang="en-US" sz="2600" b="1" i="1" dirty="0">
                <a:solidFill>
                  <a:schemeClr val="tx2"/>
                </a:solidFill>
              </a:rPr>
              <a:t>NP-Complete </a:t>
            </a:r>
            <a:r>
              <a:rPr lang="en-US" sz="2600" dirty="0">
                <a:solidFill>
                  <a:schemeClr val="accent1"/>
                </a:solidFill>
              </a:rPr>
              <a:t>?</a:t>
            </a:r>
          </a:p>
          <a:p>
            <a:pPr lvl="1" eaLnBrk="1" hangingPunct="1"/>
            <a:r>
              <a:rPr lang="en-US" dirty="0"/>
              <a:t>A problem is said to be in </a:t>
            </a:r>
            <a:r>
              <a:rPr lang="en-US" i="1" dirty="0"/>
              <a:t>NP-Complete</a:t>
            </a:r>
            <a:r>
              <a:rPr lang="en-US" dirty="0"/>
              <a:t> if </a:t>
            </a:r>
          </a:p>
          <a:p>
            <a:pPr lvl="2" eaLnBrk="1" hangingPunct="1"/>
            <a:r>
              <a:rPr lang="en-US" dirty="0"/>
              <a:t>it is in NP-Hard, and </a:t>
            </a:r>
          </a:p>
          <a:p>
            <a:pPr lvl="2" eaLnBrk="1" hangingPunct="1"/>
            <a:r>
              <a:rPr lang="en-US" dirty="0"/>
              <a:t>it is in NP</a:t>
            </a:r>
          </a:p>
          <a:p>
            <a:pPr lvl="1" eaLnBrk="1" hangingPunct="1"/>
            <a:endParaRPr lang="en-US" sz="1400" dirty="0"/>
          </a:p>
          <a:p>
            <a:pPr eaLnBrk="1" hangingPunct="1"/>
            <a:r>
              <a:rPr lang="en-US" sz="2600" i="1" dirty="0">
                <a:solidFill>
                  <a:schemeClr val="accent1"/>
                </a:solidFill>
              </a:rPr>
              <a:t>What is the relationship between </a:t>
            </a:r>
            <a:r>
              <a:rPr lang="en-US" sz="2600" b="1" i="1" dirty="0">
                <a:solidFill>
                  <a:schemeClr val="tx2"/>
                </a:solidFill>
              </a:rPr>
              <a:t>NP-Hard</a:t>
            </a:r>
            <a:r>
              <a:rPr lang="en-US" sz="2600" i="1" dirty="0">
                <a:solidFill>
                  <a:schemeClr val="accent1"/>
                </a:solidFill>
              </a:rPr>
              <a:t> and </a:t>
            </a:r>
            <a:r>
              <a:rPr lang="en-US" sz="2600" b="1" i="1" dirty="0">
                <a:solidFill>
                  <a:schemeClr val="tx2"/>
                </a:solidFill>
              </a:rPr>
              <a:t>NP-Complete </a:t>
            </a:r>
            <a:r>
              <a:rPr lang="en-US" sz="2600" dirty="0">
                <a:solidFill>
                  <a:schemeClr val="accent1"/>
                </a:solidFill>
              </a:rPr>
              <a:t>?</a:t>
            </a:r>
          </a:p>
          <a:p>
            <a:pPr lvl="1" eaLnBrk="1" hangingPunct="1"/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NP-Complete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Symbol" pitchFamily="18" charset="2"/>
              </a:rPr>
              <a:t>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NP-Hard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but </a:t>
            </a:r>
          </a:p>
          <a:p>
            <a:pPr lvl="1" eaLnBrk="1" hangingPunct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one knows whether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NP-Complete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NP-Hard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hangingPunct="1"/>
            <a:endParaRPr lang="en-US" i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Why Prove NP-Completeness?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Though nobody has proven that </a:t>
            </a:r>
            <a:r>
              <a:rPr lang="en-US" b="1"/>
              <a:t>P </a:t>
            </a:r>
            <a:r>
              <a:rPr lang="en-US"/>
              <a:t>!=</a:t>
            </a:r>
            <a:r>
              <a:rPr lang="en-US" b="1"/>
              <a:t> NP</a:t>
            </a:r>
            <a:r>
              <a:rPr lang="en-US"/>
              <a:t>, if you prove a problem NP-Complete, most people accept that it is probably intractable</a:t>
            </a:r>
          </a:p>
          <a:p>
            <a:pPr eaLnBrk="1" hangingPunct="1"/>
            <a:r>
              <a:rPr lang="en-US"/>
              <a:t>Therefore it can be important to prove that a problem is NP-Complete</a:t>
            </a:r>
          </a:p>
          <a:p>
            <a:pPr lvl="1" eaLnBrk="1" hangingPunct="1"/>
            <a:r>
              <a:rPr lang="en-US"/>
              <a:t>Don’t need to come up with an efficient algorithm</a:t>
            </a:r>
          </a:p>
          <a:p>
            <a:pPr lvl="1" eaLnBrk="1" hangingPunct="1"/>
            <a:r>
              <a:rPr lang="en-US"/>
              <a:t>Can instead work on </a:t>
            </a:r>
            <a:r>
              <a:rPr lang="en-US" i="1">
                <a:solidFill>
                  <a:schemeClr val="tx2"/>
                </a:solidFill>
              </a:rPr>
              <a:t>approximation algorithms</a:t>
            </a:r>
            <a:endParaRPr 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Approximation Algorithms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1122363"/>
            <a:ext cx="9261475" cy="5834062"/>
          </a:xfrm>
        </p:spPr>
        <p:txBody>
          <a:bodyPr/>
          <a:lstStyle/>
          <a:p>
            <a:pPr eaLnBrk="1" hangingPunct="1"/>
            <a:r>
              <a:rPr lang="en-US" sz="2600" b="1">
                <a:solidFill>
                  <a:srgbClr val="CC0000"/>
                </a:solidFill>
              </a:rPr>
              <a:t>Goal:</a:t>
            </a:r>
            <a:r>
              <a:rPr lang="en-US" sz="2600"/>
              <a:t> </a:t>
            </a:r>
            <a:r>
              <a:rPr lang="en-US" sz="2400"/>
              <a:t>Find </a:t>
            </a:r>
            <a:r>
              <a:rPr lang="en-US" sz="2400">
                <a:solidFill>
                  <a:srgbClr val="000000"/>
                </a:solidFill>
              </a:rPr>
              <a:t>an algorithm which returns </a:t>
            </a:r>
            <a:r>
              <a:rPr lang="en-US" sz="2400"/>
              <a:t>near-optimal solution to a hard optimization problem</a:t>
            </a:r>
          </a:p>
          <a:p>
            <a:pPr eaLnBrk="1" hangingPunct="1">
              <a:buFont typeface="Monotype Sorts" pitchFamily="2" charset="2"/>
              <a:buNone/>
            </a:pPr>
            <a:endParaRPr lang="en-US" sz="1200"/>
          </a:p>
          <a:p>
            <a:pPr eaLnBrk="1" hangingPunct="1"/>
            <a:r>
              <a:rPr lang="en-US" sz="2600"/>
              <a:t>What does “near-optimal” mean?</a:t>
            </a:r>
          </a:p>
          <a:p>
            <a:pPr eaLnBrk="1" hangingPunct="1">
              <a:buFont typeface="Monotype Sorts" pitchFamily="2" charset="2"/>
              <a:buNone/>
            </a:pPr>
            <a:endParaRPr lang="en-US" sz="2600"/>
          </a:p>
          <a:p>
            <a:pPr eaLnBrk="1" hangingPunct="1"/>
            <a:r>
              <a:rPr lang="en-US" sz="2600"/>
              <a:t>An approximate algorithm has an </a:t>
            </a:r>
            <a:r>
              <a:rPr lang="en-US" sz="2600">
                <a:solidFill>
                  <a:srgbClr val="CC0000"/>
                </a:solidFill>
              </a:rPr>
              <a:t>approximation ratio </a:t>
            </a:r>
            <a:r>
              <a:rPr lang="en-US" sz="2600"/>
              <a:t>of </a:t>
            </a:r>
            <a:r>
              <a:rPr lang="en-US" sz="2600">
                <a:sym typeface="Symbol" pitchFamily="18" charset="2"/>
              </a:rPr>
              <a:t></a:t>
            </a:r>
            <a:r>
              <a:rPr lang="en-US" sz="2600"/>
              <a:t>(n) if for any input of size n,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sz="2600"/>
              <a:t>		        </a:t>
            </a:r>
            <a:r>
              <a:rPr lang="en-US" sz="2600">
                <a:solidFill>
                  <a:schemeClr val="tx2"/>
                </a:solidFill>
              </a:rPr>
              <a:t>max{C/C*, C*/C} </a:t>
            </a:r>
            <a:r>
              <a:rPr lang="en-US" sz="2600">
                <a:solidFill>
                  <a:schemeClr val="tx2"/>
                </a:solidFill>
                <a:sym typeface="Symbol" pitchFamily="18" charset="2"/>
              </a:rPr>
              <a:t> </a:t>
            </a:r>
            <a:r>
              <a:rPr lang="en-US" sz="2600">
                <a:solidFill>
                  <a:schemeClr val="tx2"/>
                </a:solidFill>
              </a:rPr>
              <a:t>(n)</a:t>
            </a:r>
            <a:endParaRPr lang="en-US" sz="2600"/>
          </a:p>
          <a:p>
            <a:pPr eaLnBrk="1" hangingPunct="1">
              <a:buFont typeface="Monotype Sorts" pitchFamily="2" charset="2"/>
              <a:buNone/>
            </a:pPr>
            <a:r>
              <a:rPr lang="en-US" sz="2600"/>
              <a:t>		where 	</a:t>
            </a:r>
            <a:r>
              <a:rPr lang="en-US" sz="2600">
                <a:solidFill>
                  <a:schemeClr val="hlink"/>
                </a:solidFill>
              </a:rPr>
              <a:t>C </a:t>
            </a:r>
            <a:r>
              <a:rPr lang="en-US" sz="2600"/>
              <a:t>=  cost of solution produced by approx. algo.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sz="2600"/>
              <a:t>           		</a:t>
            </a:r>
            <a:r>
              <a:rPr lang="en-US" sz="2600">
                <a:solidFill>
                  <a:schemeClr val="hlink"/>
                </a:solidFill>
              </a:rPr>
              <a:t>C*</a:t>
            </a:r>
            <a:r>
              <a:rPr lang="en-US" sz="2600"/>
              <a:t> = cost of optimal solution</a:t>
            </a:r>
          </a:p>
          <a:p>
            <a:pPr eaLnBrk="1" hangingPunct="1"/>
            <a:r>
              <a:rPr lang="en-US" sz="2600"/>
              <a:t>Applies to both minimization and maximization problems</a:t>
            </a:r>
          </a:p>
          <a:p>
            <a:pPr eaLnBrk="1" hangingPunct="1"/>
            <a:r>
              <a:rPr lang="en-US" sz="2600"/>
              <a:t>Also called </a:t>
            </a:r>
            <a:r>
              <a:rPr lang="en-US" sz="2600">
                <a:solidFill>
                  <a:srgbClr val="CC0000"/>
                </a:solidFill>
                <a:sym typeface="Symbol" pitchFamily="18" charset="2"/>
              </a:rPr>
              <a:t></a:t>
            </a:r>
            <a:r>
              <a:rPr lang="en-US" sz="2600">
                <a:solidFill>
                  <a:srgbClr val="CC0000"/>
                </a:solidFill>
              </a:rPr>
              <a:t>(n)-approximation algorithm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2184400" y="3932238"/>
            <a:ext cx="3411538" cy="4778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Coping with NP-Hardness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95275" y="1219200"/>
            <a:ext cx="9601200" cy="581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923" tIns="49962" rIns="99923" bIns="49962"/>
          <a:lstStyle/>
          <a:p>
            <a:pPr marL="331788" indent="-331788" algn="l" defTabSz="992188" eaLnBrk="1" hangingPunct="1">
              <a:lnSpc>
                <a:spcPct val="8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Monotype Sorts" pitchFamily="2" charset="2"/>
              <a:buNone/>
              <a:tabLst>
                <a:tab pos="333375" algn="l"/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600" b="1" dirty="0">
                <a:solidFill>
                  <a:srgbClr val="0000CC"/>
                </a:solidFill>
                <a:latin typeface="+mn-lt"/>
                <a:ea typeface="+mn-ea"/>
              </a:rPr>
              <a:t>Brute-force algorithms</a:t>
            </a:r>
          </a:p>
          <a:p>
            <a:pPr marL="568325" indent="-331788" algn="l" defTabSz="992188" eaLnBrk="1" hangingPunct="1">
              <a:lnSpc>
                <a:spcPct val="8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Monotype Sorts" pitchFamily="2" charset="2"/>
              <a:buChar char=""/>
              <a:tabLst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400" dirty="0">
                <a:latin typeface="+mn-lt"/>
                <a:ea typeface="+mn-ea"/>
              </a:rPr>
              <a:t>Develop clever enumeration strategies</a:t>
            </a:r>
          </a:p>
          <a:p>
            <a:pPr marL="568325" indent="-331788" algn="l" defTabSz="992188" eaLnBrk="1" hangingPunct="1">
              <a:lnSpc>
                <a:spcPct val="8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Monotype Sorts" pitchFamily="2" charset="2"/>
              <a:buChar char=""/>
              <a:tabLst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400" dirty="0">
                <a:latin typeface="+mn-lt"/>
                <a:ea typeface="+mn-ea"/>
              </a:rPr>
              <a:t>Guaranteed to find optimal solution</a:t>
            </a:r>
          </a:p>
          <a:p>
            <a:pPr marL="568325" indent="-331788" algn="l" defTabSz="992188" eaLnBrk="1" hangingPunct="1">
              <a:lnSpc>
                <a:spcPct val="8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Monotype Sorts" pitchFamily="2" charset="2"/>
              <a:buChar char=""/>
              <a:tabLst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400" dirty="0">
                <a:latin typeface="+mn-lt"/>
                <a:ea typeface="+mn-ea"/>
              </a:rPr>
              <a:t>No guarantees on running time</a:t>
            </a:r>
          </a:p>
          <a:p>
            <a:pPr marL="331788" indent="-331788" algn="l" defTabSz="992188" eaLnBrk="1" hangingPunct="1">
              <a:lnSpc>
                <a:spcPct val="80000"/>
              </a:lnSpc>
              <a:spcBef>
                <a:spcPct val="20000"/>
              </a:spcBef>
              <a:buFont typeface="Monotype Sorts" pitchFamily="2" charset="2"/>
              <a:buNone/>
              <a:tabLst>
                <a:tab pos="333375" algn="l"/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endParaRPr lang="en-US" sz="2000" dirty="0">
              <a:latin typeface="+mn-lt"/>
              <a:ea typeface="+mn-ea"/>
            </a:endParaRPr>
          </a:p>
          <a:p>
            <a:pPr marL="331788" indent="-331788" algn="l" defTabSz="992188" eaLnBrk="1" hangingPunct="1">
              <a:lnSpc>
                <a:spcPct val="80000"/>
              </a:lnSpc>
              <a:spcBef>
                <a:spcPct val="20000"/>
              </a:spcBef>
              <a:buFont typeface="Monotype Sorts" pitchFamily="2" charset="2"/>
              <a:buNone/>
              <a:tabLst>
                <a:tab pos="333375" algn="l"/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600" b="1" dirty="0">
                <a:solidFill>
                  <a:srgbClr val="0000CC"/>
                </a:solidFill>
                <a:latin typeface="+mn-lt"/>
                <a:ea typeface="+mn-ea"/>
              </a:rPr>
              <a:t>Heuristics</a:t>
            </a:r>
          </a:p>
          <a:p>
            <a:pPr marL="568325" indent="-331788" algn="l" defTabSz="992188" eaLnBrk="1" hangingPunct="1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  <a:tabLst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400" dirty="0">
                <a:latin typeface="+mn-lt"/>
                <a:ea typeface="+mn-ea"/>
              </a:rPr>
              <a:t>Develop intuitive algorithms</a:t>
            </a:r>
          </a:p>
          <a:p>
            <a:pPr marL="568325" indent="-331788" algn="l" defTabSz="992188" eaLnBrk="1" hangingPunct="1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  <a:tabLst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400" dirty="0">
                <a:latin typeface="+mn-lt"/>
                <a:ea typeface="+mn-ea"/>
              </a:rPr>
              <a:t>Guaranteed to run in polynomial time</a:t>
            </a:r>
          </a:p>
          <a:p>
            <a:pPr marL="568325" indent="-331788" algn="l" defTabSz="992188" eaLnBrk="1" hangingPunct="1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  <a:tabLst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400" dirty="0">
                <a:latin typeface="+mn-lt"/>
                <a:ea typeface="+mn-ea"/>
              </a:rPr>
              <a:t>No guarantees on quality of solution</a:t>
            </a:r>
          </a:p>
          <a:p>
            <a:pPr marL="331788" indent="-331788" algn="l" defTabSz="992188" eaLnBrk="1" hangingPunct="1">
              <a:lnSpc>
                <a:spcPct val="80000"/>
              </a:lnSpc>
              <a:spcBef>
                <a:spcPct val="20000"/>
              </a:spcBef>
              <a:buFont typeface="Monotype Sorts" pitchFamily="2" charset="2"/>
              <a:buNone/>
              <a:tabLst>
                <a:tab pos="333375" algn="l"/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endParaRPr lang="en-US" sz="2000" dirty="0">
              <a:latin typeface="+mn-lt"/>
              <a:ea typeface="+mn-ea"/>
            </a:endParaRPr>
          </a:p>
          <a:p>
            <a:pPr marL="331788" indent="-331788" algn="l" defTabSz="992188" eaLnBrk="1" hangingPunct="1">
              <a:lnSpc>
                <a:spcPct val="80000"/>
              </a:lnSpc>
              <a:spcBef>
                <a:spcPct val="20000"/>
              </a:spcBef>
              <a:buFont typeface="Monotype Sorts" pitchFamily="2" charset="2"/>
              <a:buNone/>
              <a:tabLst>
                <a:tab pos="333375" algn="l"/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600" b="1" dirty="0">
                <a:solidFill>
                  <a:srgbClr val="0000CC"/>
                </a:solidFill>
                <a:latin typeface="+mn-lt"/>
                <a:ea typeface="+mn-ea"/>
              </a:rPr>
              <a:t>Approximation algorithms</a:t>
            </a:r>
          </a:p>
          <a:p>
            <a:pPr marL="568325" indent="-331788" algn="l" defTabSz="992188" eaLnBrk="1" hangingPunct="1">
              <a:lnSpc>
                <a:spcPct val="8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itchFamily="2" charset="2"/>
              <a:buChar char="§"/>
              <a:tabLst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400" dirty="0">
                <a:latin typeface="+mn-lt"/>
                <a:ea typeface="+mn-ea"/>
              </a:rPr>
              <a:t>Guaranteed to run in polynomial time</a:t>
            </a:r>
          </a:p>
          <a:p>
            <a:pPr marL="568325" indent="-331788" algn="l" defTabSz="992188" eaLnBrk="1" hangingPunct="1">
              <a:lnSpc>
                <a:spcPct val="8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itchFamily="2" charset="2"/>
              <a:buChar char="§"/>
              <a:tabLst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400" dirty="0">
                <a:latin typeface="+mn-lt"/>
                <a:ea typeface="+mn-ea"/>
              </a:rPr>
              <a:t>Guaranteed to find "high quality" solution, say within 10% of optimum</a:t>
            </a:r>
          </a:p>
          <a:p>
            <a:pPr marL="568325" indent="-331788" algn="l" defTabSz="992188" eaLnBrk="1" hangingPunct="1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§"/>
              <a:tabLst>
                <a:tab pos="446088" algn="l"/>
                <a:tab pos="903288" algn="l"/>
                <a:tab pos="1360488" algn="l"/>
                <a:tab pos="1817688" algn="l"/>
                <a:tab pos="2274888" algn="l"/>
                <a:tab pos="2732088" algn="l"/>
                <a:tab pos="3189288" algn="l"/>
                <a:tab pos="3646488" algn="l"/>
                <a:tab pos="4103688" algn="l"/>
                <a:tab pos="4560888" algn="l"/>
                <a:tab pos="5018088" algn="l"/>
                <a:tab pos="5475288" algn="l"/>
                <a:tab pos="5932488" algn="l"/>
                <a:tab pos="6389688" algn="l"/>
                <a:tab pos="6846888" algn="l"/>
                <a:tab pos="7304088" algn="l"/>
                <a:tab pos="7761288" algn="l"/>
                <a:tab pos="8218488" algn="l"/>
                <a:tab pos="8675688" algn="l"/>
                <a:tab pos="9132888" algn="l"/>
              </a:tabLst>
              <a:defRPr/>
            </a:pPr>
            <a:r>
              <a:rPr lang="en-US" sz="2400" dirty="0">
                <a:solidFill>
                  <a:srgbClr val="CC3300"/>
                </a:solidFill>
                <a:latin typeface="+mn-lt"/>
                <a:ea typeface="+mn-ea"/>
              </a:rPr>
              <a:t>Obstacle:</a:t>
            </a:r>
            <a:r>
              <a:rPr lang="en-US" sz="2400" dirty="0">
                <a:latin typeface="+mn-lt"/>
                <a:ea typeface="+mn-ea"/>
              </a:rPr>
              <a:t> need to prove a solution’s value is close to optimum, without even knowing what optimum value is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2_computer-bunny.blue">
      <a:majorFont>
        <a:latin typeface="Arial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r" defTabSz="9921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4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r" defTabSz="9921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4" charset="0"/>
            <a:ea typeface="ＭＳ Ｐゴシック" pitchFamily="34" charset="-128"/>
          </a:defRPr>
        </a:defPPr>
      </a:lstStyle>
    </a:lnDef>
  </a:objectDefaults>
  <a:extraClrSchemeLst>
    <a:extraClrScheme>
      <a:clrScheme name="2_computer-bunny.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mputer-bunny.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WAYNE:public_html:kleinberg-tardos:alg-design.pot</Template>
  <TotalTime>55037</TotalTime>
  <Words>1607</Words>
  <Application>Microsoft Macintosh PowerPoint</Application>
  <PresentationFormat>Custom</PresentationFormat>
  <Paragraphs>184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Comic Sans MS</vt:lpstr>
      <vt:lpstr>Impact</vt:lpstr>
      <vt:lpstr>Monotype Sorts</vt:lpstr>
      <vt:lpstr>Tahoma</vt:lpstr>
      <vt:lpstr>Times New Roman</vt:lpstr>
      <vt:lpstr>Wingdings</vt:lpstr>
      <vt:lpstr>2_computer-bunny.blue</vt:lpstr>
      <vt:lpstr>NP Completeness Approximation Algorithms</vt:lpstr>
      <vt:lpstr>Review: Dynamic Programming</vt:lpstr>
      <vt:lpstr>Review: Greedy Algorithms</vt:lpstr>
      <vt:lpstr>Review: The Knapsack Problem</vt:lpstr>
      <vt:lpstr>NP-Complete Problems</vt:lpstr>
      <vt:lpstr>NP-Completeness</vt:lpstr>
      <vt:lpstr>Polynomial-Time Algorithms</vt:lpstr>
      <vt:lpstr>PowerPoint Presentation</vt:lpstr>
      <vt:lpstr>PowerPoint Presentation</vt:lpstr>
      <vt:lpstr>NP-Complete Problems</vt:lpstr>
      <vt:lpstr>P and NP</vt:lpstr>
      <vt:lpstr>Nondeterminism</vt:lpstr>
      <vt:lpstr>P and NP</vt:lpstr>
      <vt:lpstr>NP-Complete Problems</vt:lpstr>
      <vt:lpstr>Review: P and NP</vt:lpstr>
      <vt:lpstr>Reduction</vt:lpstr>
      <vt:lpstr>PowerPoint Presentation</vt:lpstr>
      <vt:lpstr>PowerPoint Presentation</vt:lpstr>
      <vt:lpstr>NP-Complete  and NP-Hard</vt:lpstr>
      <vt:lpstr>NP-Complete  and NP-Hard</vt:lpstr>
      <vt:lpstr>Why Prove NP-Completeness?</vt:lpstr>
      <vt:lpstr>Approximation Algorithms</vt:lpstr>
      <vt:lpstr>Coping with NP-Hardness</vt:lpstr>
    </vt:vector>
  </TitlesOfParts>
  <Company>Dell Computer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</dc:title>
  <dc:creator>Kevin Wayne</dc:creator>
  <cp:lastModifiedBy>Microsoft Office User</cp:lastModifiedBy>
  <cp:revision>1860</cp:revision>
  <cp:lastPrinted>2008-12-18T12:36:55Z</cp:lastPrinted>
  <dcterms:created xsi:type="dcterms:W3CDTF">1999-12-31T01:41:01Z</dcterms:created>
  <dcterms:modified xsi:type="dcterms:W3CDTF">2022-01-25T03:06:48Z</dcterms:modified>
</cp:coreProperties>
</file>