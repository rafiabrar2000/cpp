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Garamon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iqI0GBgTbH8XEy9pl8u1TkOAL0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19A63B-C19C-43C6-ACAA-D5604926802F}">
  <a:tblStyle styleId="{CC19A63B-C19C-43C6-ACAA-D560492680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aramon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aramond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aramo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http://portal.newman.wa.edu.au/technology/12infsys/html/KWH2003/KnuthAlgorDef.htm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"Finite: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Garamond"/>
                <a:ea typeface="Garamond"/>
                <a:cs typeface="Garamond"/>
                <a:sym typeface="Garamond"/>
              </a:rPr>
              <a:t> there must be an end to it within a reasonable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Definite: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Garamond"/>
                <a:ea typeface="Garamond"/>
                <a:cs typeface="Garamond"/>
                <a:sym typeface="Garamond"/>
              </a:rPr>
              <a:t>precisely definable in clearly understood terms, no pinch of salt type vagaries, or possible ambiguities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Effective: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Garamond"/>
                <a:ea typeface="Garamond"/>
                <a:cs typeface="Garamond"/>
                <a:sym typeface="Garamond"/>
              </a:rPr>
              <a:t>the steps must be actually be able to be carried out. [simple enough for someone using pencil and paper to carry out in a finite amount of time]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Procedure: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Garamond"/>
                <a:ea typeface="Garamond"/>
                <a:cs typeface="Garamond"/>
                <a:sym typeface="Garamond"/>
              </a:rPr>
              <a:t>the sequence of specific steps arranged in a logical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Output: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latin typeface="Garamond"/>
                <a:ea typeface="Garamond"/>
                <a:cs typeface="Garamond"/>
                <a:sym typeface="Garamond"/>
              </a:rPr>
              <a:t>unless there is something coming out of the process, the result will remain unknown!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"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914949" y="4342470"/>
            <a:ext cx="5028103" cy="411500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ishtiaque@cse.uiu.ac.bd" TargetMode="External"/><Relationship Id="rId4" Type="http://schemas.openxmlformats.org/officeDocument/2006/relationships/hyperlink" Target="mailto:ishtiaque@cse.uiu.ac.b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1371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/>
              <a:t>CSE </a:t>
            </a:r>
            <a:r>
              <a:rPr lang="en-US"/>
              <a:t>2217</a:t>
            </a:r>
            <a:r>
              <a:rPr lang="en-US" sz="4400"/>
              <a:t>: Data Structure and Algorithms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914400" y="32004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Introduction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Proof By Induction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Asymptotic notation</a:t>
            </a:r>
            <a:endParaRPr/>
          </a:p>
        </p:txBody>
      </p:sp>
      <p:sp>
        <p:nvSpPr>
          <p:cNvPr id="90" name="Google Shape;90;p1"/>
          <p:cNvSpPr txBox="1"/>
          <p:nvPr>
            <p:ph idx="10" type="dt"/>
          </p:nvPr>
        </p:nvSpPr>
        <p:spPr>
          <a:xfrm>
            <a:off x="457200" y="62642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-46037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The Course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127125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Purpose: a rigorous introduction to the design and analysis of algorithms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Not a lab or programming course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Not a math course, either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Textbook: </a:t>
            </a:r>
            <a:r>
              <a:rPr i="1" lang="en-US">
                <a:solidFill>
                  <a:srgbClr val="953734"/>
                </a:solidFill>
              </a:rPr>
              <a:t>Introduction to Algorithms</a:t>
            </a:r>
            <a:r>
              <a:rPr lang="en-US"/>
              <a:t>:: </a:t>
            </a:r>
            <a:endParaRPr/>
          </a:p>
          <a:p>
            <a:pPr indent="0" lvl="1" marL="400050" rtl="0" algn="l">
              <a:spcBef>
                <a:spcPts val="476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lang="en-US">
                <a:solidFill>
                  <a:schemeClr val="accent5"/>
                </a:solidFill>
              </a:rPr>
              <a:t>Cormen, Leiserson, Rivest, Stein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An excellent reference you should own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Some additional materials may appear during lectures 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** I appreciate feedback as we go along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** if something is a problem then tell me because it can often be fixed easily </a:t>
            </a:r>
            <a:endParaRPr/>
          </a:p>
        </p:txBody>
      </p:sp>
      <p:sp>
        <p:nvSpPr>
          <p:cNvPr id="97" name="Google Shape;97;p2"/>
          <p:cNvSpPr txBox="1"/>
          <p:nvPr>
            <p:ph idx="10" type="dt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2193925"/>
            <a:ext cx="1762125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The Course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 u="sng"/>
              <a:t>Instructor:</a:t>
            </a:r>
            <a:r>
              <a:rPr lang="en-US" sz="2400"/>
              <a:t> Ishtiaque Zahid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Lecturer, UIU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 u="sng">
                <a:solidFill>
                  <a:schemeClr val="hlink"/>
                </a:solidFill>
                <a:hlinkClick r:id="rId3"/>
              </a:rPr>
              <a:t>ishtiaque</a:t>
            </a:r>
            <a:r>
              <a:rPr i="1" lang="en-US" sz="2400" u="sng">
                <a:solidFill>
                  <a:schemeClr val="hlink"/>
                </a:solidFill>
                <a:hlinkClick r:id="rId4"/>
              </a:rPr>
              <a:t>@cse.uiu.ac.bd</a:t>
            </a:r>
            <a:endParaRPr i="1"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Office: Room #636</a:t>
            </a:r>
            <a:endParaRPr/>
          </a:p>
          <a:p>
            <a:pPr indent="0" lvl="0" marL="571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571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 u="sng"/>
              <a:t>This course:</a:t>
            </a:r>
            <a:endParaRPr/>
          </a:p>
          <a:p>
            <a:pPr indent="-342900" lvl="0" marL="4000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This Classroom, On-campus</a:t>
            </a:r>
            <a:endParaRPr/>
          </a:p>
          <a:p>
            <a:pPr indent="-342900" lvl="0" marL="4000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Materials shared on eLMS</a:t>
            </a:r>
            <a:endParaRPr i="1" sz="2400"/>
          </a:p>
          <a:p>
            <a:pPr indent="-342900" lvl="0" marL="4000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For regular group communication???</a:t>
            </a:r>
            <a:endParaRPr/>
          </a:p>
        </p:txBody>
      </p:sp>
      <p:sp>
        <p:nvSpPr>
          <p:cNvPr id="105" name="Google Shape;10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Assessment Tools (Tentative)</a:t>
            </a:r>
            <a:endParaRPr sz="3200"/>
          </a:p>
        </p:txBody>
      </p:sp>
      <p:sp>
        <p:nvSpPr>
          <p:cNvPr id="111" name="Google Shape;11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22098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{CC19A63B-C19C-43C6-ACAA-D5604926802F}</a:tableStyleId>
              </a:tblPr>
              <a:tblGrid>
                <a:gridCol w="3211625"/>
                <a:gridCol w="979375"/>
              </a:tblGrid>
              <a:tr h="33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Assessment Method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(%)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Assignments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Tests (3/4)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Midterm exam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exam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2225">
                    <a:lnL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3810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Algorithm</a:t>
            </a:r>
            <a:endParaRPr/>
          </a:p>
          <a:p>
            <a:pPr indent="-134619" lvl="1" marL="7429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hlink"/>
              </a:solidFill>
            </a:endParaRPr>
          </a:p>
          <a:p>
            <a:pPr indent="-285750" lvl="1" marL="742950" rtl="0" algn="just">
              <a:spcBef>
                <a:spcPts val="476"/>
              </a:spcBef>
              <a:spcAft>
                <a:spcPts val="0"/>
              </a:spcAft>
              <a:buClr>
                <a:schemeClr val="hlink"/>
              </a:buClr>
              <a:buSzPct val="100000"/>
              <a:buChar char="–"/>
            </a:pPr>
            <a:r>
              <a:rPr lang="en-US">
                <a:solidFill>
                  <a:schemeClr val="hlink"/>
                </a:solidFill>
              </a:rPr>
              <a:t>[merriam-webster.com]</a:t>
            </a:r>
            <a:r>
              <a:rPr lang="en-US"/>
              <a:t>  A procedure for solving a mathematical problem (as of finding the greatest common divisor) in a finite number of steps that frequently involves repetition of an operation; </a:t>
            </a:r>
            <a:r>
              <a:rPr i="1" lang="en-US"/>
              <a:t>broadly</a:t>
            </a:r>
            <a:r>
              <a:rPr lang="en-US"/>
              <a:t> :a step-by-step procedure for solving a problem or accomplishing some end especially by a computer</a:t>
            </a:r>
            <a:endParaRPr/>
          </a:p>
          <a:p>
            <a:pPr indent="-134619" lvl="1" marL="742950" rtl="0" algn="just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hlink"/>
              </a:solidFill>
            </a:endParaRPr>
          </a:p>
          <a:p>
            <a:pPr indent="-285750" lvl="1" marL="742950" rtl="0" algn="just">
              <a:spcBef>
                <a:spcPts val="476"/>
              </a:spcBef>
              <a:spcAft>
                <a:spcPts val="0"/>
              </a:spcAft>
              <a:buClr>
                <a:schemeClr val="hlink"/>
              </a:buClr>
              <a:buSzPct val="100000"/>
              <a:buChar char="–"/>
            </a:pPr>
            <a:r>
              <a:rPr lang="en-US">
                <a:solidFill>
                  <a:schemeClr val="hlink"/>
                </a:solidFill>
              </a:rPr>
              <a:t>[Knuth, TAOCP]</a:t>
            </a:r>
            <a:r>
              <a:rPr lang="en-US"/>
              <a:t>  An algorithm is a finite, definite, effective procedure, with some input and some output.</a:t>
            </a:r>
            <a:endParaRPr/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Algorithms</a:t>
            </a:r>
            <a:endParaRPr/>
          </a:p>
        </p:txBody>
      </p:sp>
      <p:sp>
        <p:nvSpPr>
          <p:cNvPr id="119" name="Google Shape;11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163" y="5365750"/>
            <a:ext cx="1163637" cy="14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036637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Etymology.  </a:t>
            </a:r>
            <a:r>
              <a:rPr lang="en-US">
                <a:solidFill>
                  <a:schemeClr val="hlink"/>
                </a:solidFill>
              </a:rPr>
              <a:t>[Knuth, TAOCP]</a:t>
            </a:r>
            <a:r>
              <a:rPr lang="en-US"/>
              <a:t> </a:t>
            </a:r>
            <a:endParaRPr i="1"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i="1" lang="en-US"/>
              <a:t>Algorism  </a:t>
            </a:r>
            <a:r>
              <a:rPr lang="en-US"/>
              <a:t>=  process of doing arithmetic using Arabic numerals.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 misperception:</a:t>
            </a:r>
            <a:r>
              <a:rPr i="1" lang="en-US"/>
              <a:t>  algiros 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[painful]  </a:t>
            </a:r>
            <a:r>
              <a:rPr lang="en-US"/>
              <a:t>+  </a:t>
            </a:r>
            <a:r>
              <a:rPr i="1" lang="en-US"/>
              <a:t>arithmos</a:t>
            </a:r>
            <a:r>
              <a:rPr lang="en-US"/>
              <a:t>  </a:t>
            </a:r>
            <a:r>
              <a:rPr lang="en-US">
                <a:solidFill>
                  <a:schemeClr val="hlink"/>
                </a:solidFill>
              </a:rPr>
              <a:t>[number]</a:t>
            </a:r>
            <a:r>
              <a:rPr lang="en-US"/>
              <a:t>.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True origin:  Abu 'Abd Allah Muhammad ibn Musa al-Khwarizm was a famous 9th century Persian textbook author who wrote </a:t>
            </a:r>
            <a:r>
              <a:rPr i="1" lang="en-US"/>
              <a:t>Kitab al-jabr wa'l-muqabala</a:t>
            </a:r>
            <a:r>
              <a:rPr lang="en-US"/>
              <a:t>, which evolved into today's high school algebra text.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Etymology</a:t>
            </a:r>
            <a:endParaRPr/>
          </a:p>
        </p:txBody>
      </p:sp>
      <p:sp>
        <p:nvSpPr>
          <p:cNvPr id="127" name="Google Shape;12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Theory of Algorithms</a:t>
            </a:r>
            <a:endParaRPr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3962400"/>
            <a:ext cx="17367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191000"/>
            <a:ext cx="1471613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672860" y="1437736"/>
            <a:ext cx="7709140" cy="19912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182875" spcFirstLastPara="1" rIns="182875" wrap="square" tIns="137150">
            <a:spAutoFit/>
          </a:bodyPr>
          <a:lstStyle/>
          <a:p>
            <a:pPr indent="0" lvl="0" marL="0" marR="0" rtl="0" algn="just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5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"As soon as an Analytic Engine exists, it will necessarily guide the future course of the science.  Whenever any result is sought by its aid, the question will arise - By what course of calculation can these results be arrived at by the machine in the </a:t>
            </a:r>
            <a:r>
              <a:rPr b="0" i="1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shortest time</a:t>
            </a: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?”   </a:t>
            </a:r>
            <a:r>
              <a:rPr b="0" i="1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Charles Babbage</a:t>
            </a:r>
            <a:endParaRPr/>
          </a:p>
        </p:txBody>
      </p:sp>
      <p:sp>
        <p:nvSpPr>
          <p:cNvPr id="136" name="Google Shape;13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Algorithmic Paradigms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Design and analysis of computer algorithms.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Greedy.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Divide-and-conquer.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Dynamic programming.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Network flow.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Randomized algorithms.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Intractability.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Coping with intractability.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•"/>
            </a:pPr>
            <a:r>
              <a:rPr lang="en-US">
                <a:solidFill>
                  <a:schemeClr val="accent1"/>
                </a:solidFill>
              </a:rPr>
              <a:t>Critical thinking </a:t>
            </a:r>
            <a:r>
              <a:rPr lang="en-US">
                <a:solidFill>
                  <a:schemeClr val="dk1"/>
                </a:solidFill>
              </a:rPr>
              <a:t>and</a:t>
            </a:r>
            <a:r>
              <a:rPr lang="en-US">
                <a:solidFill>
                  <a:schemeClr val="accent1"/>
                </a:solidFill>
              </a:rPr>
              <a:t> problem-solving.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Applications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609600" y="914400"/>
            <a:ext cx="8074025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Wide range of applications.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Databases.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Scheduling.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Networking.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Data analysis.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Signal processing.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Computer graphics.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Scientific computing.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Operations research.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Artificial intelligence.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Computational biology.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. . 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We focus on algorithms and techniques that are </a:t>
            </a:r>
            <a:r>
              <a:rPr lang="en-US">
                <a:solidFill>
                  <a:schemeClr val="accent1"/>
                </a:solidFill>
              </a:rPr>
              <a:t>useful in practice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150" name="Google Shape;15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What is Algorithm?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Algorithm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is any well-defined computational procedure that takes some value, or set of values, as input and produces some value, or set of values, as output.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is thus a sequence of computational steps that transform the input into the output.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is a tool for solving a well-specified computational  problem.</a:t>
            </a:r>
            <a:endParaRPr/>
          </a:p>
          <a:p>
            <a:pPr indent="-2857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Any special method of solving a certain kind of problem (Webster Dictionary)</a:t>
            </a:r>
            <a:endParaRPr/>
          </a:p>
          <a:p>
            <a:pPr indent="-107950" lvl="1" marL="74295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6/18/2022</a:t>
            </a:r>
            <a:endParaRPr/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2018-06-17T04:08:16Z</dcterms:created>
  <dc:creator>shahriar</dc:creator>
</cp:coreProperties>
</file>