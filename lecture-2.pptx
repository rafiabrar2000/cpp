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387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538" autoAdjust="0"/>
  </p:normalViewPr>
  <p:slideViewPr>
    <p:cSldViewPr>
      <p:cViewPr varScale="1">
        <p:scale>
          <a:sx n="83" d="100"/>
          <a:sy n="83" d="100"/>
        </p:scale>
        <p:origin x="102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88220-7373-44A2-B2F0-70F7AA62C151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04822-FDF2-409A-80FF-EF581C962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1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http://portal.newman.wa.edu.au/technology/12infsys/html/KWH2003/KnuthAlgorDef.htm</a:t>
            </a:r>
            <a:endParaRPr lang="en-US" altLang="en-US" dirty="0">
              <a:latin typeface="Garamond" pitchFamily="18" charset="0"/>
            </a:endParaRPr>
          </a:p>
          <a:p>
            <a:r>
              <a:rPr lang="en-US" altLang="en-US" dirty="0">
                <a:latin typeface="Garamond" pitchFamily="18" charset="0"/>
              </a:rPr>
              <a:t>"Finite:</a:t>
            </a:r>
            <a:r>
              <a:rPr lang="en-US" altLang="en-US" dirty="0">
                <a:latin typeface="Arial" pitchFamily="34" charset="0"/>
              </a:rPr>
              <a:t> </a:t>
            </a:r>
            <a:r>
              <a:rPr lang="en-US" altLang="en-US" dirty="0">
                <a:latin typeface="Garamond" pitchFamily="18" charset="0"/>
              </a:rPr>
              <a:t> there must be an end to it within a reasonable time.</a:t>
            </a:r>
          </a:p>
          <a:p>
            <a:r>
              <a:rPr lang="en-US" altLang="en-US" dirty="0">
                <a:latin typeface="Garamond" pitchFamily="18" charset="0"/>
              </a:rPr>
              <a:t>Definite:</a:t>
            </a:r>
            <a:r>
              <a:rPr lang="en-US" altLang="en-US" dirty="0">
                <a:latin typeface="Arial" pitchFamily="34" charset="0"/>
              </a:rPr>
              <a:t> </a:t>
            </a:r>
            <a:r>
              <a:rPr lang="en-US" altLang="en-US" dirty="0">
                <a:latin typeface="Garamond" pitchFamily="18" charset="0"/>
              </a:rPr>
              <a:t>precisely definable in clearly understood terms, no pinch of salt type vagaries, or possible ambiguities</a:t>
            </a:r>
          </a:p>
          <a:p>
            <a:r>
              <a:rPr lang="en-US" altLang="en-US" dirty="0">
                <a:latin typeface="Garamond" pitchFamily="18" charset="0"/>
              </a:rPr>
              <a:t>Effective:</a:t>
            </a:r>
            <a:r>
              <a:rPr lang="en-US" altLang="en-US" dirty="0">
                <a:latin typeface="Arial" pitchFamily="34" charset="0"/>
              </a:rPr>
              <a:t> </a:t>
            </a:r>
            <a:r>
              <a:rPr lang="en-US" altLang="en-US" dirty="0">
                <a:latin typeface="Garamond" pitchFamily="18" charset="0"/>
              </a:rPr>
              <a:t>the steps must be actually be able to be carried out. [simple enough for someone using pencil and paper to carry out in a finite amount of time]</a:t>
            </a:r>
          </a:p>
          <a:p>
            <a:r>
              <a:rPr lang="en-US" altLang="en-US" dirty="0">
                <a:latin typeface="Garamond" pitchFamily="18" charset="0"/>
              </a:rPr>
              <a:t>Procedure:</a:t>
            </a:r>
            <a:r>
              <a:rPr lang="en-US" altLang="en-US" dirty="0">
                <a:latin typeface="Arial" pitchFamily="34" charset="0"/>
              </a:rPr>
              <a:t> </a:t>
            </a:r>
            <a:r>
              <a:rPr lang="en-US" altLang="en-US" dirty="0">
                <a:latin typeface="Garamond" pitchFamily="18" charset="0"/>
              </a:rPr>
              <a:t>the sequence of specific steps arranged in a logical order.</a:t>
            </a:r>
          </a:p>
          <a:p>
            <a:r>
              <a:rPr lang="en-US" altLang="en-US" dirty="0">
                <a:latin typeface="Garamond" pitchFamily="18" charset="0"/>
              </a:rPr>
              <a:t>Output:</a:t>
            </a:r>
            <a:r>
              <a:rPr lang="en-US" altLang="en-US" dirty="0">
                <a:latin typeface="Arial" pitchFamily="34" charset="0"/>
              </a:rPr>
              <a:t> </a:t>
            </a:r>
            <a:r>
              <a:rPr lang="en-US" altLang="en-US" dirty="0">
                <a:latin typeface="Garamond" pitchFamily="18" charset="0"/>
              </a:rPr>
              <a:t>unless there is something coming out of the process, the result will remain unknown!</a:t>
            </a:r>
            <a:r>
              <a:rPr lang="en-US" altLang="en-US" dirty="0">
                <a:latin typeface="Arial" pitchFamily="34" charset="0"/>
              </a:rPr>
              <a:t> "</a:t>
            </a:r>
          </a:p>
        </p:txBody>
      </p:sp>
    </p:spTree>
    <p:extLst>
      <p:ext uri="{BB962C8B-B14F-4D97-AF65-F5344CB8AC3E}">
        <p14:creationId xmlns:p14="http://schemas.microsoft.com/office/powerpoint/2010/main" val="246073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4251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49" y="4342470"/>
            <a:ext cx="5028103" cy="411500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595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8515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5726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49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10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2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4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8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0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2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51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5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3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3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B3AB8-D708-4484-8FE8-37D115765F19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B3671-525E-41AC-8BB1-6FE1F9753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0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mshahriar@cse.uiu.ac.b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CSE </a:t>
            </a:r>
            <a:r>
              <a:rPr lang="en-US" dirty="0"/>
              <a:t>2217</a:t>
            </a:r>
            <a:r>
              <a:rPr lang="en-US" sz="4400" dirty="0"/>
              <a:t>: Data Structure and Algorithms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200400"/>
            <a:ext cx="7315200" cy="1752600"/>
          </a:xfrm>
        </p:spPr>
        <p:txBody>
          <a:bodyPr/>
          <a:lstStyle/>
          <a:p>
            <a:r>
              <a:rPr lang="en-US"/>
              <a:t>Introduction</a:t>
            </a:r>
          </a:p>
          <a:p>
            <a:r>
              <a:rPr lang="en-US"/>
              <a:t>Proof By Induction</a:t>
            </a:r>
          </a:p>
          <a:p>
            <a:r>
              <a:rPr lang="en-US"/>
              <a:t>Asymptotic notation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3A5D6-A5CC-4D51-9E57-F32E8C5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64275"/>
            <a:ext cx="2133600" cy="365125"/>
          </a:xfrm>
        </p:spPr>
        <p:txBody>
          <a:bodyPr/>
          <a:lstStyle/>
          <a:p>
            <a:fld id="{A92DF1B8-04F0-4716-B713-BDC10E89644E}" type="datetime1">
              <a:rPr lang="en-US" smtClean="0"/>
              <a:t>10/22/2022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25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46037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dirty="0"/>
              <a:t>The Course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7125"/>
            <a:ext cx="8229600" cy="5105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Purpose: a rigorous introduction to the design and analysis of algorithms</a:t>
            </a:r>
          </a:p>
          <a:p>
            <a:pPr lvl="1"/>
            <a:r>
              <a:rPr lang="en-US" dirty="0"/>
              <a:t>Not a lab or programming course</a:t>
            </a:r>
          </a:p>
          <a:p>
            <a:pPr lvl="1"/>
            <a:r>
              <a:rPr lang="en-US" dirty="0"/>
              <a:t>Not a math course, either</a:t>
            </a:r>
          </a:p>
          <a:p>
            <a:r>
              <a:rPr lang="en-US" dirty="0"/>
              <a:t>Textbook: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Introduction to Algorithms</a:t>
            </a:r>
            <a:r>
              <a:rPr lang="en-US" dirty="0"/>
              <a:t>:: </a:t>
            </a:r>
          </a:p>
          <a:p>
            <a:pPr marL="400050" lvl="1" indent="0">
              <a:buNone/>
            </a:pPr>
            <a:r>
              <a:rPr lang="en-US" dirty="0" err="1">
                <a:solidFill>
                  <a:schemeClr val="accent5"/>
                </a:solidFill>
              </a:rPr>
              <a:t>Cormen</a:t>
            </a:r>
            <a:r>
              <a:rPr lang="en-US" dirty="0">
                <a:solidFill>
                  <a:schemeClr val="accent5"/>
                </a:solidFill>
              </a:rPr>
              <a:t>, </a:t>
            </a:r>
            <a:r>
              <a:rPr lang="en-US" dirty="0" err="1">
                <a:solidFill>
                  <a:schemeClr val="accent5"/>
                </a:solidFill>
              </a:rPr>
              <a:t>Leiserson</a:t>
            </a:r>
            <a:r>
              <a:rPr lang="en-US" dirty="0">
                <a:solidFill>
                  <a:schemeClr val="accent5"/>
                </a:solidFill>
              </a:rPr>
              <a:t>, Rivest, Stein</a:t>
            </a:r>
          </a:p>
          <a:p>
            <a:pPr lvl="1"/>
            <a:r>
              <a:rPr lang="en-US" dirty="0"/>
              <a:t>An excellent reference you should own</a:t>
            </a:r>
          </a:p>
          <a:p>
            <a:endParaRPr lang="en-US" dirty="0"/>
          </a:p>
          <a:p>
            <a:r>
              <a:rPr lang="en-US" dirty="0"/>
              <a:t>Some additional materials may appear during lectures </a:t>
            </a:r>
          </a:p>
          <a:p>
            <a:pPr marL="0" indent="0">
              <a:buNone/>
            </a:pPr>
            <a:r>
              <a:rPr lang="en-US" dirty="0"/>
              <a:t>** I appreciate feedback as we go along</a:t>
            </a:r>
          </a:p>
          <a:p>
            <a:pPr marL="0" indent="0">
              <a:buNone/>
            </a:pPr>
            <a:r>
              <a:rPr lang="en-US" dirty="0"/>
              <a:t>** if something is a problem then tell me because it can often be fixed easily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BF1DCC-FCB8-458A-B70C-827A8C72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16675"/>
            <a:ext cx="2133600" cy="365125"/>
          </a:xfrm>
        </p:spPr>
        <p:txBody>
          <a:bodyPr/>
          <a:lstStyle/>
          <a:p>
            <a:fld id="{24F0D7AE-DAD0-4FF7-9838-647B65E5E688}" type="datetime1">
              <a:rPr lang="en-US" smtClean="0"/>
              <a:t>10/22/2022</a:t>
            </a:fld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DD69606-EA41-415E-AD67-FCE258C9F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193925"/>
            <a:ext cx="176212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384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Course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i="1" u="sng" dirty="0"/>
              <a:t>Instructor:</a:t>
            </a:r>
            <a:r>
              <a:rPr lang="en-US" sz="2400" dirty="0"/>
              <a:t> Dr. Mohammad </a:t>
            </a:r>
            <a:r>
              <a:rPr lang="en-US" sz="2400" dirty="0" err="1"/>
              <a:t>Shahriar</a:t>
            </a:r>
            <a:r>
              <a:rPr lang="en-US" sz="2400" dirty="0"/>
              <a:t> </a:t>
            </a:r>
            <a:r>
              <a:rPr lang="en-US" sz="2400" dirty="0" err="1"/>
              <a:t>Rahman</a:t>
            </a:r>
            <a:endParaRPr lang="en-US" sz="2400" dirty="0"/>
          </a:p>
          <a:p>
            <a:pPr lvl="1"/>
            <a:r>
              <a:rPr lang="en-US" sz="2400" i="1" dirty="0"/>
              <a:t>Associate Professor &amp; Director, CITS</a:t>
            </a:r>
          </a:p>
          <a:p>
            <a:pPr lvl="1"/>
            <a:r>
              <a:rPr lang="en-US" sz="2400" i="1" dirty="0">
                <a:hlinkClick r:id="rId2"/>
              </a:rPr>
              <a:t>mshahriar@cse.uiu.ac.bd</a:t>
            </a:r>
            <a:endParaRPr lang="en-US" sz="2400" i="1" dirty="0"/>
          </a:p>
          <a:p>
            <a:pPr lvl="1"/>
            <a:r>
              <a:rPr lang="en-US" sz="2400" i="1" dirty="0"/>
              <a:t>Office: 518- Director, CITS (5</a:t>
            </a:r>
            <a:r>
              <a:rPr lang="en-US" sz="2400" i="1" baseline="30000" dirty="0"/>
              <a:t>th</a:t>
            </a:r>
            <a:r>
              <a:rPr lang="en-US" sz="2400" i="1" dirty="0"/>
              <a:t> floor)</a:t>
            </a:r>
          </a:p>
          <a:p>
            <a:pPr marL="57150" indent="0">
              <a:buNone/>
            </a:pPr>
            <a:endParaRPr lang="en-SG" sz="2400" dirty="0"/>
          </a:p>
          <a:p>
            <a:pPr marL="57150" indent="0">
              <a:buNone/>
            </a:pPr>
            <a:r>
              <a:rPr lang="en-SG" sz="2400" i="1" u="sng" dirty="0"/>
              <a:t>This course:</a:t>
            </a:r>
          </a:p>
          <a:p>
            <a:pPr marL="400050"/>
            <a:r>
              <a:rPr lang="en-SG" sz="2400" i="1" dirty="0"/>
              <a:t>This Classroom, On-campus</a:t>
            </a:r>
          </a:p>
          <a:p>
            <a:pPr marL="400050"/>
            <a:r>
              <a:rPr lang="en-SG" sz="2400" i="1" dirty="0"/>
              <a:t>Materials shared on </a:t>
            </a:r>
            <a:r>
              <a:rPr lang="en-SG" sz="2400" i="1" dirty="0" err="1"/>
              <a:t>eLMS</a:t>
            </a:r>
            <a:endParaRPr lang="en-SG" sz="2400" i="1" dirty="0"/>
          </a:p>
          <a:p>
            <a:pPr marL="400050"/>
            <a:r>
              <a:rPr lang="en-SG" sz="2400" i="1" dirty="0"/>
              <a:t>For regular group communication???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D7D35-0710-4E5B-9581-A04684B1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4B9E4-3C0E-4E34-B203-29CB88863F2F}" type="datetime1">
              <a:rPr lang="en-US" smtClean="0"/>
              <a:t>10/22/2022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68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 dirty="0"/>
              <a:t>Assessment Tools (Tentative)</a:t>
            </a:r>
            <a:endParaRPr lang="en-US" sz="3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3CBC20-47CE-4A0F-9DAB-686FD971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2CCC-C769-4B46-B8BF-222C90A07ECC}" type="datetime1">
              <a:rPr lang="en-US" smtClean="0"/>
              <a:t>10/22/2022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A66B72-82A5-460E-A9BD-15514B275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114851"/>
              </p:ext>
            </p:extLst>
          </p:nvPr>
        </p:nvGraphicFramePr>
        <p:xfrm>
          <a:off x="2209800" y="2057400"/>
          <a:ext cx="4191000" cy="2133602"/>
        </p:xfrm>
        <a:graphic>
          <a:graphicData uri="http://schemas.openxmlformats.org/drawingml/2006/table">
            <a:tbl>
              <a:tblPr firstRow="1" firstCol="1" bandRow="1"/>
              <a:tblGrid>
                <a:gridCol w="3211632">
                  <a:extLst>
                    <a:ext uri="{9D8B030D-6E8A-4147-A177-3AD203B41FA5}">
                      <a16:colId xmlns:a16="http://schemas.microsoft.com/office/drawing/2014/main" val="1885831788"/>
                    </a:ext>
                  </a:extLst>
                </a:gridCol>
                <a:gridCol w="979368">
                  <a:extLst>
                    <a:ext uri="{9D8B030D-6E8A-4147-A177-3AD203B41FA5}">
                      <a16:colId xmlns:a16="http://schemas.microsoft.com/office/drawing/2014/main" val="309259942"/>
                    </a:ext>
                  </a:extLst>
                </a:gridCol>
              </a:tblGrid>
              <a:tr h="33055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Assessment Method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(%)</a:t>
                      </a:r>
                      <a:endParaRPr lang="en-GB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64277"/>
                  </a:ext>
                </a:extLst>
              </a:tr>
              <a:tr h="3606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Attendance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GB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492677"/>
                  </a:ext>
                </a:extLst>
              </a:tr>
              <a:tr h="3606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Assignments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648529"/>
                  </a:ext>
                </a:extLst>
              </a:tr>
              <a:tr h="3606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Class Tests (3/4)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17295"/>
                  </a:ext>
                </a:extLst>
              </a:tr>
              <a:tr h="3606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Midterm exam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611984"/>
                  </a:ext>
                </a:extLst>
              </a:tr>
              <a:tr h="360609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Final exam</a:t>
                      </a:r>
                      <a:endParaRPr lang="en-GB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</a:t>
                      </a:r>
                      <a:endParaRPr lang="en-GB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2230" marR="68580" marT="0" marB="0">
                    <a:lnL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685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91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54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altLang="en-US" dirty="0"/>
              <a:t>Algorithm</a:t>
            </a:r>
          </a:p>
          <a:p>
            <a:pPr lvl="1" algn="just"/>
            <a:endParaRPr lang="en-US" altLang="en-US" dirty="0">
              <a:solidFill>
                <a:schemeClr val="hlink"/>
              </a:solidFill>
            </a:endParaRPr>
          </a:p>
          <a:p>
            <a:pPr lvl="1" algn="just"/>
            <a:r>
              <a:rPr lang="en-US" altLang="en-US" dirty="0">
                <a:solidFill>
                  <a:schemeClr val="hlink"/>
                </a:solidFill>
              </a:rPr>
              <a:t>[merriam-webster.com]</a:t>
            </a:r>
            <a:r>
              <a:rPr lang="en-US" altLang="en-US" dirty="0"/>
              <a:t>  A procedure for solving a mathematical problem (as of finding the greatest common divisor) in a finite number of steps that frequently involves repetition of an operation; </a:t>
            </a:r>
            <a:r>
              <a:rPr lang="en-US" i="1" dirty="0"/>
              <a:t>broadly</a:t>
            </a:r>
            <a:r>
              <a:rPr lang="en-US" dirty="0"/>
              <a:t> :a step-by-step procedure for solving a problem or accomplishing some end especially by a computer</a:t>
            </a:r>
            <a:endParaRPr lang="en-US" altLang="en-US" dirty="0"/>
          </a:p>
          <a:p>
            <a:pPr lvl="1" algn="just"/>
            <a:endParaRPr lang="en-US" altLang="en-US" dirty="0">
              <a:solidFill>
                <a:schemeClr val="hlink"/>
              </a:solidFill>
            </a:endParaRPr>
          </a:p>
          <a:p>
            <a:pPr lvl="1" algn="just"/>
            <a:r>
              <a:rPr lang="en-US" altLang="en-US" dirty="0">
                <a:solidFill>
                  <a:schemeClr val="hlink"/>
                </a:solidFill>
              </a:rPr>
              <a:t>[Knuth, TAOCP]</a:t>
            </a:r>
            <a:r>
              <a:rPr lang="en-US" altLang="en-US" dirty="0"/>
              <a:t>  An algorithm is a finite, definite, effective procedure, with some input and some output.</a:t>
            </a:r>
          </a:p>
        </p:txBody>
      </p:sp>
      <p:sp>
        <p:nvSpPr>
          <p:cNvPr id="49665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Algorithms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CE4AD-59D5-4CB4-B4D6-9B5E8160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457D-A02A-45E8-9A02-A519313B6DBA}" type="datetime1">
              <a:rPr lang="en-US" smtClean="0"/>
              <a:t>10/22/2022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3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5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163" y="5365750"/>
            <a:ext cx="1163637" cy="141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36637"/>
            <a:ext cx="83820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Etymology.  </a:t>
            </a:r>
            <a:r>
              <a:rPr lang="en-US" altLang="en-US" dirty="0">
                <a:solidFill>
                  <a:schemeClr val="hlink"/>
                </a:solidFill>
              </a:rPr>
              <a:t>[Knuth, TAOCP]</a:t>
            </a:r>
            <a:r>
              <a:rPr lang="en-US" altLang="en-US" dirty="0"/>
              <a:t> </a:t>
            </a:r>
            <a:endParaRPr lang="en-US" altLang="en-US" i="1" dirty="0"/>
          </a:p>
          <a:p>
            <a:pPr lvl="1"/>
            <a:endParaRPr lang="en-US" altLang="en-US" i="1" dirty="0"/>
          </a:p>
          <a:p>
            <a:pPr lvl="1"/>
            <a:r>
              <a:rPr lang="en-US" altLang="en-US" i="1" dirty="0"/>
              <a:t>Algorism  </a:t>
            </a:r>
            <a:r>
              <a:rPr lang="en-US" altLang="en-US" dirty="0"/>
              <a:t>=  process of doing arithmetic using Arabic numerals.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A misperception:</a:t>
            </a:r>
            <a:r>
              <a:rPr lang="en-US" altLang="en-US" i="1" dirty="0"/>
              <a:t>  </a:t>
            </a:r>
            <a:r>
              <a:rPr lang="en-US" altLang="en-US" i="1" dirty="0" err="1"/>
              <a:t>algiros</a:t>
            </a:r>
            <a:r>
              <a:rPr lang="en-US" altLang="en-US" i="1" dirty="0"/>
              <a:t> 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hlink"/>
                </a:solidFill>
              </a:rPr>
              <a:t>[painful]  </a:t>
            </a:r>
            <a:r>
              <a:rPr lang="en-US" altLang="en-US" dirty="0"/>
              <a:t>+  </a:t>
            </a:r>
            <a:r>
              <a:rPr lang="en-US" altLang="en-US" i="1" dirty="0" err="1"/>
              <a:t>arithmos</a:t>
            </a:r>
            <a:r>
              <a:rPr lang="en-US" altLang="en-US" dirty="0"/>
              <a:t>  </a:t>
            </a:r>
            <a:r>
              <a:rPr lang="en-US" altLang="en-US" dirty="0">
                <a:solidFill>
                  <a:schemeClr val="hlink"/>
                </a:solidFill>
              </a:rPr>
              <a:t>[number]</a:t>
            </a:r>
            <a:r>
              <a:rPr lang="en-US" altLang="en-US" dirty="0"/>
              <a:t>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True origin:  Abu '</a:t>
            </a:r>
            <a:r>
              <a:rPr lang="en-US" altLang="en-US" dirty="0" err="1"/>
              <a:t>Abd</a:t>
            </a:r>
            <a:r>
              <a:rPr lang="en-US" altLang="en-US" dirty="0"/>
              <a:t> Allah Muhammad ibn Musa al-</a:t>
            </a:r>
            <a:r>
              <a:rPr lang="en-US" altLang="en-US" dirty="0" err="1"/>
              <a:t>Khwarizm</a:t>
            </a:r>
            <a:r>
              <a:rPr lang="en-US" altLang="en-US" dirty="0"/>
              <a:t> was a famous 9th century Persian textbook author who wrote </a:t>
            </a:r>
            <a:r>
              <a:rPr lang="en-US" altLang="en-US" i="1" dirty="0" err="1"/>
              <a:t>Kitab</a:t>
            </a:r>
            <a:r>
              <a:rPr lang="en-US" altLang="en-US" i="1" dirty="0"/>
              <a:t> al-</a:t>
            </a:r>
            <a:r>
              <a:rPr lang="en-US" altLang="en-US" i="1" dirty="0" err="1"/>
              <a:t>jabr</a:t>
            </a:r>
            <a:r>
              <a:rPr lang="en-US" altLang="en-US" i="1" dirty="0"/>
              <a:t> </a:t>
            </a:r>
            <a:r>
              <a:rPr lang="en-US" altLang="en-US" i="1" dirty="0" err="1"/>
              <a:t>wa'l-muqabala</a:t>
            </a:r>
            <a:r>
              <a:rPr lang="en-US" altLang="en-US" dirty="0"/>
              <a:t>, which evolved into today's high school algebra text.</a:t>
            </a:r>
          </a:p>
          <a:p>
            <a:pPr lvl="1"/>
            <a:endParaRPr lang="en-US" altLang="en-US" dirty="0"/>
          </a:p>
        </p:txBody>
      </p:sp>
      <p:sp>
        <p:nvSpPr>
          <p:cNvPr id="57958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Etymology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F4AC2-10F4-4949-8DE0-672343142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3AB2-00F2-4B5A-BBF1-04DDA48A6788}" type="datetime1">
              <a:rPr lang="en-US" smtClean="0"/>
              <a:t>10/22/2022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5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 of Algorithms</a:t>
            </a:r>
          </a:p>
        </p:txBody>
      </p:sp>
      <p:pic>
        <p:nvPicPr>
          <p:cNvPr id="5857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62400"/>
            <a:ext cx="173672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857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191000"/>
            <a:ext cx="1471613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85735" name="Text Box 7"/>
          <p:cNvSpPr txBox="1">
            <a:spLocks noChangeArrowheads="1"/>
          </p:cNvSpPr>
          <p:nvPr/>
        </p:nvSpPr>
        <p:spPr bwMode="auto">
          <a:xfrm>
            <a:off x="672860" y="1437736"/>
            <a:ext cx="7709140" cy="19912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82880" tIns="137160" rIns="182880" bIns="182880" anchor="ctr">
            <a:spAutoFit/>
          </a:bodyPr>
          <a:lstStyle/>
          <a:p>
            <a:pPr algn="just">
              <a:lnSpc>
                <a:spcPts val="2600"/>
              </a:lnSpc>
              <a:buClr>
                <a:schemeClr val="tx1"/>
              </a:buClr>
              <a:buSzPct val="35000"/>
              <a:buFont typeface="Monotype Sorts" pitchFamily="92" charset="2"/>
              <a:buNone/>
            </a:pPr>
            <a:r>
              <a:rPr lang="en-US" altLang="en-US" sz="2300" dirty="0"/>
              <a:t>"As soon as an Analytic Engine exists, it will necessarily guide the future course of the science.  Whenever any result is sought by its aid, the question will arise - By what course of calculation can these results be arrived at by the machine in the </a:t>
            </a:r>
            <a:r>
              <a:rPr lang="en-US" altLang="en-US" sz="2300" i="1" dirty="0"/>
              <a:t>shortest time</a:t>
            </a:r>
            <a:r>
              <a:rPr lang="en-US" altLang="en-US" sz="2300" dirty="0"/>
              <a:t>?”   </a:t>
            </a:r>
            <a:r>
              <a:rPr lang="en-US" altLang="en-US" sz="2300" i="1" dirty="0"/>
              <a:t>- Charles Babbage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2B7C6-C0FC-4474-BEA0-8A1F5A51C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F982-D216-446B-8785-BBD2F5D7869E}" type="datetime1">
              <a:rPr lang="en-US" smtClean="0"/>
              <a:t>10/22/2022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Algorithmic Paradigms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Design and analysis of computer algorithms.</a:t>
            </a:r>
          </a:p>
          <a:p>
            <a:pPr lvl="1"/>
            <a:r>
              <a:rPr lang="en-US" altLang="en-US" dirty="0"/>
              <a:t>Greedy.</a:t>
            </a:r>
          </a:p>
          <a:p>
            <a:pPr lvl="1"/>
            <a:r>
              <a:rPr lang="en-US" altLang="en-US" dirty="0"/>
              <a:t>Divide-and-conquer.</a:t>
            </a:r>
          </a:p>
          <a:p>
            <a:pPr lvl="1"/>
            <a:r>
              <a:rPr lang="en-US" altLang="en-US" dirty="0"/>
              <a:t>Dynamic programming.</a:t>
            </a:r>
          </a:p>
          <a:p>
            <a:pPr lvl="1"/>
            <a:r>
              <a:rPr lang="en-US" altLang="en-US" dirty="0"/>
              <a:t>Network flow.</a:t>
            </a:r>
          </a:p>
          <a:p>
            <a:pPr lvl="1"/>
            <a:r>
              <a:rPr lang="en-US" altLang="en-US" dirty="0"/>
              <a:t>Randomized algorithms.</a:t>
            </a:r>
          </a:p>
          <a:p>
            <a:pPr lvl="1"/>
            <a:r>
              <a:rPr lang="en-US" altLang="en-US" dirty="0"/>
              <a:t>Intractability.</a:t>
            </a:r>
          </a:p>
          <a:p>
            <a:pPr lvl="1"/>
            <a:r>
              <a:rPr lang="en-US" altLang="en-US" dirty="0"/>
              <a:t>Coping with intractability.</a:t>
            </a:r>
          </a:p>
          <a:p>
            <a:pPr lvl="1"/>
            <a:endParaRPr lang="en-US" altLang="en-US" dirty="0">
              <a:solidFill>
                <a:schemeClr val="accent1"/>
              </a:solidFill>
            </a:endParaRPr>
          </a:p>
          <a:p>
            <a:r>
              <a:rPr lang="en-US" altLang="en-US" dirty="0">
                <a:solidFill>
                  <a:schemeClr val="accent1"/>
                </a:solidFill>
              </a:rPr>
              <a:t>Critical thinking </a:t>
            </a:r>
            <a:r>
              <a:rPr lang="en-US" altLang="en-US" dirty="0">
                <a:solidFill>
                  <a:schemeClr val="tx1"/>
                </a:solidFill>
              </a:rPr>
              <a:t>and</a:t>
            </a:r>
            <a:r>
              <a:rPr lang="en-US" altLang="en-US" dirty="0">
                <a:solidFill>
                  <a:schemeClr val="accent1"/>
                </a:solidFill>
              </a:rPr>
              <a:t> problem-solving.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865E0-8297-4462-8787-2D43F27C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E4B-4058-434E-8019-0D897B5C6FBF}" type="datetime1">
              <a:rPr lang="en-US" smtClean="0"/>
              <a:t>10/22/2022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1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Applications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8074025" cy="54102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Wide range of applications.</a:t>
            </a:r>
          </a:p>
          <a:p>
            <a:pPr lvl="1"/>
            <a:r>
              <a:rPr lang="en-US" altLang="en-US" dirty="0"/>
              <a:t>Databases.</a:t>
            </a:r>
          </a:p>
          <a:p>
            <a:pPr lvl="1"/>
            <a:r>
              <a:rPr lang="en-US" altLang="en-US" dirty="0"/>
              <a:t>Scheduling.</a:t>
            </a:r>
          </a:p>
          <a:p>
            <a:pPr lvl="1"/>
            <a:r>
              <a:rPr lang="en-US" altLang="en-US" dirty="0"/>
              <a:t>Networking.</a:t>
            </a:r>
          </a:p>
          <a:p>
            <a:pPr lvl="1"/>
            <a:r>
              <a:rPr lang="en-US" altLang="en-US" dirty="0"/>
              <a:t>Data analysis.</a:t>
            </a:r>
          </a:p>
          <a:p>
            <a:pPr lvl="1"/>
            <a:r>
              <a:rPr lang="en-US" altLang="en-US" dirty="0"/>
              <a:t>Signal processing.</a:t>
            </a:r>
          </a:p>
          <a:p>
            <a:pPr lvl="1"/>
            <a:r>
              <a:rPr lang="en-US" altLang="en-US" dirty="0"/>
              <a:t>Computer graphics.</a:t>
            </a:r>
          </a:p>
          <a:p>
            <a:pPr lvl="1"/>
            <a:r>
              <a:rPr lang="en-US" altLang="en-US" dirty="0"/>
              <a:t>Scientific computing.</a:t>
            </a:r>
          </a:p>
          <a:p>
            <a:pPr lvl="1"/>
            <a:r>
              <a:rPr lang="en-US" altLang="en-US" dirty="0"/>
              <a:t>Operations research.</a:t>
            </a:r>
          </a:p>
          <a:p>
            <a:pPr lvl="1"/>
            <a:r>
              <a:rPr lang="en-US" altLang="en-US" dirty="0"/>
              <a:t>Artificial intelligence.</a:t>
            </a:r>
          </a:p>
          <a:p>
            <a:pPr lvl="1"/>
            <a:r>
              <a:rPr lang="en-US" altLang="en-US" dirty="0"/>
              <a:t>Computational biology.</a:t>
            </a:r>
          </a:p>
          <a:p>
            <a:pPr lvl="1"/>
            <a:r>
              <a:rPr lang="en-US" altLang="en-US" dirty="0"/>
              <a:t>. . .</a:t>
            </a:r>
          </a:p>
          <a:p>
            <a:pPr lvl="1">
              <a:buFont typeface="Monotype Sorts" pitchFamily="92" charset="2"/>
              <a:buNone/>
            </a:pPr>
            <a:endParaRPr lang="en-US" altLang="en-US" dirty="0"/>
          </a:p>
          <a:p>
            <a:r>
              <a:rPr lang="en-US" altLang="en-US" dirty="0">
                <a:solidFill>
                  <a:schemeClr val="tx1"/>
                </a:solidFill>
              </a:rPr>
              <a:t>We focus on algorithms and techniques that are </a:t>
            </a:r>
            <a:r>
              <a:rPr lang="en-US" altLang="en-US" dirty="0">
                <a:solidFill>
                  <a:schemeClr val="accent1"/>
                </a:solidFill>
              </a:rPr>
              <a:t>useful in practice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D2813-74DE-45ED-82E1-0A6B97BD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F0C2E-FECA-4549-B716-8A989815896E}" type="datetime1">
              <a:rPr lang="en-US" smtClean="0"/>
              <a:t>10/22/2022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41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pPr algn="just">
              <a:defRPr/>
            </a:pPr>
            <a:r>
              <a:rPr lang="en-US" dirty="0"/>
              <a:t>Algorithm</a:t>
            </a:r>
          </a:p>
          <a:p>
            <a:pPr lvl="1" algn="just">
              <a:defRPr/>
            </a:pPr>
            <a:r>
              <a:rPr lang="en-US" dirty="0">
                <a:ea typeface="+mn-ea"/>
                <a:cs typeface="+mn-cs"/>
              </a:rPr>
              <a:t>is any well-defined computational procedure that takes some value, or set of values, as input and produces some value, or set of values, as output.</a:t>
            </a:r>
          </a:p>
          <a:p>
            <a:pPr lvl="1" algn="just">
              <a:defRPr/>
            </a:pPr>
            <a:r>
              <a:rPr lang="en-US" dirty="0">
                <a:ea typeface="+mn-ea"/>
                <a:cs typeface="+mn-cs"/>
              </a:rPr>
              <a:t>is thus a sequence of computational steps that transform the input into the output.</a:t>
            </a:r>
          </a:p>
          <a:p>
            <a:pPr lvl="1" algn="just">
              <a:defRPr/>
            </a:pPr>
            <a:r>
              <a:rPr lang="en-US" dirty="0">
                <a:ea typeface="+mn-ea"/>
                <a:cs typeface="+mn-cs"/>
              </a:rPr>
              <a:t>is a tool for solving a well-specified computational  problem.</a:t>
            </a:r>
          </a:p>
          <a:p>
            <a:pPr lvl="1" algn="just">
              <a:defRPr/>
            </a:pPr>
            <a:r>
              <a:rPr lang="th-TH" dirty="0"/>
              <a:t>Any special method of solving a certain kind of problem (Webster Dictionary)</a:t>
            </a:r>
          </a:p>
          <a:p>
            <a:pPr lvl="1" algn="just"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D1BC6-6FB8-4565-8C81-6941A4C8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909F0-EBA7-4E78-809F-0017AAD712B7}" type="datetime1">
              <a:rPr lang="en-US" smtClean="0"/>
              <a:t>10/22/2022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3248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an Algorithm?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4648200"/>
          </a:xfrm>
        </p:spPr>
        <p:txBody>
          <a:bodyPr/>
          <a:lstStyle/>
          <a:p>
            <a:r>
              <a:rPr lang="en-US" altLang="en-US" dirty="0"/>
              <a:t>An algorithm is a sequence of computational steps that solves a well-specified computational problem.</a:t>
            </a:r>
          </a:p>
          <a:p>
            <a:pPr lvl="1"/>
            <a:r>
              <a:rPr lang="en-US" altLang="en-US" dirty="0"/>
              <a:t>An algorithm is said to be </a:t>
            </a:r>
            <a:r>
              <a:rPr lang="en-US" altLang="en-US" dirty="0">
                <a:solidFill>
                  <a:schemeClr val="tx2"/>
                </a:solidFill>
              </a:rPr>
              <a:t>correct</a:t>
            </a:r>
            <a:r>
              <a:rPr lang="en-US" altLang="en-US" dirty="0"/>
              <a:t> if, for every input instance, it halts with the correct output</a:t>
            </a:r>
          </a:p>
          <a:p>
            <a:pPr lvl="1"/>
            <a:r>
              <a:rPr lang="en-US" altLang="en-US" dirty="0"/>
              <a:t>An </a:t>
            </a:r>
            <a:r>
              <a:rPr lang="en-US" altLang="en-US" dirty="0">
                <a:solidFill>
                  <a:schemeClr val="tx2"/>
                </a:solidFill>
              </a:rPr>
              <a:t>incorrect</a:t>
            </a:r>
            <a:r>
              <a:rPr lang="en-US" altLang="en-US" dirty="0"/>
              <a:t> algorithm might not halt at all on some input instances, or it might halt with other than the desired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sz="3200" dirty="0"/>
              <a:t>What is a program?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A program is the expression of an algorithm in a programming language</a:t>
            </a:r>
          </a:p>
          <a:p>
            <a:r>
              <a:rPr lang="th-TH" dirty="0"/>
              <a:t>a set of instructions which the computer will follow to solve a problem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971800" y="3657600"/>
          <a:ext cx="2624138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251325" imgH="4570413" progId="">
                  <p:embed/>
                </p:oleObj>
              </mc:Choice>
              <mc:Fallback>
                <p:oleObj name="Clip" r:id="rId2" imgW="4251325" imgH="4570413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657600"/>
                        <a:ext cx="2624138" cy="281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4EE72-F595-4BAF-8847-7F60F4E0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05E86F-B3F0-471E-B928-A4635F3369E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56429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Where We're Going</a:t>
            </a:r>
            <a:endParaRPr lang="th-TH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th-TH" dirty="0"/>
              <a:t>Examine methods of analyzing algorithm</a:t>
            </a:r>
            <a:r>
              <a:rPr lang="en-GB" dirty="0"/>
              <a:t> </a:t>
            </a:r>
            <a:r>
              <a:rPr lang="th-TH" dirty="0"/>
              <a:t>correctness and efficiency</a:t>
            </a:r>
          </a:p>
          <a:p>
            <a:pPr lvl="1" algn="just"/>
            <a:r>
              <a:rPr lang="th-TH" sz="2000" dirty="0"/>
              <a:t>Lower bound techniques</a:t>
            </a:r>
          </a:p>
          <a:p>
            <a:pPr lvl="1" algn="just"/>
            <a:r>
              <a:rPr lang="th-TH" sz="2000" dirty="0"/>
              <a:t>O,Omega and Theta notations for best/worst/average case analysis</a:t>
            </a:r>
          </a:p>
          <a:p>
            <a:pPr algn="just"/>
            <a:r>
              <a:rPr lang="th-TH" dirty="0"/>
              <a:t>Decide whether some problems have no solution in reasonable time</a:t>
            </a:r>
          </a:p>
          <a:p>
            <a:pPr lvl="1" algn="just"/>
            <a:r>
              <a:rPr lang="th-TH" sz="2000" dirty="0"/>
              <a:t>List all permutations of n objects (takes n! steps)</a:t>
            </a:r>
          </a:p>
          <a:p>
            <a:pPr lvl="1" algn="just"/>
            <a:r>
              <a:rPr lang="th-TH" sz="2000" dirty="0"/>
              <a:t>Travelling salesman problem</a:t>
            </a:r>
            <a:r>
              <a:rPr lang="en-US" sz="2000" dirty="0"/>
              <a:t> (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Given a list of cities and the distances between each pair of cities, what is the shortest possible route that visits each city exactly once and returns to the origin city?)</a:t>
            </a:r>
            <a:endParaRPr lang="th-TH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th-TH" dirty="0"/>
              <a:t>Investigate memory usage as a different measure of efficiency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C71CB-F9FB-4347-A8ED-38A3299D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19E4DA-A06A-4789-9309-5AD0B8F72CD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631634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h-TH"/>
            </a:br>
            <a:r>
              <a:rPr lang="th-TH"/>
              <a:t>The study of Algorithm</a:t>
            </a:r>
            <a:br>
              <a:rPr lang="th-TH"/>
            </a:br>
            <a:endParaRPr lang="th-TH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th-TH"/>
              <a:t>How to devise algorithms</a:t>
            </a:r>
          </a:p>
          <a:p>
            <a:pPr>
              <a:lnSpc>
                <a:spcPct val="110000"/>
              </a:lnSpc>
            </a:pPr>
            <a:r>
              <a:rPr lang="th-TH"/>
              <a:t>How to express algorithms</a:t>
            </a:r>
          </a:p>
          <a:p>
            <a:pPr>
              <a:lnSpc>
                <a:spcPct val="110000"/>
              </a:lnSpc>
            </a:pPr>
            <a:r>
              <a:rPr lang="th-TH"/>
              <a:t>How to validate algorithms</a:t>
            </a:r>
          </a:p>
          <a:p>
            <a:pPr>
              <a:lnSpc>
                <a:spcPct val="110000"/>
              </a:lnSpc>
            </a:pPr>
            <a:r>
              <a:rPr lang="th-TH"/>
              <a:t>How to analyze algorithms</a:t>
            </a:r>
          </a:p>
          <a:p>
            <a:pPr>
              <a:lnSpc>
                <a:spcPct val="110000"/>
              </a:lnSpc>
            </a:pPr>
            <a:r>
              <a:rPr lang="th-TH"/>
              <a:t>How to test a program</a:t>
            </a:r>
          </a:p>
          <a:p>
            <a:pPr>
              <a:lnSpc>
                <a:spcPct val="110000"/>
              </a:lnSpc>
            </a:pPr>
            <a:endParaRPr lang="th-T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BA60B-E32C-475F-B895-FFFD9ABD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8732D6-2C6A-4FB5-99C8-B1B190EE7FA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605484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Importance of </a:t>
            </a:r>
            <a:r>
              <a:rPr lang="en-US" dirty="0">
                <a:cs typeface="Angsana New" pitchFamily="18" charset="-34"/>
              </a:rPr>
              <a:t>Analyzing Algorithm</a:t>
            </a:r>
            <a:endParaRPr lang="th-TH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2800" dirty="0"/>
              <a:t>Need to recognize limitations of various algorithms for solving a problem</a:t>
            </a:r>
          </a:p>
          <a:p>
            <a:r>
              <a:rPr lang="th-TH" sz="2800" dirty="0"/>
              <a:t>Need to understand relationship between problem size and running time</a:t>
            </a:r>
          </a:p>
          <a:p>
            <a:pPr lvl="1"/>
            <a:r>
              <a:rPr lang="th-TH" sz="1800" dirty="0"/>
              <a:t>When is a running program not good enough?</a:t>
            </a:r>
          </a:p>
          <a:p>
            <a:r>
              <a:rPr lang="th-TH" sz="2800" dirty="0"/>
              <a:t>Need to learn how to analyze an algorithm's running time without coding it</a:t>
            </a:r>
          </a:p>
          <a:p>
            <a:r>
              <a:rPr lang="th-TH" sz="2800" dirty="0"/>
              <a:t>Need to recognize bottlenecks in code as well as which parts of code are easiest to optimize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E80236-9A28-4318-B0FF-A89A548F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1FC88F-FF8E-4F25-83CA-4F34283D638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308998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Wh</a:t>
            </a:r>
            <a:r>
              <a:rPr lang="en-US"/>
              <a:t>y</a:t>
            </a:r>
            <a:r>
              <a:rPr lang="th-TH"/>
              <a:t> do we analyze about them?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2800" dirty="0"/>
              <a:t>understand their behavior, and (</a:t>
            </a:r>
            <a:r>
              <a:rPr lang="th-TH" sz="2800" dirty="0">
                <a:solidFill>
                  <a:srgbClr val="3333CC"/>
                </a:solidFill>
              </a:rPr>
              <a:t>Job -- Selection, performance, modify</a:t>
            </a:r>
            <a:r>
              <a:rPr lang="en-US" sz="2800" dirty="0"/>
              <a:t>)</a:t>
            </a:r>
            <a:endParaRPr lang="th-TH" sz="2800" dirty="0"/>
          </a:p>
          <a:p>
            <a:r>
              <a:rPr lang="th-TH" sz="2800" dirty="0"/>
              <a:t>improve them. (</a:t>
            </a:r>
            <a:r>
              <a:rPr lang="th-TH" sz="2800" dirty="0">
                <a:solidFill>
                  <a:srgbClr val="3333CC"/>
                </a:solidFill>
              </a:rPr>
              <a:t>Research</a:t>
            </a:r>
            <a:r>
              <a:rPr lang="th-TH" sz="2800" dirty="0"/>
              <a:t>) </a:t>
            </a:r>
          </a:p>
        </p:txBody>
      </p:sp>
      <p:pic>
        <p:nvPicPr>
          <p:cNvPr id="28676" name="Picture 4" descr="j029912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756025" y="3724275"/>
            <a:ext cx="1450975" cy="2652713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333FD-B9D2-4114-853F-ABD7D2B6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287719-5C26-4200-98B0-F990D6BA76C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78306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sz="3200"/>
              <a:t>What do we analyze about them? 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2800">
                <a:solidFill>
                  <a:srgbClr val="009999"/>
                </a:solidFill>
              </a:rPr>
              <a:t>Correctness</a:t>
            </a:r>
            <a:endParaRPr lang="th-TH" sz="2800"/>
          </a:p>
          <a:p>
            <a:pPr lvl="1"/>
            <a:r>
              <a:rPr lang="th-TH"/>
              <a:t>Does the input/output relation match algorithm requirement?</a:t>
            </a:r>
          </a:p>
          <a:p>
            <a:r>
              <a:rPr lang="th-TH" sz="2800">
                <a:solidFill>
                  <a:srgbClr val="009999"/>
                </a:solidFill>
              </a:rPr>
              <a:t>Amount of work done</a:t>
            </a:r>
            <a:r>
              <a:rPr lang="th-TH" sz="2800"/>
              <a:t> (aka complexity) </a:t>
            </a:r>
          </a:p>
          <a:p>
            <a:pPr lvl="1"/>
            <a:r>
              <a:rPr lang="th-TH"/>
              <a:t>Basic operations to do task </a:t>
            </a:r>
          </a:p>
          <a:p>
            <a:r>
              <a:rPr lang="th-TH" sz="2800">
                <a:solidFill>
                  <a:srgbClr val="009999"/>
                </a:solidFill>
              </a:rPr>
              <a:t>Amount of space used</a:t>
            </a:r>
          </a:p>
          <a:p>
            <a:pPr lvl="1"/>
            <a:r>
              <a:rPr lang="th-TH"/>
              <a:t>Memory used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8803A-6EFD-4D6A-AB77-2DE7A57C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951FD-7D29-4150-AAA7-10D4A113CD3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070841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sz="3200"/>
              <a:t>What do we analyze about them?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2800">
                <a:solidFill>
                  <a:srgbClr val="009999"/>
                </a:solidFill>
              </a:rPr>
              <a:t>Simplicity, clarity</a:t>
            </a:r>
          </a:p>
          <a:p>
            <a:pPr lvl="1"/>
            <a:r>
              <a:rPr lang="th-TH"/>
              <a:t>Verification and implementation. </a:t>
            </a:r>
          </a:p>
          <a:p>
            <a:r>
              <a:rPr lang="th-TH" sz="2800">
                <a:solidFill>
                  <a:srgbClr val="009999"/>
                </a:solidFill>
              </a:rPr>
              <a:t>Optimality</a:t>
            </a:r>
          </a:p>
          <a:p>
            <a:pPr lvl="1"/>
            <a:r>
              <a:rPr lang="th-TH"/>
              <a:t>Is it impossible to do better? </a:t>
            </a:r>
          </a:p>
        </p:txBody>
      </p:sp>
      <p:pic>
        <p:nvPicPr>
          <p:cNvPr id="30724" name="Picture 4" descr="j029198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416300" y="4330700"/>
            <a:ext cx="1708150" cy="2016125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6192A-60CE-4979-A25A-CC298669A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4D54F-881F-43B0-82B3-D39C4EFE569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264529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Complexity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2800"/>
              <a:t>The complexity of an algorithm is simply the amount of work the algorithm performs to complete its task. </a:t>
            </a:r>
          </a:p>
        </p:txBody>
      </p:sp>
      <p:pic>
        <p:nvPicPr>
          <p:cNvPr id="31748" name="Picture 4" descr="j024069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940050" y="3873500"/>
            <a:ext cx="2855913" cy="2551113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4E99F-D677-4704-9BD2-853C2EE40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E7C3C5-E8B6-4D14-B31A-3534448C431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378120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RAM model </a:t>
            </a:r>
            <a:endParaRPr lang="en-US"/>
          </a:p>
        </p:txBody>
      </p:sp>
      <p:sp>
        <p:nvSpPr>
          <p:cNvPr id="32771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h-TH" dirty="0"/>
              <a:t>has one processor</a:t>
            </a:r>
          </a:p>
          <a:p>
            <a:r>
              <a:rPr lang="th-TH" dirty="0"/>
              <a:t>executes one instruction at a time</a:t>
            </a:r>
          </a:p>
          <a:p>
            <a:r>
              <a:rPr lang="th-TH" dirty="0"/>
              <a:t>each instruction takes "unit time“</a:t>
            </a:r>
          </a:p>
          <a:p>
            <a:r>
              <a:rPr lang="th-TH" dirty="0"/>
              <a:t>has fixed-size operands, and</a:t>
            </a:r>
          </a:p>
          <a:p>
            <a:r>
              <a:rPr lang="th-TH" dirty="0"/>
              <a:t>has fixed size storage (RAM and disk). </a:t>
            </a:r>
          </a:p>
          <a:p>
            <a:endParaRPr lang="en-US" dirty="0"/>
          </a:p>
        </p:txBody>
      </p:sp>
      <p:pic>
        <p:nvPicPr>
          <p:cNvPr id="32772" name="Picture 4" descr="j019538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768975" y="2968625"/>
            <a:ext cx="1797050" cy="1831975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030403-94D3-45E6-BAB2-313AC5E6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C4371-980D-4321-A5C3-A1441933C58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834547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The Selection Problem</a:t>
            </a:r>
            <a:r>
              <a:rPr lang="en-US">
                <a:cs typeface="Angsana New" pitchFamily="18" charset="-34"/>
              </a:rPr>
              <a:t> (1/2)</a:t>
            </a:r>
            <a:endParaRPr lang="th-TH">
              <a:cs typeface="Angsana New" pitchFamily="18" charset="-34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th-TH" dirty="0"/>
              <a:t>Problem: given a group of n numbers, determine the k</a:t>
            </a:r>
            <a:r>
              <a:rPr lang="th-TH" baseline="30000" dirty="0"/>
              <a:t>th</a:t>
            </a:r>
            <a:r>
              <a:rPr lang="th-TH" dirty="0"/>
              <a:t> largest</a:t>
            </a:r>
          </a:p>
          <a:p>
            <a:pPr>
              <a:lnSpc>
                <a:spcPct val="120000"/>
              </a:lnSpc>
            </a:pPr>
            <a:r>
              <a:rPr lang="th-TH" dirty="0">
                <a:solidFill>
                  <a:schemeClr val="hlink"/>
                </a:solidFill>
              </a:rPr>
              <a:t>Algorithm 1</a:t>
            </a:r>
          </a:p>
          <a:p>
            <a:pPr lvl="1">
              <a:lnSpc>
                <a:spcPct val="110000"/>
              </a:lnSpc>
            </a:pPr>
            <a:r>
              <a:rPr lang="th-TH" sz="2000" dirty="0"/>
              <a:t>Store numbers in an array</a:t>
            </a:r>
          </a:p>
          <a:p>
            <a:pPr lvl="1">
              <a:lnSpc>
                <a:spcPct val="110000"/>
              </a:lnSpc>
            </a:pPr>
            <a:r>
              <a:rPr lang="th-TH" sz="2000" dirty="0"/>
              <a:t>Sort the array in descending order</a:t>
            </a:r>
          </a:p>
          <a:p>
            <a:pPr lvl="1">
              <a:lnSpc>
                <a:spcPct val="110000"/>
              </a:lnSpc>
            </a:pPr>
            <a:r>
              <a:rPr lang="th-TH" sz="2000" dirty="0"/>
              <a:t>Return the number in position k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5867400" y="2590800"/>
          <a:ext cx="25654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675367" imgH="3934305" progId="">
                  <p:embed/>
                </p:oleObj>
              </mc:Choice>
              <mc:Fallback>
                <p:oleObj name="Clip" r:id="rId2" imgW="4675367" imgH="3934305" progId="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590800"/>
                        <a:ext cx="2565400" cy="215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6BA03-C0B0-4110-A89B-8A7590A5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B91E1C-862E-433F-BD4D-F4BF5E8C034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155298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The Selection Problem</a:t>
            </a:r>
            <a:r>
              <a:rPr lang="en-US" dirty="0"/>
              <a:t>(2/2)</a:t>
            </a:r>
            <a:endParaRPr lang="th-TH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th-TH">
                <a:solidFill>
                  <a:schemeClr val="hlink"/>
                </a:solidFill>
              </a:rPr>
              <a:t>Algorithm 2</a:t>
            </a:r>
            <a:endParaRPr lang="th-TH"/>
          </a:p>
          <a:p>
            <a:pPr lvl="1">
              <a:lnSpc>
                <a:spcPct val="110000"/>
              </a:lnSpc>
            </a:pPr>
            <a:r>
              <a:rPr lang="th-TH" sz="2000"/>
              <a:t>Store first k numbers in an array</a:t>
            </a:r>
          </a:p>
          <a:p>
            <a:pPr lvl="1">
              <a:lnSpc>
                <a:spcPct val="110000"/>
              </a:lnSpc>
            </a:pPr>
            <a:r>
              <a:rPr lang="th-TH" sz="2000"/>
              <a:t>Sort the array in descending order</a:t>
            </a:r>
          </a:p>
          <a:p>
            <a:pPr lvl="1">
              <a:lnSpc>
                <a:spcPct val="110000"/>
              </a:lnSpc>
            </a:pPr>
            <a:r>
              <a:rPr lang="th-TH" sz="2000"/>
              <a:t>For each remaining number, if the number is larger than the k</a:t>
            </a:r>
            <a:r>
              <a:rPr lang="th-TH" baseline="30000"/>
              <a:t>th</a:t>
            </a:r>
            <a:r>
              <a:rPr lang="th-TH" sz="2000"/>
              <a:t> number, insert the number in the correct position of the array</a:t>
            </a:r>
          </a:p>
          <a:p>
            <a:pPr lvl="1">
              <a:lnSpc>
                <a:spcPct val="110000"/>
              </a:lnSpc>
            </a:pPr>
            <a:r>
              <a:rPr lang="th-TH" sz="2000"/>
              <a:t>Return the number in position k</a:t>
            </a:r>
          </a:p>
          <a:p>
            <a:pPr lvl="1">
              <a:lnSpc>
                <a:spcPct val="110000"/>
              </a:lnSpc>
            </a:pPr>
            <a:endParaRPr lang="th-TH" sz="200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th-TH" sz="3600">
                <a:solidFill>
                  <a:schemeClr val="hlink"/>
                </a:solidFill>
              </a:rPr>
              <a:t>Which algorithm is better?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6553200" y="4114800"/>
          <a:ext cx="113347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857375" imgH="3995738" progId="">
                  <p:embed/>
                </p:oleObj>
              </mc:Choice>
              <mc:Fallback>
                <p:oleObj name="Clip" r:id="rId2" imgW="1857375" imgH="3995738" progId="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114800"/>
                        <a:ext cx="1133475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48488-050C-4034-89C9-6E640444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AD1DE8-00D0-4EF9-BB7A-E1A4E6F09ED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10/22/2022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414174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1175</Words>
  <Application>Microsoft Office PowerPoint</Application>
  <PresentationFormat>On-screen Show (4:3)</PresentationFormat>
  <Paragraphs>177</Paragraphs>
  <Slides>22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Garamond</vt:lpstr>
      <vt:lpstr>Monotype Sorts</vt:lpstr>
      <vt:lpstr>Times New Roman</vt:lpstr>
      <vt:lpstr>Wingdings</vt:lpstr>
      <vt:lpstr>Office Theme</vt:lpstr>
      <vt:lpstr>Clip</vt:lpstr>
      <vt:lpstr>CSE 2217: Data Structure and Algorithms</vt:lpstr>
      <vt:lpstr>The Course</vt:lpstr>
      <vt:lpstr>The Course</vt:lpstr>
      <vt:lpstr>Assessment Tools (Tentative)</vt:lpstr>
      <vt:lpstr>Algorithms</vt:lpstr>
      <vt:lpstr>Etymology</vt:lpstr>
      <vt:lpstr>Theory of Algorithms</vt:lpstr>
      <vt:lpstr>Algorithmic Paradigms</vt:lpstr>
      <vt:lpstr>Applications</vt:lpstr>
      <vt:lpstr>What is Algorithm?</vt:lpstr>
      <vt:lpstr>What is an Algorithm?</vt:lpstr>
      <vt:lpstr>What is a program?</vt:lpstr>
      <vt:lpstr>Where We're Going</vt:lpstr>
      <vt:lpstr> The study of Algorithm </vt:lpstr>
      <vt:lpstr>Importance of Analyzing Algorithm</vt:lpstr>
      <vt:lpstr>Why do we analyze about them? </vt:lpstr>
      <vt:lpstr>What do we analyze about them? </vt:lpstr>
      <vt:lpstr>What do we analyze about them?</vt:lpstr>
      <vt:lpstr>Complexity </vt:lpstr>
      <vt:lpstr>RAM model </vt:lpstr>
      <vt:lpstr>The Selection Problem (1/2)</vt:lpstr>
      <vt:lpstr>The Selection Problem(2/2)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305: Algorithms</dc:title>
  <dc:creator>shahriar</dc:creator>
  <cp:lastModifiedBy>Shahriar Rahman</cp:lastModifiedBy>
  <cp:revision>21</cp:revision>
  <dcterms:created xsi:type="dcterms:W3CDTF">2018-06-17T04:08:16Z</dcterms:created>
  <dcterms:modified xsi:type="dcterms:W3CDTF">2022-10-22T04:12:46Z</dcterms:modified>
</cp:coreProperties>
</file>