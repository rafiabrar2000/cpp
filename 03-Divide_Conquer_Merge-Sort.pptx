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6" r:id="rId2"/>
    <p:sldMasterId id="2147483712" r:id="rId3"/>
  </p:sldMasterIdLst>
  <p:notesMasterIdLst>
    <p:notesMasterId r:id="rId19"/>
  </p:notesMasterIdLst>
  <p:handoutMasterIdLst>
    <p:handoutMasterId r:id="rId20"/>
  </p:handoutMasterIdLst>
  <p:sldIdLst>
    <p:sldId id="506" r:id="rId4"/>
    <p:sldId id="554" r:id="rId5"/>
    <p:sldId id="555" r:id="rId6"/>
    <p:sldId id="556" r:id="rId7"/>
    <p:sldId id="557" r:id="rId8"/>
    <p:sldId id="563" r:id="rId9"/>
    <p:sldId id="564" r:id="rId10"/>
    <p:sldId id="565" r:id="rId11"/>
    <p:sldId id="566" r:id="rId12"/>
    <p:sldId id="567" r:id="rId13"/>
    <p:sldId id="568" r:id="rId14"/>
    <p:sldId id="569" r:id="rId15"/>
    <p:sldId id="570" r:id="rId16"/>
    <p:sldId id="571" r:id="rId17"/>
    <p:sldId id="572" r:id="rId18"/>
  </p:sldIdLst>
  <p:sldSz cx="9144000" cy="6858000" type="screen4x3"/>
  <p:notesSz cx="7302500" cy="95885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74F6"/>
    <a:srgbClr val="6289F8"/>
    <a:srgbClr val="8097F8"/>
    <a:srgbClr val="2C61F6"/>
    <a:srgbClr val="F8F0D0"/>
    <a:srgbClr val="F2E4AA"/>
    <a:srgbClr val="FF0066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24" autoAdjust="0"/>
    <p:restoredTop sz="90929"/>
  </p:normalViewPr>
  <p:slideViewPr>
    <p:cSldViewPr snapToObjects="1">
      <p:cViewPr varScale="1">
        <p:scale>
          <a:sx n="74" d="100"/>
          <a:sy n="74" d="100"/>
        </p:scale>
        <p:origin x="107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ableStyles" Target="tableStyle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E7DF56C4-F0CA-4146-8BF1-6AD45A9970DA}" type="datetime8">
              <a:rPr lang="en-US"/>
              <a:pPr>
                <a:defRPr/>
              </a:pPr>
              <a:t>2/2/2023 1:53 PM</a:t>
            </a:fld>
            <a:endParaRPr lang="en-US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EB823950-52CE-4C57-BCD3-BB71D4A557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91532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r>
              <a:rPr lang="en-US"/>
              <a:t>Graphs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38613" y="0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>
            <a:lvl1pPr algn="r" defTabSz="965200">
              <a:defRPr sz="1300">
                <a:cs typeface="+mn-cs"/>
              </a:defRPr>
            </a:lvl1pPr>
          </a:lstStyle>
          <a:p>
            <a:pPr>
              <a:defRPr/>
            </a:pPr>
            <a:fld id="{AFD69BEF-D7B3-4299-88B7-2DA872B4086D}" type="datetime8">
              <a:rPr lang="en-US"/>
              <a:pPr>
                <a:defRPr/>
              </a:pPr>
              <a:t>2/2/2023 1:53 PM</a:t>
            </a:fld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20725"/>
            <a:ext cx="4792662" cy="3594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4538"/>
            <a:ext cx="5356225" cy="431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09075"/>
            <a:ext cx="316388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l" defTabSz="965200">
              <a:defRPr sz="13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38613" y="9109075"/>
            <a:ext cx="316388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509" tIns="48254" rIns="96509" bIns="48254" numCol="1" anchor="b" anchorCtr="0" compatLnSpc="1">
            <a:prstTxWarp prst="textNoShape">
              <a:avLst/>
            </a:prstTxWarp>
          </a:bodyPr>
          <a:lstStyle>
            <a:lvl1pPr algn="r" defTabSz="965200">
              <a:defRPr sz="1300"/>
            </a:lvl1pPr>
          </a:lstStyle>
          <a:p>
            <a:fld id="{C03B9CEE-7B9F-444A-894B-285C686432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3550613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>
                <a:solidFill>
                  <a:srgbClr val="FF6600"/>
                </a:solidFill>
                <a:latin typeface="Arial" charset="0"/>
                <a:cs typeface="+mn-cs"/>
              </a:rPr>
              <a:t>Dr. Md. Abul Kashem Mia, Professor, CSE Dept, BUET</a:t>
            </a:r>
            <a:endParaRPr lang="en-US" sz="900" b="1">
              <a:latin typeface="Arial" charset="0"/>
              <a:cs typeface="+mn-cs"/>
            </a:endParaRPr>
          </a:p>
        </p:txBody>
      </p:sp>
      <p:sp>
        <p:nvSpPr>
          <p:cNvPr id="150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z="4000" b="1">
                <a:latin typeface="Times New Roman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0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843198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56168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194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52513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8178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494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39481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855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5090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2287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920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167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167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6647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7016AC-4A35-43DE-BD3A-3C63A6E5DA7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88064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7616C6-E07C-4970-BE07-3F98C1C85A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3480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96CA97-8FA7-4B50-B24E-8D9366713B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9132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C08381-1C34-4936-AD68-CF3A3BFB9E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300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D1A114-4192-4FCB-B6F9-C54BF474F5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8931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DD027A-FD7B-4F5E-9301-ABF56FA4F7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3195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C385D0-BF15-4261-9581-E13A57A33C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515624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201F895-28A0-4D9E-8388-23B8FC09CEC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0266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C8653A-7397-4A76-AEEA-0D4C6F4E8EE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8935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8FFD50-D8AA-4E2A-A987-942E19DFCA2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60363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5A52867-9FDF-403A-8E01-11A9D0EBA87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27175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399274-6CB1-4A65-9AC6-87DF83B1FBDA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26DED3-8B5D-4F96-8FD5-A67EBED59C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803893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7D4C7-EC72-4EF2-B0F2-952A41C844C3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D6A32D-7835-490C-B2E8-3E742CA46E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472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5940EA-083F-490C-907D-931B7B6DF930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DF2D7E-F908-4D0B-B709-66F903BEA5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07197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A32C54-1477-40CA-A7D8-EAFDCEAAFF66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E46A09-31FB-4B2A-9536-DC435E2CCB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36996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F69E44-B5E5-43A8-A339-F82BD44C00A1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6AE28D-B349-45BE-92EA-10082387CC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130110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F3956-B857-4982-BB30-BA2736CF5A85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5E81C2E-2DF3-41AD-94C4-16A94B7A5DE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650370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42F60A-E1BB-4246-8684-87EAA95AD8A2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3CBF21-B73E-4024-A083-CABE0B111FB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2679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F8A1B9-18D2-44AE-A322-DABF30D993F5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A57279-A746-428C-A68E-6C001FF622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14859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04A925-1BE1-4CF1-A165-531855E3B8FE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415D7A-BD7F-4FB9-8E38-5A838F2A90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39512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DE02AA-A658-4ADB-BC1B-F950504C93F5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65117-A3B5-48D2-A815-A18DADB019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653634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B045A-1DBE-4407-BCBD-F08C0844D085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8AF2BA-3149-49B2-A272-974C785DC16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7095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52513"/>
            <a:ext cx="8229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FF8200"/>
              </a:gs>
              <a:gs pos="10001">
                <a:srgbClr val="FF0000"/>
              </a:gs>
              <a:gs pos="35001">
                <a:srgbClr val="BA0066"/>
              </a:gs>
              <a:gs pos="70000">
                <a:srgbClr val="66008F"/>
              </a:gs>
              <a:gs pos="100000">
                <a:srgbClr val="000082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9509" name="Rectangle 5"/>
          <p:cNvSpPr>
            <a:spLocks noChangeArrowheads="1"/>
          </p:cNvSpPr>
          <p:nvPr/>
        </p:nvSpPr>
        <p:spPr bwMode="auto">
          <a:xfrm>
            <a:off x="4572000" y="836613"/>
            <a:ext cx="4572000" cy="76200"/>
          </a:xfrm>
          <a:prstGeom prst="rect">
            <a:avLst/>
          </a:prstGeom>
          <a:gradFill rotWithShape="0">
            <a:gsLst>
              <a:gs pos="0">
                <a:srgbClr val="000082"/>
              </a:gs>
              <a:gs pos="100000">
                <a:schemeClr val="bg1"/>
              </a:gs>
            </a:gsLst>
            <a:lin ang="0" scaled="1"/>
          </a:gradFill>
          <a:ln w="381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49510" name="Rectangle 6"/>
          <p:cNvSpPr>
            <a:spLocks noChangeArrowheads="1"/>
          </p:cNvSpPr>
          <p:nvPr userDrawn="1"/>
        </p:nvSpPr>
        <p:spPr bwMode="auto">
          <a:xfrm>
            <a:off x="2825750" y="6653213"/>
            <a:ext cx="42672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l" eaLnBrk="0" hangingPunct="0">
              <a:defRPr/>
            </a:pP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Dr. Md.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+mn-cs"/>
              </a:rPr>
              <a:t>Abul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 </a:t>
            </a:r>
            <a:r>
              <a:rPr lang="en-US" sz="1200" b="1" dirty="0" err="1">
                <a:solidFill>
                  <a:srgbClr val="FF6600"/>
                </a:solidFill>
                <a:latin typeface="Arial" charset="0"/>
                <a:cs typeface="+mn-cs"/>
              </a:rPr>
              <a:t>Kashem</a:t>
            </a:r>
            <a:r>
              <a:rPr lang="en-US" sz="1200" b="1" dirty="0">
                <a:solidFill>
                  <a:srgbClr val="FF6600"/>
                </a:solidFill>
                <a:latin typeface="Arial" charset="0"/>
                <a:cs typeface="+mn-cs"/>
              </a:rPr>
              <a:t> Mia, Professor, CSE Dept, BUET</a:t>
            </a:r>
            <a:r>
              <a:rPr lang="en-US" sz="900" b="1" dirty="0">
                <a:latin typeface="Arial" charset="0"/>
                <a:cs typeface="+mn-cs"/>
              </a:rPr>
              <a:t>  	     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Monotype Sorts" pitchFamily="2" charset="2"/>
        <a:buChar char="l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Monotype Sort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u"/>
        <a:defRPr sz="22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CISC 235 Topic 7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fld id="{8AC6E848-0943-46A2-BA03-67E8151F27F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89447" name="Line 7"/>
          <p:cNvSpPr>
            <a:spLocks noChangeShapeType="1"/>
          </p:cNvSpPr>
          <p:nvPr userDrawn="1"/>
        </p:nvSpPr>
        <p:spPr bwMode="auto">
          <a:xfrm>
            <a:off x="468313" y="1484313"/>
            <a:ext cx="8207375" cy="0"/>
          </a:xfrm>
          <a:prstGeom prst="line">
            <a:avLst/>
          </a:prstGeom>
          <a:noFill/>
          <a:ln w="38100">
            <a:solidFill>
              <a:srgbClr val="D60093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89448" name="Line 8"/>
          <p:cNvSpPr>
            <a:spLocks noChangeShapeType="1"/>
          </p:cNvSpPr>
          <p:nvPr userDrawn="1"/>
        </p:nvSpPr>
        <p:spPr bwMode="auto">
          <a:xfrm>
            <a:off x="468313" y="1557338"/>
            <a:ext cx="8207375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  <p:sp>
        <p:nvSpPr>
          <p:cNvPr id="189449" name="Line 9"/>
          <p:cNvSpPr>
            <a:spLocks noChangeShapeType="1"/>
          </p:cNvSpPr>
          <p:nvPr userDrawn="1"/>
        </p:nvSpPr>
        <p:spPr bwMode="auto">
          <a:xfrm>
            <a:off x="468313" y="1412875"/>
            <a:ext cx="8207375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+mj-lt"/>
          <a:ea typeface="MS PGothic" pitchFamily="34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MS PGothic" pitchFamily="34" charset="-128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D60093"/>
          </a:solidFill>
          <a:latin typeface="Arial" charset="0"/>
          <a:ea typeface="ＭＳ Ｐゴシック" pitchFamily="34" charset="-128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accent2"/>
          </a:solidFill>
          <a:latin typeface="+mn-lt"/>
          <a:ea typeface="MS PGothic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MS PGothic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MS PGothic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MS PGothic" pitchFamily="34" charset="-128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128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5135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4101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2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3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4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5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6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7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8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09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0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1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2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3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4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5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6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7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8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19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0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1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2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  <p:grpSp>
            <p:nvGrpSpPr>
              <p:cNvPr id="5136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4124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5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6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7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8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29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0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1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2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3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4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5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6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7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8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39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0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1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2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3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4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5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6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7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8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49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50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51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  <p:sp>
              <p:nvSpPr>
                <p:cNvPr id="4152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>
                    <a:cs typeface="+mn-cs"/>
                  </a:endParaRPr>
                </a:p>
              </p:txBody>
            </p:sp>
          </p:grpSp>
        </p:grpSp>
        <p:sp>
          <p:nvSpPr>
            <p:cNvPr id="415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415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grpSp>
          <p:nvGrpSpPr>
            <p:cNvPr id="5131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415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415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  <p:sp>
            <p:nvSpPr>
              <p:cNvPr id="415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>
                  <a:cs typeface="+mn-cs"/>
                </a:endParaRPr>
              </a:p>
            </p:txBody>
          </p:sp>
        </p:grpSp>
      </p:grpSp>
      <p:sp>
        <p:nvSpPr>
          <p:cNvPr id="5123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124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6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cs typeface="+mn-cs"/>
              </a:defRPr>
            </a:lvl1pPr>
          </a:lstStyle>
          <a:p>
            <a:pPr>
              <a:defRPr/>
            </a:pPr>
            <a:fld id="{E0D64C1C-C838-416A-B98E-FA61C8ED7DE0}" type="datetimeFigureOut">
              <a:rPr lang="en-US"/>
              <a:pPr>
                <a:defRPr/>
              </a:pPr>
              <a:t>2/2/2023</a:t>
            </a:fld>
            <a:endParaRPr lang="en-US"/>
          </a:p>
        </p:txBody>
      </p:sp>
      <p:sp>
        <p:nvSpPr>
          <p:cNvPr id="416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r>
              <a:rPr lang="en-US"/>
              <a:t>Merge Sort</a:t>
            </a:r>
          </a:p>
        </p:txBody>
      </p:sp>
      <p:sp>
        <p:nvSpPr>
          <p:cNvPr id="416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F282DD5-E275-4927-994C-67DCBA20F02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3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14363" y="2130425"/>
            <a:ext cx="7989887" cy="1470025"/>
          </a:xfrm>
        </p:spPr>
        <p:txBody>
          <a:bodyPr/>
          <a:lstStyle/>
          <a:p>
            <a:pPr eaLnBrk="1" hangingPunct="1">
              <a:defRPr/>
            </a:pP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Divide-and-Conquer Technique: </a:t>
            </a:r>
            <a:b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 Sort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Divide-and-Conquer</a:t>
            </a:r>
          </a:p>
        </p:txBody>
      </p:sp>
      <p:sp>
        <p:nvSpPr>
          <p:cNvPr id="8195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50825" y="1171575"/>
            <a:ext cx="5113338" cy="4953000"/>
          </a:xfrm>
        </p:spPr>
        <p:txBody>
          <a:bodyPr lIns="91440" tIns="45720" rIns="91440" bIns="45720"/>
          <a:lstStyle/>
          <a:p>
            <a:pPr eaLnBrk="1" hangingPunct="1">
              <a:lnSpc>
                <a:spcPct val="90000"/>
              </a:lnSpc>
            </a:pPr>
            <a:r>
              <a:rPr lang="en-US" altLang="en-US" sz="2200">
                <a:solidFill>
                  <a:schemeClr val="tx2"/>
                </a:solidFill>
              </a:rPr>
              <a:t>Divide-and-Conquer</a:t>
            </a:r>
            <a:r>
              <a:rPr lang="en-US" altLang="en-US" sz="2200"/>
              <a:t> is a general algorithm design paradigm: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solidFill>
                  <a:schemeClr val="tx2"/>
                </a:solidFill>
              </a:rPr>
              <a:t>Divide</a:t>
            </a:r>
            <a:r>
              <a:rPr lang="en-US" altLang="en-US" sz="2200"/>
              <a:t> the problem into a number of subproblems that are smaller instances of the same problem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solidFill>
                  <a:schemeClr val="tx2"/>
                </a:solidFill>
              </a:rPr>
              <a:t>Conquer</a:t>
            </a:r>
            <a:r>
              <a:rPr lang="en-US" altLang="en-US" sz="2200"/>
              <a:t> the subproblems by solving them recursively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>
                <a:solidFill>
                  <a:schemeClr val="tx2"/>
                </a:solidFill>
              </a:rPr>
              <a:t>Combine</a:t>
            </a:r>
            <a:r>
              <a:rPr lang="en-US" altLang="en-US" sz="2200"/>
              <a:t> the solutions to the subproblems into the solution for the original problem</a:t>
            </a:r>
            <a:endParaRPr lang="en-US" altLang="en-US" sz="2200" b="1" i="1"/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The base case for the recursion are subproblems of constant size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200"/>
              <a:t>Analysis can be done using </a:t>
            </a:r>
            <a:r>
              <a:rPr lang="en-US" altLang="en-US" sz="2200" b="1">
                <a:solidFill>
                  <a:schemeClr val="tx2"/>
                </a:solidFill>
              </a:rPr>
              <a:t>recurrence equations</a:t>
            </a:r>
          </a:p>
        </p:txBody>
      </p:sp>
      <p:grpSp>
        <p:nvGrpSpPr>
          <p:cNvPr id="8196" name="Group 54"/>
          <p:cNvGrpSpPr>
            <a:grpSpLocks/>
          </p:cNvGrpSpPr>
          <p:nvPr/>
        </p:nvGrpSpPr>
        <p:grpSpPr bwMode="auto">
          <a:xfrm>
            <a:off x="5535613" y="2286000"/>
            <a:ext cx="3429000" cy="1676400"/>
            <a:chOff x="3342" y="1584"/>
            <a:chExt cx="1698" cy="816"/>
          </a:xfrm>
        </p:grpSpPr>
        <p:sp>
          <p:nvSpPr>
            <p:cNvPr id="8197" name="Oval 9"/>
            <p:cNvSpPr>
              <a:spLocks noChangeArrowheads="1"/>
            </p:cNvSpPr>
            <p:nvPr/>
          </p:nvSpPr>
          <p:spPr bwMode="auto">
            <a:xfrm>
              <a:off x="4098" y="1584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cxnSp>
          <p:nvCxnSpPr>
            <p:cNvPr id="8198" name="AutoShape 16"/>
            <p:cNvCxnSpPr>
              <a:cxnSpLocks noChangeShapeType="1"/>
              <a:stCxn id="8202" idx="7"/>
              <a:endCxn id="8197" idx="3"/>
            </p:cNvCxnSpPr>
            <p:nvPr/>
          </p:nvCxnSpPr>
          <p:spPr bwMode="auto">
            <a:xfrm flipV="1">
              <a:off x="3688" y="1772"/>
              <a:ext cx="441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9" name="AutoShape 17"/>
            <p:cNvCxnSpPr>
              <a:cxnSpLocks noChangeShapeType="1"/>
              <a:stCxn id="8209" idx="0"/>
              <a:endCxn id="8197" idx="4"/>
            </p:cNvCxnSpPr>
            <p:nvPr/>
          </p:nvCxnSpPr>
          <p:spPr bwMode="auto">
            <a:xfrm flipV="1">
              <a:off x="4198" y="1803"/>
              <a:ext cx="7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0" name="AutoShape 18"/>
            <p:cNvCxnSpPr>
              <a:cxnSpLocks noChangeShapeType="1"/>
              <a:stCxn id="8203" idx="0"/>
              <a:endCxn id="8202" idx="4"/>
            </p:cNvCxnSpPr>
            <p:nvPr/>
          </p:nvCxnSpPr>
          <p:spPr bwMode="auto">
            <a:xfrm flipV="1">
              <a:off x="3611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1" name="AutoShape 19"/>
            <p:cNvCxnSpPr>
              <a:cxnSpLocks noChangeShapeType="1"/>
              <a:stCxn id="8204" idx="0"/>
              <a:endCxn id="8202" idx="3"/>
            </p:cNvCxnSpPr>
            <p:nvPr/>
          </p:nvCxnSpPr>
          <p:spPr bwMode="auto">
            <a:xfrm flipV="1">
              <a:off x="3419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2" name="Oval 24"/>
            <p:cNvSpPr>
              <a:spLocks noChangeArrowheads="1"/>
            </p:cNvSpPr>
            <p:nvPr/>
          </p:nvSpPr>
          <p:spPr bwMode="auto">
            <a:xfrm>
              <a:off x="3506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03" name="Rectangle 31"/>
            <p:cNvSpPr>
              <a:spLocks noChangeAspect="1" noChangeArrowheads="1"/>
            </p:cNvSpPr>
            <p:nvPr/>
          </p:nvSpPr>
          <p:spPr bwMode="auto">
            <a:xfrm>
              <a:off x="3534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4" name="Rectangle 36"/>
            <p:cNvSpPr>
              <a:spLocks noChangeAspect="1" noChangeArrowheads="1"/>
            </p:cNvSpPr>
            <p:nvPr/>
          </p:nvSpPr>
          <p:spPr bwMode="auto">
            <a:xfrm>
              <a:off x="3342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05" name="Rectangle 37"/>
            <p:cNvSpPr>
              <a:spLocks noChangeAspect="1" noChangeArrowheads="1"/>
            </p:cNvSpPr>
            <p:nvPr/>
          </p:nvSpPr>
          <p:spPr bwMode="auto">
            <a:xfrm>
              <a:off x="3726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8206" name="AutoShape 38"/>
            <p:cNvCxnSpPr>
              <a:cxnSpLocks noChangeShapeType="1"/>
              <a:stCxn id="8205" idx="0"/>
              <a:endCxn id="8202" idx="5"/>
            </p:cNvCxnSpPr>
            <p:nvPr/>
          </p:nvCxnSpPr>
          <p:spPr bwMode="auto">
            <a:xfrm flipH="1" flipV="1">
              <a:off x="3688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7" name="AutoShape 39"/>
            <p:cNvCxnSpPr>
              <a:cxnSpLocks noChangeShapeType="1"/>
              <a:stCxn id="8210" idx="0"/>
              <a:endCxn id="8209" idx="4"/>
            </p:cNvCxnSpPr>
            <p:nvPr/>
          </p:nvCxnSpPr>
          <p:spPr bwMode="auto">
            <a:xfrm flipV="1">
              <a:off x="4196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08" name="AutoShape 40"/>
            <p:cNvCxnSpPr>
              <a:cxnSpLocks noChangeShapeType="1"/>
              <a:stCxn id="8211" idx="0"/>
              <a:endCxn id="8209" idx="3"/>
            </p:cNvCxnSpPr>
            <p:nvPr/>
          </p:nvCxnSpPr>
          <p:spPr bwMode="auto">
            <a:xfrm flipV="1">
              <a:off x="4004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09" name="Oval 41"/>
            <p:cNvSpPr>
              <a:spLocks noChangeArrowheads="1"/>
            </p:cNvSpPr>
            <p:nvPr/>
          </p:nvSpPr>
          <p:spPr bwMode="auto">
            <a:xfrm>
              <a:off x="4091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10" name="Rectangle 42"/>
            <p:cNvSpPr>
              <a:spLocks noChangeAspect="1" noChangeArrowheads="1"/>
            </p:cNvSpPr>
            <p:nvPr/>
          </p:nvSpPr>
          <p:spPr bwMode="auto">
            <a:xfrm>
              <a:off x="4119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1" name="Rectangle 43"/>
            <p:cNvSpPr>
              <a:spLocks noChangeAspect="1" noChangeArrowheads="1"/>
            </p:cNvSpPr>
            <p:nvPr/>
          </p:nvSpPr>
          <p:spPr bwMode="auto">
            <a:xfrm>
              <a:off x="392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2" name="Rectangle 44"/>
            <p:cNvSpPr>
              <a:spLocks noChangeAspect="1" noChangeArrowheads="1"/>
            </p:cNvSpPr>
            <p:nvPr/>
          </p:nvSpPr>
          <p:spPr bwMode="auto">
            <a:xfrm>
              <a:off x="4311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8213" name="AutoShape 45"/>
            <p:cNvCxnSpPr>
              <a:cxnSpLocks noChangeShapeType="1"/>
              <a:stCxn id="8212" idx="0"/>
              <a:endCxn id="8209" idx="5"/>
            </p:cNvCxnSpPr>
            <p:nvPr/>
          </p:nvCxnSpPr>
          <p:spPr bwMode="auto">
            <a:xfrm flipH="1" flipV="1">
              <a:off x="4273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4" name="AutoShape 46"/>
            <p:cNvCxnSpPr>
              <a:cxnSpLocks noChangeShapeType="1"/>
              <a:stCxn id="8217" idx="0"/>
              <a:endCxn id="8216" idx="4"/>
            </p:cNvCxnSpPr>
            <p:nvPr/>
          </p:nvCxnSpPr>
          <p:spPr bwMode="auto">
            <a:xfrm flipV="1">
              <a:off x="4772" y="2150"/>
              <a:ext cx="2" cy="91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15" name="AutoShape 47"/>
            <p:cNvCxnSpPr>
              <a:cxnSpLocks noChangeShapeType="1"/>
              <a:stCxn id="8218" idx="0"/>
              <a:endCxn id="8216" idx="3"/>
            </p:cNvCxnSpPr>
            <p:nvPr/>
          </p:nvCxnSpPr>
          <p:spPr bwMode="auto">
            <a:xfrm flipV="1">
              <a:off x="4580" y="2119"/>
              <a:ext cx="118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216" name="Oval 48"/>
            <p:cNvSpPr>
              <a:spLocks noChangeArrowheads="1"/>
            </p:cNvSpPr>
            <p:nvPr/>
          </p:nvSpPr>
          <p:spPr bwMode="auto">
            <a:xfrm>
              <a:off x="4667" y="1931"/>
              <a:ext cx="213" cy="213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0" tIns="0" rIns="0" anchor="ctr" anchorCtr="1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000"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8217" name="Rectangle 49"/>
            <p:cNvSpPr>
              <a:spLocks noChangeAspect="1" noChangeArrowheads="1"/>
            </p:cNvSpPr>
            <p:nvPr/>
          </p:nvSpPr>
          <p:spPr bwMode="auto">
            <a:xfrm>
              <a:off x="4695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8" name="Rectangle 50"/>
            <p:cNvSpPr>
              <a:spLocks noChangeAspect="1" noChangeArrowheads="1"/>
            </p:cNvSpPr>
            <p:nvPr/>
          </p:nvSpPr>
          <p:spPr bwMode="auto">
            <a:xfrm>
              <a:off x="4503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219" name="Rectangle 51"/>
            <p:cNvSpPr>
              <a:spLocks noChangeAspect="1" noChangeArrowheads="1"/>
            </p:cNvSpPr>
            <p:nvPr/>
          </p:nvSpPr>
          <p:spPr bwMode="auto">
            <a:xfrm>
              <a:off x="4887" y="2247"/>
              <a:ext cx="153" cy="153"/>
            </a:xfrm>
            <a:prstGeom prst="rect">
              <a:avLst/>
            </a:prstGeom>
            <a:solidFill>
              <a:schemeClr val="folHlink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cxnSp>
          <p:nvCxnSpPr>
            <p:cNvPr id="8220" name="AutoShape 52"/>
            <p:cNvCxnSpPr>
              <a:cxnSpLocks noChangeShapeType="1"/>
              <a:stCxn id="8219" idx="0"/>
              <a:endCxn id="8216" idx="5"/>
            </p:cNvCxnSpPr>
            <p:nvPr/>
          </p:nvCxnSpPr>
          <p:spPr bwMode="auto">
            <a:xfrm flipH="1" flipV="1">
              <a:off x="4849" y="2119"/>
              <a:ext cx="115" cy="122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21" name="AutoShape 53"/>
            <p:cNvCxnSpPr>
              <a:cxnSpLocks noChangeShapeType="1"/>
              <a:stCxn id="8197" idx="5"/>
              <a:endCxn id="8216" idx="1"/>
            </p:cNvCxnSpPr>
            <p:nvPr/>
          </p:nvCxnSpPr>
          <p:spPr bwMode="auto">
            <a:xfrm>
              <a:off x="4280" y="1772"/>
              <a:ext cx="418" cy="184"/>
            </a:xfrm>
            <a:prstGeom prst="straightConnector1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Date Placeholder 3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 Sort and Quick Sort</a:t>
            </a:r>
          </a:p>
        </p:txBody>
      </p:sp>
      <p:sp>
        <p:nvSpPr>
          <p:cNvPr id="922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468313" y="1196975"/>
            <a:ext cx="8218487" cy="5051425"/>
          </a:xfrm>
        </p:spPr>
        <p:txBody>
          <a:bodyPr lIns="91440" tIns="45720" rIns="91440" bIns="45720"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400" dirty="0"/>
              <a:t>Two well-known sorting algorithms adopt this divide-and-conquer strategy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 dirty="0">
              <a:solidFill>
                <a:schemeClr val="accent1"/>
              </a:solidFill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>
                <a:solidFill>
                  <a:schemeClr val="accent1"/>
                </a:solidFill>
              </a:rPr>
              <a:t>Merge sort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Divide step is trivial – just split the list into two equal parts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Work is carried out in the conquer step by merging two </a:t>
            </a:r>
            <a:r>
              <a:rPr lang="en-US" altLang="en-US"/>
              <a:t>sorted lists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Date Placeholder 3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400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 Sort: Algorithm</a:t>
            </a:r>
          </a:p>
        </p:txBody>
      </p:sp>
      <p:pic>
        <p:nvPicPr>
          <p:cNvPr id="10244" name="Picture 5" descr="merge_sort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460500"/>
            <a:ext cx="67373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Date Placeholder 3"/>
          <p:cNvSpPr txBox="1">
            <a:spLocks noGrp="1"/>
          </p:cNvSpPr>
          <p:nvPr/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/>
            <a:endParaRPr lang="en-US" altLang="en-US" sz="1400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lIns="91440" tIns="45720" rIns="91440" bIns="45720" anchor="b"/>
          <a:lstStyle/>
          <a:p>
            <a:pPr eaLnBrk="1" hangingPunct="1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Merge Sort: Algorithm</a:t>
            </a:r>
          </a:p>
        </p:txBody>
      </p:sp>
      <p:pic>
        <p:nvPicPr>
          <p:cNvPr id="11268" name="Picture 5" descr="merge_sor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052736"/>
            <a:ext cx="5581650" cy="558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13315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D1B854D8-FB66-4939-A78A-EBF2B5FD7297}" type="slidenum">
              <a:rPr lang="en-US" altLang="en-US" sz="1400"/>
              <a:pPr algn="r" eaLnBrk="1" hangingPunct="1"/>
              <a:t>6</a:t>
            </a:fld>
            <a:endParaRPr lang="en-US" altLang="en-US" sz="1400"/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" y="447675"/>
            <a:ext cx="7772400" cy="55245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 Example</a:t>
            </a:r>
          </a:p>
        </p:txBody>
      </p:sp>
      <p:sp>
        <p:nvSpPr>
          <p:cNvPr id="1331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7620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Partition</a:t>
            </a:r>
          </a:p>
        </p:txBody>
      </p:sp>
      <p:cxnSp>
        <p:nvCxnSpPr>
          <p:cNvPr id="13318" name="AutoShape 4"/>
          <p:cNvCxnSpPr>
            <a:cxnSpLocks noChangeShapeType="1"/>
            <a:stCxn id="13344" idx="0"/>
            <a:endCxn id="13348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19" name="AutoShape 5"/>
          <p:cNvCxnSpPr>
            <a:cxnSpLocks noChangeShapeType="1"/>
            <a:stCxn id="13345" idx="0"/>
            <a:endCxn id="13348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0" name="AutoShape 6"/>
          <p:cNvCxnSpPr>
            <a:cxnSpLocks noChangeShapeType="1"/>
            <a:stCxn id="13336" idx="0"/>
            <a:endCxn id="13344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1" name="AutoShape 7"/>
          <p:cNvCxnSpPr>
            <a:cxnSpLocks noChangeShapeType="1"/>
            <a:stCxn id="13338" idx="0"/>
            <a:endCxn id="13345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2" name="AutoShape 8"/>
          <p:cNvCxnSpPr>
            <a:cxnSpLocks noChangeShapeType="1"/>
            <a:stCxn id="13344" idx="2"/>
            <a:endCxn id="13337" idx="0"/>
          </p:cNvCxnSpPr>
          <p:nvPr/>
        </p:nvCxnSpPr>
        <p:spPr bwMode="auto">
          <a:xfrm>
            <a:off x="1436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3" name="AutoShape 9"/>
          <p:cNvCxnSpPr>
            <a:cxnSpLocks noChangeShapeType="1"/>
            <a:stCxn id="13345" idx="2"/>
            <a:endCxn id="13339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3324" name="Group 10"/>
          <p:cNvGrpSpPr>
            <a:grpSpLocks/>
          </p:cNvGrpSpPr>
          <p:nvPr/>
        </p:nvGrpSpPr>
        <p:grpSpPr bwMode="auto">
          <a:xfrm>
            <a:off x="1223963" y="3617913"/>
            <a:ext cx="6981825" cy="427037"/>
            <a:chOff x="771" y="2764"/>
            <a:chExt cx="4398" cy="269"/>
          </a:xfrm>
        </p:grpSpPr>
        <p:sp>
          <p:nvSpPr>
            <p:cNvPr id="13348" name="AutoShape 11"/>
            <p:cNvSpPr>
              <a:spLocks noChangeArrowheads="1"/>
            </p:cNvSpPr>
            <p:nvPr/>
          </p:nvSpPr>
          <p:spPr bwMode="auto">
            <a:xfrm>
              <a:off x="771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7  2  9  4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2  4  7  9</a:t>
              </a:r>
            </a:p>
          </p:txBody>
        </p:sp>
        <p:sp>
          <p:nvSpPr>
            <p:cNvPr id="13349" name="AutoShape 12"/>
            <p:cNvSpPr>
              <a:spLocks noChangeArrowheads="1"/>
            </p:cNvSpPr>
            <p:nvPr/>
          </p:nvSpPr>
          <p:spPr bwMode="auto">
            <a:xfrm>
              <a:off x="3555" y="2764"/>
              <a:ext cx="161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3  8  6  1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1  3  8  6</a:t>
              </a:r>
            </a:p>
          </p:txBody>
        </p:sp>
      </p:grpSp>
      <p:grpSp>
        <p:nvGrpSpPr>
          <p:cNvPr id="13325" name="Group 13"/>
          <p:cNvGrpSpPr>
            <a:grpSpLocks/>
          </p:cNvGrpSpPr>
          <p:nvPr/>
        </p:nvGrpSpPr>
        <p:grpSpPr bwMode="auto"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13344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7  2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2  7</a:t>
              </a:r>
            </a:p>
          </p:txBody>
        </p:sp>
        <p:sp>
          <p:nvSpPr>
            <p:cNvPr id="13345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9  4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4  9</a:t>
              </a:r>
            </a:p>
          </p:txBody>
        </p:sp>
        <p:sp>
          <p:nvSpPr>
            <p:cNvPr id="13346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3  8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3  8</a:t>
              </a:r>
            </a:p>
          </p:txBody>
        </p:sp>
        <p:sp>
          <p:nvSpPr>
            <p:cNvPr id="13347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6  1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1  6</a:t>
              </a:r>
            </a:p>
          </p:txBody>
        </p:sp>
      </p:grpSp>
      <p:grpSp>
        <p:nvGrpSpPr>
          <p:cNvPr id="13326" name="Group 18"/>
          <p:cNvGrpSpPr>
            <a:grpSpLocks/>
          </p:cNvGrpSpPr>
          <p:nvPr/>
        </p:nvGrpSpPr>
        <p:grpSpPr bwMode="auto"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13336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7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13337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2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3338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9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3339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4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3340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3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3341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8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3342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6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3343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1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3327" name="AutoShape 27"/>
          <p:cNvCxnSpPr>
            <a:cxnSpLocks noChangeShapeType="1"/>
            <a:stCxn id="13346" idx="0"/>
            <a:endCxn id="13349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8" name="AutoShape 28"/>
          <p:cNvCxnSpPr>
            <a:cxnSpLocks noChangeShapeType="1"/>
            <a:stCxn id="13347" idx="0"/>
            <a:endCxn id="13349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29" name="AutoShape 29"/>
          <p:cNvCxnSpPr>
            <a:cxnSpLocks noChangeShapeType="1"/>
            <a:stCxn id="13340" idx="0"/>
            <a:endCxn id="13346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0" name="AutoShape 30"/>
          <p:cNvCxnSpPr>
            <a:cxnSpLocks noChangeShapeType="1"/>
            <a:stCxn id="13342" idx="0"/>
            <a:endCxn id="13347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1" name="AutoShape 31"/>
          <p:cNvCxnSpPr>
            <a:cxnSpLocks noChangeShapeType="1"/>
            <a:stCxn id="13346" idx="2"/>
            <a:endCxn id="13341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2" name="AutoShape 32"/>
          <p:cNvCxnSpPr>
            <a:cxnSpLocks noChangeShapeType="1"/>
            <a:stCxn id="13347" idx="2"/>
            <a:endCxn id="13343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333" name="AutoShape 33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13334" name="AutoShape 34"/>
          <p:cNvCxnSpPr>
            <a:cxnSpLocks noChangeShapeType="1"/>
            <a:stCxn id="13348" idx="0"/>
            <a:endCxn id="13333" idx="2"/>
          </p:cNvCxnSpPr>
          <p:nvPr/>
        </p:nvCxnSpPr>
        <p:spPr bwMode="auto">
          <a:xfrm flipV="1">
            <a:off x="2505075" y="3040063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335" name="AutoShape 35"/>
          <p:cNvCxnSpPr>
            <a:cxnSpLocks noChangeShapeType="1"/>
            <a:stCxn id="13349" idx="0"/>
            <a:endCxn id="13333" idx="2"/>
          </p:cNvCxnSpPr>
          <p:nvPr/>
        </p:nvCxnSpPr>
        <p:spPr bwMode="auto">
          <a:xfrm flipH="1" flipV="1">
            <a:off x="4724400" y="3040063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14339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53AB3373-530F-4D55-9BF7-A11977EF89E1}" type="slidenum">
              <a:rPr lang="en-US" altLang="en-US" sz="1400"/>
              <a:pPr algn="r" eaLnBrk="1" hangingPunct="1"/>
              <a:t>7</a:t>
            </a:fld>
            <a:endParaRPr lang="en-US" altLang="en-US" sz="1400"/>
          </a:p>
        </p:txBody>
      </p:sp>
      <p:sp>
        <p:nvSpPr>
          <p:cNvPr id="1434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Recursive call, partition</a:t>
            </a:r>
          </a:p>
        </p:txBody>
      </p:sp>
      <p:cxnSp>
        <p:nvCxnSpPr>
          <p:cNvPr id="14341" name="AutoShape 4"/>
          <p:cNvCxnSpPr>
            <a:cxnSpLocks noChangeShapeType="1"/>
            <a:stCxn id="14370" idx="0"/>
            <a:endCxn id="14347" idx="2"/>
          </p:cNvCxnSpPr>
          <p:nvPr/>
        </p:nvCxnSpPr>
        <p:spPr bwMode="auto">
          <a:xfrm flipV="1">
            <a:off x="1436688" y="4064000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2" name="AutoShape 5"/>
          <p:cNvCxnSpPr>
            <a:cxnSpLocks noChangeShapeType="1"/>
            <a:stCxn id="14371" idx="0"/>
            <a:endCxn id="14347" idx="2"/>
          </p:cNvCxnSpPr>
          <p:nvPr/>
        </p:nvCxnSpPr>
        <p:spPr bwMode="auto">
          <a:xfrm flipH="1" flipV="1">
            <a:off x="2505075" y="4064000"/>
            <a:ext cx="10668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3" name="AutoShape 6"/>
          <p:cNvCxnSpPr>
            <a:cxnSpLocks noChangeShapeType="1"/>
            <a:stCxn id="14362" idx="0"/>
            <a:endCxn id="14370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4" name="AutoShape 7"/>
          <p:cNvCxnSpPr>
            <a:cxnSpLocks noChangeShapeType="1"/>
            <a:stCxn id="14364" idx="0"/>
            <a:endCxn id="14371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5" name="AutoShape 8"/>
          <p:cNvCxnSpPr>
            <a:cxnSpLocks noChangeShapeType="1"/>
            <a:stCxn id="14370" idx="2"/>
            <a:endCxn id="14363" idx="0"/>
          </p:cNvCxnSpPr>
          <p:nvPr/>
        </p:nvCxnSpPr>
        <p:spPr bwMode="auto">
          <a:xfrm>
            <a:off x="1436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46" name="AutoShape 9"/>
          <p:cNvCxnSpPr>
            <a:cxnSpLocks noChangeShapeType="1"/>
            <a:stCxn id="14371" idx="2"/>
            <a:endCxn id="14365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47" name="AutoShape 11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14348" name="AutoShape 12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1  3  8  6</a:t>
            </a:r>
          </a:p>
        </p:txBody>
      </p:sp>
      <p:grpSp>
        <p:nvGrpSpPr>
          <p:cNvPr id="14349" name="Group 13"/>
          <p:cNvGrpSpPr>
            <a:grpSpLocks/>
          </p:cNvGrpSpPr>
          <p:nvPr/>
        </p:nvGrpSpPr>
        <p:grpSpPr bwMode="auto"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14370" name="AutoShape 14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7  2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2  7</a:t>
              </a:r>
            </a:p>
          </p:txBody>
        </p:sp>
        <p:sp>
          <p:nvSpPr>
            <p:cNvPr id="14371" name="AutoShape 15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9  4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4  9</a:t>
              </a:r>
            </a:p>
          </p:txBody>
        </p:sp>
        <p:sp>
          <p:nvSpPr>
            <p:cNvPr id="14372" name="AutoShape 16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3  8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3  8</a:t>
              </a:r>
            </a:p>
          </p:txBody>
        </p:sp>
        <p:sp>
          <p:nvSpPr>
            <p:cNvPr id="14373" name="AutoShape 17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6  1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1  6</a:t>
              </a:r>
            </a:p>
          </p:txBody>
        </p:sp>
      </p:grpSp>
      <p:grpSp>
        <p:nvGrpSpPr>
          <p:cNvPr id="14350" name="Group 18"/>
          <p:cNvGrpSpPr>
            <a:grpSpLocks/>
          </p:cNvGrpSpPr>
          <p:nvPr/>
        </p:nvGrpSpPr>
        <p:grpSpPr bwMode="auto"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14362" name="AutoShape 19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7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14363" name="AutoShape 20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2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4364" name="AutoShape 21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9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4365" name="AutoShape 22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4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4366" name="AutoShape 23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3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4367" name="AutoShape 24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8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4368" name="AutoShape 25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6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4369" name="AutoShape 26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1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4351" name="AutoShape 27"/>
          <p:cNvCxnSpPr>
            <a:cxnSpLocks noChangeShapeType="1"/>
            <a:stCxn id="14372" idx="0"/>
            <a:endCxn id="14348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2" name="AutoShape 28"/>
          <p:cNvCxnSpPr>
            <a:cxnSpLocks noChangeShapeType="1"/>
            <a:stCxn id="14373" idx="0"/>
            <a:endCxn id="14348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3" name="AutoShape 29"/>
          <p:cNvCxnSpPr>
            <a:cxnSpLocks noChangeShapeType="1"/>
            <a:stCxn id="14366" idx="0"/>
            <a:endCxn id="14372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4" name="AutoShape 30"/>
          <p:cNvCxnSpPr>
            <a:cxnSpLocks noChangeShapeType="1"/>
            <a:stCxn id="14368" idx="0"/>
            <a:endCxn id="14373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5" name="AutoShape 31"/>
          <p:cNvCxnSpPr>
            <a:cxnSpLocks noChangeShapeType="1"/>
            <a:stCxn id="14372" idx="2"/>
            <a:endCxn id="14367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6" name="AutoShape 32"/>
          <p:cNvCxnSpPr>
            <a:cxnSpLocks noChangeShapeType="1"/>
            <a:stCxn id="14373" idx="2"/>
            <a:endCxn id="14369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57" name="AutoShape 33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14358" name="AutoShape 34"/>
          <p:cNvCxnSpPr>
            <a:cxnSpLocks noChangeShapeType="1"/>
            <a:stCxn id="14347" idx="0"/>
            <a:endCxn id="14357" idx="2"/>
          </p:cNvCxnSpPr>
          <p:nvPr/>
        </p:nvCxnSpPr>
        <p:spPr bwMode="auto">
          <a:xfrm flipV="1">
            <a:off x="2505075" y="3030538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359" name="AutoShape 35"/>
          <p:cNvCxnSpPr>
            <a:cxnSpLocks noChangeShapeType="1"/>
            <a:stCxn id="14348" idx="0"/>
            <a:endCxn id="14357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360" name="Line 37"/>
          <p:cNvSpPr>
            <a:spLocks noChangeShapeType="1"/>
          </p:cNvSpPr>
          <p:nvPr/>
        </p:nvSpPr>
        <p:spPr bwMode="auto">
          <a:xfrm flipH="1">
            <a:off x="2438400" y="3200400"/>
            <a:ext cx="533400" cy="152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15363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B94E9924-F4E4-4F13-8126-9A8291D2B2FD}" type="slidenum">
              <a:rPr lang="en-US" altLang="en-US" sz="1400"/>
              <a:pPr algn="r" eaLnBrk="1" hangingPunct="1"/>
              <a:t>8</a:t>
            </a:fld>
            <a:endParaRPr lang="en-US" altLang="en-US" sz="1400"/>
          </a:p>
        </p:txBody>
      </p:sp>
      <p:sp>
        <p:nvSpPr>
          <p:cNvPr id="153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Recursive call, partition</a:t>
            </a:r>
          </a:p>
        </p:txBody>
      </p:sp>
      <p:cxnSp>
        <p:nvCxnSpPr>
          <p:cNvPr id="15365" name="AutoShape 4"/>
          <p:cNvCxnSpPr>
            <a:cxnSpLocks noChangeShapeType="1"/>
            <a:stCxn id="15373" idx="0"/>
            <a:endCxn id="15371" idx="2"/>
          </p:cNvCxnSpPr>
          <p:nvPr/>
        </p:nvCxnSpPr>
        <p:spPr bwMode="auto">
          <a:xfrm flipV="1">
            <a:off x="1436688" y="4054475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6" name="AutoShape 5"/>
          <p:cNvCxnSpPr>
            <a:cxnSpLocks noChangeShapeType="1"/>
            <a:stCxn id="15374" idx="0"/>
            <a:endCxn id="15371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7" name="AutoShape 6"/>
          <p:cNvCxnSpPr>
            <a:cxnSpLocks noChangeShapeType="1"/>
            <a:stCxn id="15389" idx="0"/>
            <a:endCxn id="15373" idx="2"/>
          </p:cNvCxnSpPr>
          <p:nvPr/>
        </p:nvCxnSpPr>
        <p:spPr bwMode="auto">
          <a:xfrm flipV="1">
            <a:off x="969963" y="5089525"/>
            <a:ext cx="4667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8" name="AutoShape 7"/>
          <p:cNvCxnSpPr>
            <a:cxnSpLocks noChangeShapeType="1"/>
            <a:stCxn id="15391" idx="0"/>
            <a:endCxn id="15374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9" name="AutoShape 8"/>
          <p:cNvCxnSpPr>
            <a:cxnSpLocks noChangeShapeType="1"/>
            <a:stCxn id="15373" idx="2"/>
            <a:endCxn id="15390" idx="0"/>
          </p:cNvCxnSpPr>
          <p:nvPr/>
        </p:nvCxnSpPr>
        <p:spPr bwMode="auto">
          <a:xfrm>
            <a:off x="1436688" y="5089525"/>
            <a:ext cx="5080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0" name="AutoShape 9"/>
          <p:cNvCxnSpPr>
            <a:cxnSpLocks noChangeShapeType="1"/>
            <a:stCxn id="15374" idx="2"/>
            <a:endCxn id="15392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71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15372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15373" name="AutoShape 13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2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2  7</a:t>
            </a:r>
          </a:p>
        </p:txBody>
      </p:sp>
      <p:sp>
        <p:nvSpPr>
          <p:cNvPr id="15374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9  4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4  9</a:t>
            </a:r>
          </a:p>
        </p:txBody>
      </p:sp>
      <p:sp>
        <p:nvSpPr>
          <p:cNvPr id="15375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15376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1  6</a:t>
            </a:r>
          </a:p>
        </p:txBody>
      </p:sp>
      <p:grpSp>
        <p:nvGrpSpPr>
          <p:cNvPr id="15377" name="Group 17"/>
          <p:cNvGrpSpPr>
            <a:grpSpLocks/>
          </p:cNvGrpSpPr>
          <p:nvPr/>
        </p:nvGrpSpPr>
        <p:grpSpPr bwMode="auto">
          <a:xfrm>
            <a:off x="609600" y="5668963"/>
            <a:ext cx="8229600" cy="427037"/>
            <a:chOff x="384" y="3571"/>
            <a:chExt cx="5184" cy="269"/>
          </a:xfrm>
        </p:grpSpPr>
        <p:sp>
          <p:nvSpPr>
            <p:cNvPr id="15389" name="AutoShape 18"/>
            <p:cNvSpPr>
              <a:spLocks noChangeArrowheads="1"/>
            </p:cNvSpPr>
            <p:nvPr/>
          </p:nvSpPr>
          <p:spPr bwMode="auto">
            <a:xfrm>
              <a:off x="384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7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7</a:t>
              </a:r>
            </a:p>
          </p:txBody>
        </p:sp>
        <p:sp>
          <p:nvSpPr>
            <p:cNvPr id="15390" name="AutoShape 19"/>
            <p:cNvSpPr>
              <a:spLocks noChangeArrowheads="1"/>
            </p:cNvSpPr>
            <p:nvPr/>
          </p:nvSpPr>
          <p:spPr bwMode="auto">
            <a:xfrm>
              <a:off x="1006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2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2</a:t>
              </a:r>
            </a:p>
          </p:txBody>
        </p:sp>
        <p:sp>
          <p:nvSpPr>
            <p:cNvPr id="15391" name="AutoShape 20"/>
            <p:cNvSpPr>
              <a:spLocks noChangeArrowheads="1"/>
            </p:cNvSpPr>
            <p:nvPr/>
          </p:nvSpPr>
          <p:spPr bwMode="auto">
            <a:xfrm>
              <a:off x="1725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9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9</a:t>
              </a:r>
            </a:p>
          </p:txBody>
        </p:sp>
        <p:sp>
          <p:nvSpPr>
            <p:cNvPr id="15392" name="AutoShape 21"/>
            <p:cNvSpPr>
              <a:spLocks noChangeArrowheads="1"/>
            </p:cNvSpPr>
            <p:nvPr/>
          </p:nvSpPr>
          <p:spPr bwMode="auto">
            <a:xfrm>
              <a:off x="2351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4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4</a:t>
              </a:r>
            </a:p>
          </p:txBody>
        </p:sp>
        <p:sp>
          <p:nvSpPr>
            <p:cNvPr id="15393" name="AutoShape 22"/>
            <p:cNvSpPr>
              <a:spLocks noChangeArrowheads="1"/>
            </p:cNvSpPr>
            <p:nvPr/>
          </p:nvSpPr>
          <p:spPr bwMode="auto">
            <a:xfrm>
              <a:off x="3168" y="3571"/>
              <a:ext cx="454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3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3</a:t>
              </a:r>
            </a:p>
          </p:txBody>
        </p:sp>
        <p:sp>
          <p:nvSpPr>
            <p:cNvPr id="15394" name="AutoShape 23"/>
            <p:cNvSpPr>
              <a:spLocks noChangeArrowheads="1"/>
            </p:cNvSpPr>
            <p:nvPr/>
          </p:nvSpPr>
          <p:spPr bwMode="auto">
            <a:xfrm>
              <a:off x="3790" y="3571"/>
              <a:ext cx="437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8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8</a:t>
              </a:r>
            </a:p>
          </p:txBody>
        </p:sp>
        <p:sp>
          <p:nvSpPr>
            <p:cNvPr id="15395" name="AutoShape 24"/>
            <p:cNvSpPr>
              <a:spLocks noChangeArrowheads="1"/>
            </p:cNvSpPr>
            <p:nvPr/>
          </p:nvSpPr>
          <p:spPr bwMode="auto">
            <a:xfrm>
              <a:off x="4509" y="3571"/>
              <a:ext cx="445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6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6</a:t>
              </a:r>
            </a:p>
          </p:txBody>
        </p:sp>
        <p:sp>
          <p:nvSpPr>
            <p:cNvPr id="15396" name="AutoShape 25"/>
            <p:cNvSpPr>
              <a:spLocks noChangeArrowheads="1"/>
            </p:cNvSpPr>
            <p:nvPr/>
          </p:nvSpPr>
          <p:spPr bwMode="auto">
            <a:xfrm>
              <a:off x="5135" y="3571"/>
              <a:ext cx="433" cy="269"/>
            </a:xfrm>
            <a:prstGeom prst="roundRect">
              <a:avLst>
                <a:gd name="adj" fmla="val 16667"/>
              </a:avLst>
            </a:prstGeom>
            <a:solidFill>
              <a:schemeClr val="folHlink"/>
            </a:solidFill>
            <a:ln w="19050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folHlink"/>
                  </a:solidFill>
                </a:rPr>
                <a:t>1 </a:t>
              </a:r>
              <a:r>
                <a:rPr lang="en-US" altLang="en-US" sz="1800" b="1">
                  <a:solidFill>
                    <a:schemeClr val="folHlink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folHlink"/>
                  </a:solidFill>
                </a:rPr>
                <a:t> 1</a:t>
              </a:r>
            </a:p>
          </p:txBody>
        </p:sp>
      </p:grpSp>
      <p:cxnSp>
        <p:nvCxnSpPr>
          <p:cNvPr id="15378" name="AutoShape 26"/>
          <p:cNvCxnSpPr>
            <a:cxnSpLocks noChangeShapeType="1"/>
            <a:stCxn id="15375" idx="0"/>
            <a:endCxn id="15372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79" name="AutoShape 27"/>
          <p:cNvCxnSpPr>
            <a:cxnSpLocks noChangeShapeType="1"/>
            <a:stCxn id="15376" idx="0"/>
            <a:endCxn id="15372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0" name="AutoShape 28"/>
          <p:cNvCxnSpPr>
            <a:cxnSpLocks noChangeShapeType="1"/>
            <a:stCxn id="15393" idx="0"/>
            <a:endCxn id="15375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1" name="AutoShape 29"/>
          <p:cNvCxnSpPr>
            <a:cxnSpLocks noChangeShapeType="1"/>
            <a:stCxn id="15395" idx="0"/>
            <a:endCxn id="15376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2" name="AutoShape 30"/>
          <p:cNvCxnSpPr>
            <a:cxnSpLocks noChangeShapeType="1"/>
            <a:stCxn id="15375" idx="2"/>
            <a:endCxn id="15394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3" name="AutoShape 31"/>
          <p:cNvCxnSpPr>
            <a:cxnSpLocks noChangeShapeType="1"/>
            <a:stCxn id="15376" idx="2"/>
            <a:endCxn id="15396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4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15385" name="AutoShape 33"/>
          <p:cNvCxnSpPr>
            <a:cxnSpLocks noChangeShapeType="1"/>
            <a:stCxn id="15371" idx="0"/>
            <a:endCxn id="15384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86" name="AutoShape 34"/>
          <p:cNvCxnSpPr>
            <a:cxnSpLocks noChangeShapeType="1"/>
            <a:stCxn id="15372" idx="0"/>
            <a:endCxn id="15384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387" name="Line 35"/>
          <p:cNvSpPr>
            <a:spLocks noChangeShapeType="1"/>
          </p:cNvSpPr>
          <p:nvPr/>
        </p:nvSpPr>
        <p:spPr bwMode="auto">
          <a:xfrm flipH="1">
            <a:off x="1219200" y="4191000"/>
            <a:ext cx="533400" cy="3048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16387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314062E8-8AA4-4F77-B1A6-ECBFF2FCEED8}" type="slidenum">
              <a:rPr lang="en-US" altLang="en-US" sz="1400"/>
              <a:pPr algn="r" eaLnBrk="1" hangingPunct="1"/>
              <a:t>9</a:t>
            </a:fld>
            <a:endParaRPr lang="en-US" altLang="en-US" sz="1400"/>
          </a:p>
        </p:txBody>
      </p:sp>
      <p:sp>
        <p:nvSpPr>
          <p:cNvPr id="1638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Recursive call, base case</a:t>
            </a:r>
          </a:p>
        </p:txBody>
      </p:sp>
      <p:cxnSp>
        <p:nvCxnSpPr>
          <p:cNvPr id="16389" name="AutoShape 4"/>
          <p:cNvCxnSpPr>
            <a:cxnSpLocks noChangeShapeType="1"/>
            <a:stCxn id="16417" idx="0"/>
            <a:endCxn id="16395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0" name="AutoShape 5"/>
          <p:cNvCxnSpPr>
            <a:cxnSpLocks noChangeShapeType="1"/>
            <a:stCxn id="16418" idx="0"/>
            <a:endCxn id="16395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1" name="AutoShape 6"/>
          <p:cNvCxnSpPr>
            <a:cxnSpLocks noChangeShapeType="1"/>
            <a:stCxn id="16398" idx="0"/>
            <a:endCxn id="16417" idx="2"/>
          </p:cNvCxnSpPr>
          <p:nvPr/>
        </p:nvCxnSpPr>
        <p:spPr bwMode="auto">
          <a:xfrm flipV="1">
            <a:off x="969963" y="5080000"/>
            <a:ext cx="4667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2" name="AutoShape 7"/>
          <p:cNvCxnSpPr>
            <a:cxnSpLocks noChangeShapeType="1"/>
            <a:stCxn id="16400" idx="0"/>
            <a:endCxn id="16418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3" name="AutoShape 8"/>
          <p:cNvCxnSpPr>
            <a:cxnSpLocks noChangeShapeType="1"/>
            <a:stCxn id="16417" idx="2"/>
            <a:endCxn id="16399" idx="0"/>
          </p:cNvCxnSpPr>
          <p:nvPr/>
        </p:nvCxnSpPr>
        <p:spPr bwMode="auto">
          <a:xfrm>
            <a:off x="14366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394" name="AutoShape 9"/>
          <p:cNvCxnSpPr>
            <a:cxnSpLocks noChangeShapeType="1"/>
            <a:stCxn id="16418" idx="2"/>
            <a:endCxn id="16401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395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16396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1  3  8  6</a:t>
            </a:r>
          </a:p>
        </p:txBody>
      </p:sp>
      <p:grpSp>
        <p:nvGrpSpPr>
          <p:cNvPr id="16397" name="Group 12"/>
          <p:cNvGrpSpPr>
            <a:grpSpLocks/>
          </p:cNvGrpSpPr>
          <p:nvPr/>
        </p:nvGrpSpPr>
        <p:grpSpPr bwMode="auto">
          <a:xfrm>
            <a:off x="742950" y="4643438"/>
            <a:ext cx="7996238" cy="427037"/>
            <a:chOff x="468" y="3168"/>
            <a:chExt cx="5037" cy="269"/>
          </a:xfrm>
        </p:grpSpPr>
        <p:sp>
          <p:nvSpPr>
            <p:cNvPr id="16417" name="AutoShape 13"/>
            <p:cNvSpPr>
              <a:spLocks noChangeArrowheads="1"/>
            </p:cNvSpPr>
            <p:nvPr/>
          </p:nvSpPr>
          <p:spPr bwMode="auto">
            <a:xfrm>
              <a:off x="468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/>
                <a:t>7 </a:t>
              </a:r>
              <a:r>
                <a:rPr lang="en-US" altLang="en-US" sz="1800" b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</a:t>
              </a:r>
              <a:r>
                <a:rPr lang="en-US" altLang="en-US" sz="1800"/>
                <a:t> 2</a:t>
              </a:r>
              <a:r>
                <a:rPr lang="en-US" altLang="en-US" sz="1800">
                  <a:solidFill>
                    <a:schemeClr val="accent1"/>
                  </a:solidFill>
                </a:rPr>
                <a:t>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2  7</a:t>
              </a:r>
            </a:p>
          </p:txBody>
        </p:sp>
        <p:sp>
          <p:nvSpPr>
            <p:cNvPr id="16418" name="AutoShape 14"/>
            <p:cNvSpPr>
              <a:spLocks noChangeArrowheads="1"/>
            </p:cNvSpPr>
            <p:nvPr/>
          </p:nvSpPr>
          <p:spPr bwMode="auto">
            <a:xfrm>
              <a:off x="1779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9  4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4  9</a:t>
              </a:r>
            </a:p>
          </p:txBody>
        </p:sp>
        <p:sp>
          <p:nvSpPr>
            <p:cNvPr id="16419" name="AutoShape 15"/>
            <p:cNvSpPr>
              <a:spLocks noChangeArrowheads="1"/>
            </p:cNvSpPr>
            <p:nvPr/>
          </p:nvSpPr>
          <p:spPr bwMode="auto">
            <a:xfrm>
              <a:off x="3252" y="3168"/>
              <a:ext cx="874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3  8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3  8</a:t>
              </a:r>
            </a:p>
          </p:txBody>
        </p:sp>
        <p:sp>
          <p:nvSpPr>
            <p:cNvPr id="16420" name="AutoShape 16"/>
            <p:cNvSpPr>
              <a:spLocks noChangeArrowheads="1"/>
            </p:cNvSpPr>
            <p:nvPr/>
          </p:nvSpPr>
          <p:spPr bwMode="auto">
            <a:xfrm>
              <a:off x="4563" y="3168"/>
              <a:ext cx="942" cy="269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1800">
                  <a:solidFill>
                    <a:schemeClr val="accent1"/>
                  </a:solidFill>
                </a:rPr>
                <a:t>6  1  </a:t>
              </a:r>
              <a:r>
                <a:rPr lang="en-US" altLang="en-US" sz="1800" b="1">
                  <a:solidFill>
                    <a:schemeClr val="accent1"/>
                  </a:solidFill>
                  <a:sym typeface="Symbol" panose="05050102010706020507" pitchFamily="18" charset="2"/>
                </a:rPr>
                <a:t></a:t>
              </a:r>
              <a:r>
                <a:rPr lang="en-US" altLang="en-US" sz="1800">
                  <a:solidFill>
                    <a:schemeClr val="accent1"/>
                  </a:solidFill>
                </a:rPr>
                <a:t>  1  6</a:t>
              </a:r>
            </a:p>
          </p:txBody>
        </p:sp>
      </p:grpSp>
      <p:sp>
        <p:nvSpPr>
          <p:cNvPr id="16398" name="AutoShape 18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6399" name="AutoShape 19"/>
          <p:cNvSpPr>
            <a:spLocks noChangeArrowheads="1"/>
          </p:cNvSpPr>
          <p:nvPr/>
        </p:nvSpPr>
        <p:spPr bwMode="auto">
          <a:xfrm>
            <a:off x="15970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2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2</a:t>
            </a:r>
          </a:p>
        </p:txBody>
      </p:sp>
      <p:sp>
        <p:nvSpPr>
          <p:cNvPr id="16400" name="AutoShape 20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9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16401" name="AutoShape 21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4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4</a:t>
            </a:r>
          </a:p>
        </p:txBody>
      </p:sp>
      <p:sp>
        <p:nvSpPr>
          <p:cNvPr id="16402" name="AutoShape 22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3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16403" name="AutoShape 23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8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16404" name="AutoShape 24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6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16405" name="AutoShape 25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1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16406" name="AutoShape 26"/>
          <p:cNvCxnSpPr>
            <a:cxnSpLocks noChangeShapeType="1"/>
            <a:stCxn id="16419" idx="0"/>
            <a:endCxn id="16396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7" name="AutoShape 27"/>
          <p:cNvCxnSpPr>
            <a:cxnSpLocks noChangeShapeType="1"/>
            <a:stCxn id="16420" idx="0"/>
            <a:endCxn id="16396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8" name="AutoShape 28"/>
          <p:cNvCxnSpPr>
            <a:cxnSpLocks noChangeShapeType="1"/>
            <a:stCxn id="16402" idx="0"/>
            <a:endCxn id="16419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09" name="AutoShape 29"/>
          <p:cNvCxnSpPr>
            <a:cxnSpLocks noChangeShapeType="1"/>
            <a:stCxn id="16404" idx="0"/>
            <a:endCxn id="16420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0" name="AutoShape 30"/>
          <p:cNvCxnSpPr>
            <a:cxnSpLocks noChangeShapeType="1"/>
            <a:stCxn id="16419" idx="2"/>
            <a:endCxn id="16403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1" name="AutoShape 31"/>
          <p:cNvCxnSpPr>
            <a:cxnSpLocks noChangeShapeType="1"/>
            <a:stCxn id="16420" idx="2"/>
            <a:endCxn id="16405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2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16413" name="AutoShape 33"/>
          <p:cNvCxnSpPr>
            <a:cxnSpLocks noChangeShapeType="1"/>
            <a:stCxn id="16395" idx="0"/>
            <a:endCxn id="16412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414" name="AutoShape 34"/>
          <p:cNvCxnSpPr>
            <a:cxnSpLocks noChangeShapeType="1"/>
            <a:stCxn id="16396" idx="0"/>
            <a:endCxn id="16412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415" name="Line 35"/>
          <p:cNvSpPr>
            <a:spLocks noChangeShapeType="1"/>
          </p:cNvSpPr>
          <p:nvPr/>
        </p:nvSpPr>
        <p:spPr bwMode="auto">
          <a:xfrm flipH="1">
            <a:off x="762000" y="5181600"/>
            <a:ext cx="3810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17411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71648BC4-8F79-44EB-833E-5AA354476ED3}" type="slidenum">
              <a:rPr lang="en-US" altLang="en-US" sz="1400"/>
              <a:pPr algn="r" eaLnBrk="1" hangingPunct="1"/>
              <a:t>10</a:t>
            </a:fld>
            <a:endParaRPr lang="en-US" altLang="en-US" sz="1400"/>
          </a:p>
        </p:txBody>
      </p:sp>
      <p:sp>
        <p:nvSpPr>
          <p:cNvPr id="1741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Recursive call, base case</a:t>
            </a:r>
          </a:p>
        </p:txBody>
      </p:sp>
      <p:cxnSp>
        <p:nvCxnSpPr>
          <p:cNvPr id="17413" name="AutoShape 4"/>
          <p:cNvCxnSpPr>
            <a:cxnSpLocks noChangeShapeType="1"/>
            <a:stCxn id="17421" idx="0"/>
            <a:endCxn id="17419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4" name="AutoShape 5"/>
          <p:cNvCxnSpPr>
            <a:cxnSpLocks noChangeShapeType="1"/>
            <a:stCxn id="17422" idx="0"/>
            <a:endCxn id="17419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5" name="AutoShape 6"/>
          <p:cNvCxnSpPr>
            <a:cxnSpLocks noChangeShapeType="1"/>
            <a:stCxn id="17425" idx="0"/>
            <a:endCxn id="17421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6" name="AutoShape 7"/>
          <p:cNvCxnSpPr>
            <a:cxnSpLocks noChangeShapeType="1"/>
            <a:stCxn id="17427" idx="0"/>
            <a:endCxn id="17422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7" name="AutoShape 8"/>
          <p:cNvCxnSpPr>
            <a:cxnSpLocks noChangeShapeType="1"/>
            <a:stCxn id="17421" idx="2"/>
            <a:endCxn id="17426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18" name="AutoShape 9"/>
          <p:cNvCxnSpPr>
            <a:cxnSpLocks noChangeShapeType="1"/>
            <a:stCxn id="17422" idx="2"/>
            <a:endCxn id="17428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19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17420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17421" name="AutoShape 13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2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2  7</a:t>
            </a:r>
          </a:p>
        </p:txBody>
      </p:sp>
      <p:sp>
        <p:nvSpPr>
          <p:cNvPr id="17422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9  4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4  9</a:t>
            </a:r>
          </a:p>
        </p:txBody>
      </p:sp>
      <p:sp>
        <p:nvSpPr>
          <p:cNvPr id="17423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17424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17425" name="AutoShape 18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7426" name="AutoShape 19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2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7427" name="AutoShape 20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9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17428" name="AutoShape 21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4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4</a:t>
            </a:r>
          </a:p>
        </p:txBody>
      </p:sp>
      <p:sp>
        <p:nvSpPr>
          <p:cNvPr id="17429" name="AutoShape 22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3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17430" name="AutoShape 23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8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17431" name="AutoShape 24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6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17432" name="AutoShape 25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1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17433" name="AutoShape 26"/>
          <p:cNvCxnSpPr>
            <a:cxnSpLocks noChangeShapeType="1"/>
            <a:stCxn id="17423" idx="0"/>
            <a:endCxn id="17420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4" name="AutoShape 27"/>
          <p:cNvCxnSpPr>
            <a:cxnSpLocks noChangeShapeType="1"/>
            <a:stCxn id="17424" idx="0"/>
            <a:endCxn id="17420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5" name="AutoShape 28"/>
          <p:cNvCxnSpPr>
            <a:cxnSpLocks noChangeShapeType="1"/>
            <a:stCxn id="17429" idx="0"/>
            <a:endCxn id="17423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6" name="AutoShape 29"/>
          <p:cNvCxnSpPr>
            <a:cxnSpLocks noChangeShapeType="1"/>
            <a:stCxn id="17431" idx="0"/>
            <a:endCxn id="17424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7" name="AutoShape 30"/>
          <p:cNvCxnSpPr>
            <a:cxnSpLocks noChangeShapeType="1"/>
            <a:stCxn id="17423" idx="2"/>
            <a:endCxn id="17430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38" name="AutoShape 31"/>
          <p:cNvCxnSpPr>
            <a:cxnSpLocks noChangeShapeType="1"/>
            <a:stCxn id="17424" idx="2"/>
            <a:endCxn id="17432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39" name="AutoShape 32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17440" name="AutoShape 33"/>
          <p:cNvCxnSpPr>
            <a:cxnSpLocks noChangeShapeType="1"/>
            <a:stCxn id="17419" idx="0"/>
            <a:endCxn id="17439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441" name="AutoShape 34"/>
          <p:cNvCxnSpPr>
            <a:cxnSpLocks noChangeShapeType="1"/>
            <a:stCxn id="17420" idx="0"/>
            <a:endCxn id="17439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442" name="Line 35"/>
          <p:cNvSpPr>
            <a:spLocks noChangeShapeType="1"/>
          </p:cNvSpPr>
          <p:nvPr/>
        </p:nvSpPr>
        <p:spPr bwMode="auto">
          <a:xfrm>
            <a:off x="1752600" y="5181600"/>
            <a:ext cx="381000" cy="3810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18435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861C81B7-7889-4C3A-901E-A6A2A5F89E13}" type="slidenum">
              <a:rPr lang="en-US" altLang="en-US" sz="1400"/>
              <a:pPr algn="r" eaLnBrk="1" hangingPunct="1"/>
              <a:t>11</a:t>
            </a:fld>
            <a:endParaRPr lang="en-US" altLang="en-US" sz="1400"/>
          </a:p>
        </p:txBody>
      </p:sp>
      <p:sp>
        <p:nvSpPr>
          <p:cNvPr id="18436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76400"/>
            <a:ext cx="7772400" cy="762000"/>
          </a:xfrm>
        </p:spPr>
        <p:txBody>
          <a:bodyPr/>
          <a:lstStyle/>
          <a:p>
            <a:pPr eaLnBrk="1" hangingPunct="1"/>
            <a:r>
              <a:rPr lang="en-US" altLang="en-US"/>
              <a:t>Merge</a:t>
            </a:r>
          </a:p>
        </p:txBody>
      </p:sp>
      <p:cxnSp>
        <p:nvCxnSpPr>
          <p:cNvPr id="18437" name="AutoShape 4"/>
          <p:cNvCxnSpPr>
            <a:cxnSpLocks noChangeShapeType="1"/>
            <a:stCxn id="18445" idx="0"/>
            <a:endCxn id="18443" idx="2"/>
          </p:cNvCxnSpPr>
          <p:nvPr/>
        </p:nvCxnSpPr>
        <p:spPr bwMode="auto">
          <a:xfrm flipV="1">
            <a:off x="1447800" y="4054475"/>
            <a:ext cx="105727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8" name="AutoShape 5"/>
          <p:cNvCxnSpPr>
            <a:cxnSpLocks noChangeShapeType="1"/>
            <a:stCxn id="18446" idx="0"/>
            <a:endCxn id="18443" idx="2"/>
          </p:cNvCxnSpPr>
          <p:nvPr/>
        </p:nvCxnSpPr>
        <p:spPr bwMode="auto">
          <a:xfrm flipH="1" flipV="1">
            <a:off x="25050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39" name="AutoShape 6"/>
          <p:cNvCxnSpPr>
            <a:cxnSpLocks noChangeShapeType="1"/>
            <a:stCxn id="18449" idx="0"/>
            <a:endCxn id="18445" idx="2"/>
          </p:cNvCxnSpPr>
          <p:nvPr/>
        </p:nvCxnSpPr>
        <p:spPr bwMode="auto">
          <a:xfrm flipV="1">
            <a:off x="969963" y="5089525"/>
            <a:ext cx="47783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0" name="AutoShape 7"/>
          <p:cNvCxnSpPr>
            <a:cxnSpLocks noChangeShapeType="1"/>
            <a:stCxn id="18451" idx="0"/>
            <a:endCxn id="18446" idx="2"/>
          </p:cNvCxnSpPr>
          <p:nvPr/>
        </p:nvCxnSpPr>
        <p:spPr bwMode="auto">
          <a:xfrm flipV="1">
            <a:off x="30924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1" name="AutoShape 8"/>
          <p:cNvCxnSpPr>
            <a:cxnSpLocks noChangeShapeType="1"/>
            <a:stCxn id="18445" idx="2"/>
            <a:endCxn id="18450" idx="0"/>
          </p:cNvCxnSpPr>
          <p:nvPr/>
        </p:nvCxnSpPr>
        <p:spPr bwMode="auto">
          <a:xfrm>
            <a:off x="1447800" y="5089525"/>
            <a:ext cx="4953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42" name="AutoShape 9"/>
          <p:cNvCxnSpPr>
            <a:cxnSpLocks noChangeShapeType="1"/>
            <a:stCxn id="18446" idx="2"/>
            <a:endCxn id="18452" idx="0"/>
          </p:cNvCxnSpPr>
          <p:nvPr/>
        </p:nvCxnSpPr>
        <p:spPr bwMode="auto">
          <a:xfrm>
            <a:off x="35718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43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18444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18445" name="AutoShape 13"/>
          <p:cNvSpPr>
            <a:spLocks noChangeArrowheads="1"/>
          </p:cNvSpPr>
          <p:nvPr/>
        </p:nvSpPr>
        <p:spPr bwMode="auto"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2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18446" name="AutoShape 14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9  4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4  9</a:t>
            </a:r>
          </a:p>
        </p:txBody>
      </p:sp>
      <p:sp>
        <p:nvSpPr>
          <p:cNvPr id="18447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18448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18449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8450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2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8451" name="AutoShape 19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9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9</a:t>
            </a:r>
          </a:p>
        </p:txBody>
      </p:sp>
      <p:sp>
        <p:nvSpPr>
          <p:cNvPr id="18452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4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4</a:t>
            </a:r>
          </a:p>
        </p:txBody>
      </p:sp>
      <p:sp>
        <p:nvSpPr>
          <p:cNvPr id="18453" name="AutoShape 21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3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18454" name="AutoShape 22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8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18455" name="AutoShape 23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6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18456" name="AutoShape 24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1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18457" name="AutoShape 25"/>
          <p:cNvCxnSpPr>
            <a:cxnSpLocks noChangeShapeType="1"/>
            <a:stCxn id="18447" idx="0"/>
            <a:endCxn id="18444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8" name="AutoShape 26"/>
          <p:cNvCxnSpPr>
            <a:cxnSpLocks noChangeShapeType="1"/>
            <a:stCxn id="18448" idx="0"/>
            <a:endCxn id="18444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59" name="AutoShape 27"/>
          <p:cNvCxnSpPr>
            <a:cxnSpLocks noChangeShapeType="1"/>
            <a:stCxn id="18453" idx="0"/>
            <a:endCxn id="18447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60" name="AutoShape 28"/>
          <p:cNvCxnSpPr>
            <a:cxnSpLocks noChangeShapeType="1"/>
            <a:stCxn id="18455" idx="0"/>
            <a:endCxn id="18448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61" name="AutoShape 29"/>
          <p:cNvCxnSpPr>
            <a:cxnSpLocks noChangeShapeType="1"/>
            <a:stCxn id="18447" idx="2"/>
            <a:endCxn id="18454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62" name="AutoShape 30"/>
          <p:cNvCxnSpPr>
            <a:cxnSpLocks noChangeShapeType="1"/>
            <a:stCxn id="18448" idx="2"/>
            <a:endCxn id="18456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3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18464" name="AutoShape 32"/>
          <p:cNvCxnSpPr>
            <a:cxnSpLocks noChangeShapeType="1"/>
            <a:stCxn id="18443" idx="0"/>
            <a:endCxn id="18463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465" name="AutoShape 33"/>
          <p:cNvCxnSpPr>
            <a:cxnSpLocks noChangeShapeType="1"/>
            <a:stCxn id="18444" idx="0"/>
            <a:endCxn id="18463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466" name="Line 34"/>
          <p:cNvSpPr>
            <a:spLocks noChangeShapeType="1"/>
          </p:cNvSpPr>
          <p:nvPr/>
        </p:nvSpPr>
        <p:spPr bwMode="auto">
          <a:xfrm flipH="1">
            <a:off x="7620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67" name="Line 35"/>
          <p:cNvSpPr>
            <a:spLocks noChangeShapeType="1"/>
          </p:cNvSpPr>
          <p:nvPr/>
        </p:nvSpPr>
        <p:spPr bwMode="auto">
          <a:xfrm>
            <a:off x="17526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19459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5E68D9A0-B955-4DDB-8233-1562D13F3F01}" type="slidenum">
              <a:rPr lang="en-US" altLang="en-US" sz="1400"/>
              <a:pPr algn="r" eaLnBrk="1" hangingPunct="1"/>
              <a:t>12</a:t>
            </a:fld>
            <a:endParaRPr lang="en-US" altLang="en-US" sz="1400"/>
          </a:p>
        </p:txBody>
      </p:sp>
      <p:sp>
        <p:nvSpPr>
          <p:cNvPr id="19460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Recursive call, …, base case, merge</a:t>
            </a:r>
          </a:p>
        </p:txBody>
      </p:sp>
      <p:cxnSp>
        <p:nvCxnSpPr>
          <p:cNvPr id="19461" name="AutoShape 4"/>
          <p:cNvCxnSpPr>
            <a:cxnSpLocks noChangeShapeType="1"/>
            <a:stCxn id="19469" idx="0"/>
            <a:endCxn id="19467" idx="2"/>
          </p:cNvCxnSpPr>
          <p:nvPr/>
        </p:nvCxnSpPr>
        <p:spPr bwMode="auto">
          <a:xfrm flipV="1">
            <a:off x="1447800" y="4054475"/>
            <a:ext cx="10572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2" name="AutoShape 5"/>
          <p:cNvCxnSpPr>
            <a:cxnSpLocks noChangeShapeType="1"/>
            <a:stCxn id="19470" idx="0"/>
            <a:endCxn id="19467" idx="2"/>
          </p:cNvCxnSpPr>
          <p:nvPr/>
        </p:nvCxnSpPr>
        <p:spPr bwMode="auto">
          <a:xfrm flipH="1" flipV="1">
            <a:off x="2505075" y="4054475"/>
            <a:ext cx="10668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3" name="AutoShape 6"/>
          <p:cNvCxnSpPr>
            <a:cxnSpLocks noChangeShapeType="1"/>
            <a:stCxn id="19473" idx="0"/>
            <a:endCxn id="19469" idx="2"/>
          </p:cNvCxnSpPr>
          <p:nvPr/>
        </p:nvCxnSpPr>
        <p:spPr bwMode="auto">
          <a:xfrm flipV="1">
            <a:off x="969963" y="5080000"/>
            <a:ext cx="47783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4" name="AutoShape 7"/>
          <p:cNvCxnSpPr>
            <a:cxnSpLocks noChangeShapeType="1"/>
            <a:endCxn id="19470" idx="2"/>
          </p:cNvCxnSpPr>
          <p:nvPr/>
        </p:nvCxnSpPr>
        <p:spPr bwMode="auto">
          <a:xfrm flipV="1">
            <a:off x="3092450" y="5089525"/>
            <a:ext cx="4794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5" name="AutoShape 8"/>
          <p:cNvCxnSpPr>
            <a:cxnSpLocks noChangeShapeType="1"/>
            <a:stCxn id="19469" idx="2"/>
            <a:endCxn id="19474" idx="0"/>
          </p:cNvCxnSpPr>
          <p:nvPr/>
        </p:nvCxnSpPr>
        <p:spPr bwMode="auto">
          <a:xfrm>
            <a:off x="1447800" y="5080000"/>
            <a:ext cx="4953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66" name="AutoShape 9"/>
          <p:cNvCxnSpPr>
            <a:cxnSpLocks noChangeShapeType="1"/>
            <a:stCxn id="19470" idx="2"/>
          </p:cNvCxnSpPr>
          <p:nvPr/>
        </p:nvCxnSpPr>
        <p:spPr bwMode="auto">
          <a:xfrm>
            <a:off x="3571875" y="5089525"/>
            <a:ext cx="504825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67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2  4  7  9</a:t>
            </a:r>
          </a:p>
        </p:txBody>
      </p:sp>
      <p:sp>
        <p:nvSpPr>
          <p:cNvPr id="19468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19469" name="AutoShape 12"/>
          <p:cNvSpPr>
            <a:spLocks noChangeArrowheads="1"/>
          </p:cNvSpPr>
          <p:nvPr/>
        </p:nvSpPr>
        <p:spPr bwMode="auto">
          <a:xfrm>
            <a:off x="685800" y="4643438"/>
            <a:ext cx="1524000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2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19470" name="AutoShape 13"/>
          <p:cNvSpPr>
            <a:spLocks noChangeArrowheads="1"/>
          </p:cNvSpPr>
          <p:nvPr/>
        </p:nvSpPr>
        <p:spPr bwMode="auto">
          <a:xfrm>
            <a:off x="28241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9  4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 4  9</a:t>
            </a:r>
          </a:p>
        </p:txBody>
      </p:sp>
      <p:sp>
        <p:nvSpPr>
          <p:cNvPr id="19471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19472" name="AutoShape 15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19473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19474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2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19475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3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19476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8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19477" name="AutoShape 22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6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19478" name="AutoShape 23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1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19479" name="AutoShape 24"/>
          <p:cNvCxnSpPr>
            <a:cxnSpLocks noChangeShapeType="1"/>
            <a:stCxn id="19471" idx="0"/>
            <a:endCxn id="19468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0" name="AutoShape 25"/>
          <p:cNvCxnSpPr>
            <a:cxnSpLocks noChangeShapeType="1"/>
            <a:stCxn id="19472" idx="0"/>
            <a:endCxn id="19468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1" name="AutoShape 26"/>
          <p:cNvCxnSpPr>
            <a:cxnSpLocks noChangeShapeType="1"/>
            <a:stCxn id="19475" idx="0"/>
            <a:endCxn id="19471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2" name="AutoShape 27"/>
          <p:cNvCxnSpPr>
            <a:cxnSpLocks noChangeShapeType="1"/>
            <a:stCxn id="19477" idx="0"/>
            <a:endCxn id="19472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3" name="AutoShape 28"/>
          <p:cNvCxnSpPr>
            <a:cxnSpLocks noChangeShapeType="1"/>
            <a:stCxn id="19471" idx="2"/>
            <a:endCxn id="19476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4" name="AutoShape 29"/>
          <p:cNvCxnSpPr>
            <a:cxnSpLocks noChangeShapeType="1"/>
            <a:stCxn id="19472" idx="2"/>
            <a:endCxn id="19478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5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19486" name="AutoShape 31"/>
          <p:cNvCxnSpPr>
            <a:cxnSpLocks noChangeShapeType="1"/>
            <a:stCxn id="19467" idx="0"/>
            <a:endCxn id="19485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9487" name="AutoShape 32"/>
          <p:cNvCxnSpPr>
            <a:cxnSpLocks noChangeShapeType="1"/>
            <a:stCxn id="19468" idx="0"/>
            <a:endCxn id="19485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488" name="Line 33"/>
          <p:cNvSpPr>
            <a:spLocks noChangeShapeType="1"/>
          </p:cNvSpPr>
          <p:nvPr/>
        </p:nvSpPr>
        <p:spPr bwMode="auto">
          <a:xfrm flipH="1">
            <a:off x="28956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89" name="Line 34"/>
          <p:cNvSpPr>
            <a:spLocks noChangeShapeType="1"/>
          </p:cNvSpPr>
          <p:nvPr/>
        </p:nvSpPr>
        <p:spPr bwMode="auto">
          <a:xfrm>
            <a:off x="3886200" y="5181600"/>
            <a:ext cx="381000" cy="3810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90" name="AutoShape 35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19491" name="AutoShape 36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4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4</a:t>
            </a:r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20483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C07F712-F2A3-484E-82B7-E1A6076570B0}" type="slidenum">
              <a:rPr lang="en-US" altLang="en-US" sz="1400"/>
              <a:pPr algn="r" eaLnBrk="1" hangingPunct="1"/>
              <a:t>13</a:t>
            </a:fld>
            <a:endParaRPr lang="en-US" altLang="en-US" sz="1400"/>
          </a:p>
        </p:txBody>
      </p:sp>
      <p:sp>
        <p:nvSpPr>
          <p:cNvPr id="2048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Merge</a:t>
            </a:r>
          </a:p>
        </p:txBody>
      </p:sp>
      <p:cxnSp>
        <p:nvCxnSpPr>
          <p:cNvPr id="20485" name="AutoShape 4"/>
          <p:cNvCxnSpPr>
            <a:cxnSpLocks noChangeShapeType="1"/>
            <a:stCxn id="20493" idx="0"/>
            <a:endCxn id="20491" idx="2"/>
          </p:cNvCxnSpPr>
          <p:nvPr/>
        </p:nvCxnSpPr>
        <p:spPr bwMode="auto">
          <a:xfrm flipV="1">
            <a:off x="1436688" y="4064000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6" name="AutoShape 5"/>
          <p:cNvCxnSpPr>
            <a:cxnSpLocks noChangeShapeType="1"/>
            <a:stCxn id="20494" idx="0"/>
            <a:endCxn id="20491" idx="2"/>
          </p:cNvCxnSpPr>
          <p:nvPr/>
        </p:nvCxnSpPr>
        <p:spPr bwMode="auto">
          <a:xfrm flipH="1" flipV="1">
            <a:off x="2505075" y="4064000"/>
            <a:ext cx="109855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7" name="AutoShape 6"/>
          <p:cNvCxnSpPr>
            <a:cxnSpLocks noChangeShapeType="1"/>
            <a:stCxn id="20497" idx="0"/>
            <a:endCxn id="20493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8" name="AutoShape 7"/>
          <p:cNvCxnSpPr>
            <a:cxnSpLocks noChangeShapeType="1"/>
            <a:stCxn id="20499" idx="0"/>
            <a:endCxn id="20494" idx="2"/>
          </p:cNvCxnSpPr>
          <p:nvPr/>
        </p:nvCxnSpPr>
        <p:spPr bwMode="auto">
          <a:xfrm flipV="1">
            <a:off x="3092450" y="50800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89" name="AutoShape 8"/>
          <p:cNvCxnSpPr>
            <a:cxnSpLocks noChangeShapeType="1"/>
            <a:stCxn id="20493" idx="2"/>
            <a:endCxn id="20498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0" name="AutoShape 9"/>
          <p:cNvCxnSpPr>
            <a:cxnSpLocks noChangeShapeType="1"/>
            <a:stCxn id="20494" idx="2"/>
            <a:endCxn id="20500" idx="0"/>
          </p:cNvCxnSpPr>
          <p:nvPr/>
        </p:nvCxnSpPr>
        <p:spPr bwMode="auto">
          <a:xfrm>
            <a:off x="3603625" y="50800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1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>
                <a:solidFill>
                  <a:schemeClr val="tx2"/>
                </a:solidFill>
              </a:rPr>
              <a:t>2  4  7  9</a:t>
            </a:r>
          </a:p>
        </p:txBody>
      </p:sp>
      <p:sp>
        <p:nvSpPr>
          <p:cNvPr id="20492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1  3  8  6</a:t>
            </a:r>
          </a:p>
        </p:txBody>
      </p:sp>
      <p:sp>
        <p:nvSpPr>
          <p:cNvPr id="20493" name="AutoShape 13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2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20494" name="AutoShape 14"/>
          <p:cNvSpPr>
            <a:spLocks noChangeArrowheads="1"/>
          </p:cNvSpPr>
          <p:nvPr/>
        </p:nvSpPr>
        <p:spPr bwMode="auto"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9  4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 4  9</a:t>
            </a:r>
          </a:p>
        </p:txBody>
      </p:sp>
      <p:sp>
        <p:nvSpPr>
          <p:cNvPr id="20495" name="AutoShape 15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3  8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3  8</a:t>
            </a:r>
          </a:p>
        </p:txBody>
      </p:sp>
      <p:sp>
        <p:nvSpPr>
          <p:cNvPr id="20496" name="AutoShape 16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accent1"/>
                </a:solidFill>
              </a:rPr>
              <a:t>6  1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1  6</a:t>
            </a:r>
          </a:p>
        </p:txBody>
      </p:sp>
      <p:sp>
        <p:nvSpPr>
          <p:cNvPr id="20497" name="AutoShape 17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0498" name="AutoShape 18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2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0499" name="AutoShape 19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0500" name="AutoShape 20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4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4</a:t>
            </a:r>
          </a:p>
        </p:txBody>
      </p:sp>
      <p:sp>
        <p:nvSpPr>
          <p:cNvPr id="20501" name="AutoShape 21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3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3</a:t>
            </a:r>
          </a:p>
        </p:txBody>
      </p:sp>
      <p:sp>
        <p:nvSpPr>
          <p:cNvPr id="20502" name="AutoShape 22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8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8</a:t>
            </a:r>
          </a:p>
        </p:txBody>
      </p:sp>
      <p:sp>
        <p:nvSpPr>
          <p:cNvPr id="20503" name="AutoShape 23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6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6</a:t>
            </a:r>
          </a:p>
        </p:txBody>
      </p:sp>
      <p:sp>
        <p:nvSpPr>
          <p:cNvPr id="20504" name="AutoShape 24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>
                <a:solidFill>
                  <a:schemeClr val="folHlink"/>
                </a:solidFill>
              </a:rPr>
              <a:t>1 </a:t>
            </a:r>
            <a:r>
              <a:rPr lang="en-US" altLang="en-US" sz="1800" b="1">
                <a:solidFill>
                  <a:schemeClr val="folHlink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1</a:t>
            </a:r>
          </a:p>
        </p:txBody>
      </p:sp>
      <p:cxnSp>
        <p:nvCxnSpPr>
          <p:cNvPr id="20505" name="AutoShape 25"/>
          <p:cNvCxnSpPr>
            <a:cxnSpLocks noChangeShapeType="1"/>
            <a:stCxn id="20495" idx="0"/>
            <a:endCxn id="20492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6" name="AutoShape 26"/>
          <p:cNvCxnSpPr>
            <a:cxnSpLocks noChangeShapeType="1"/>
            <a:stCxn id="20496" idx="0"/>
            <a:endCxn id="20492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7" name="AutoShape 27"/>
          <p:cNvCxnSpPr>
            <a:cxnSpLocks noChangeShapeType="1"/>
            <a:stCxn id="20501" idx="0"/>
            <a:endCxn id="20495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8" name="AutoShape 28"/>
          <p:cNvCxnSpPr>
            <a:cxnSpLocks noChangeShapeType="1"/>
            <a:stCxn id="20503" idx="0"/>
            <a:endCxn id="20496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9" name="AutoShape 29"/>
          <p:cNvCxnSpPr>
            <a:cxnSpLocks noChangeShapeType="1"/>
            <a:stCxn id="20495" idx="2"/>
            <a:endCxn id="20502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10" name="AutoShape 30"/>
          <p:cNvCxnSpPr>
            <a:cxnSpLocks noChangeShapeType="1"/>
            <a:stCxn id="20496" idx="2"/>
            <a:endCxn id="20504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1" name="AutoShape 31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20512" name="AutoShape 32"/>
          <p:cNvCxnSpPr>
            <a:cxnSpLocks noChangeShapeType="1"/>
            <a:stCxn id="20491" idx="0"/>
            <a:endCxn id="20511" idx="2"/>
          </p:cNvCxnSpPr>
          <p:nvPr/>
        </p:nvCxnSpPr>
        <p:spPr bwMode="auto">
          <a:xfrm flipV="1">
            <a:off x="2505075" y="3030538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13" name="AutoShape 33"/>
          <p:cNvCxnSpPr>
            <a:cxnSpLocks noChangeShapeType="1"/>
            <a:stCxn id="20492" idx="0"/>
            <a:endCxn id="20511" idx="2"/>
          </p:cNvCxnSpPr>
          <p:nvPr/>
        </p:nvCxnSpPr>
        <p:spPr bwMode="auto">
          <a:xfrm flipH="1" flipV="1">
            <a:off x="4724400" y="3030538"/>
            <a:ext cx="220027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4" name="Line 34"/>
          <p:cNvSpPr>
            <a:spLocks noChangeShapeType="1"/>
          </p:cNvSpPr>
          <p:nvPr/>
        </p:nvSpPr>
        <p:spPr bwMode="auto">
          <a:xfrm flipH="1">
            <a:off x="11430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15" name="Line 36"/>
          <p:cNvSpPr>
            <a:spLocks noChangeShapeType="1"/>
          </p:cNvSpPr>
          <p:nvPr/>
        </p:nvSpPr>
        <p:spPr bwMode="auto">
          <a:xfrm>
            <a:off x="3276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21507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F96CF415-4701-423B-BF83-0D3777141A3F}" type="slidenum">
              <a:rPr lang="en-US" altLang="en-US" sz="1400"/>
              <a:pPr algn="r" eaLnBrk="1" hangingPunct="1"/>
              <a:t>14</a:t>
            </a:fld>
            <a:endParaRPr lang="en-US" altLang="en-US" sz="1400"/>
          </a:p>
        </p:txBody>
      </p:sp>
      <p:sp>
        <p:nvSpPr>
          <p:cNvPr id="2150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7526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Recursive call, …, merge, merge</a:t>
            </a:r>
          </a:p>
        </p:txBody>
      </p:sp>
      <p:cxnSp>
        <p:nvCxnSpPr>
          <p:cNvPr id="21509" name="AutoShape 4"/>
          <p:cNvCxnSpPr>
            <a:cxnSpLocks noChangeShapeType="1"/>
            <a:stCxn id="21517" idx="0"/>
            <a:endCxn id="21515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0" name="AutoShape 5"/>
          <p:cNvCxnSpPr>
            <a:cxnSpLocks noChangeShapeType="1"/>
            <a:stCxn id="21518" idx="0"/>
            <a:endCxn id="21515" idx="2"/>
          </p:cNvCxnSpPr>
          <p:nvPr/>
        </p:nvCxnSpPr>
        <p:spPr bwMode="auto">
          <a:xfrm flipH="1" flipV="1">
            <a:off x="2505075" y="4054475"/>
            <a:ext cx="109855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1" name="AutoShape 6"/>
          <p:cNvCxnSpPr>
            <a:cxnSpLocks noChangeShapeType="1"/>
            <a:stCxn id="21521" idx="0"/>
            <a:endCxn id="21517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2" name="AutoShape 7"/>
          <p:cNvCxnSpPr>
            <a:cxnSpLocks noChangeShapeType="1"/>
            <a:stCxn id="21523" idx="0"/>
            <a:endCxn id="21518" idx="2"/>
          </p:cNvCxnSpPr>
          <p:nvPr/>
        </p:nvCxnSpPr>
        <p:spPr bwMode="auto">
          <a:xfrm flipV="1">
            <a:off x="3092450" y="50800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3" name="AutoShape 8"/>
          <p:cNvCxnSpPr>
            <a:cxnSpLocks noChangeShapeType="1"/>
            <a:stCxn id="21517" idx="2"/>
            <a:endCxn id="21522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14" name="AutoShape 9"/>
          <p:cNvCxnSpPr>
            <a:cxnSpLocks noChangeShapeType="1"/>
            <a:stCxn id="21518" idx="2"/>
            <a:endCxn id="21524" idx="0"/>
          </p:cNvCxnSpPr>
          <p:nvPr/>
        </p:nvCxnSpPr>
        <p:spPr bwMode="auto">
          <a:xfrm>
            <a:off x="3603625" y="50800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15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>
                <a:solidFill>
                  <a:schemeClr val="tx2"/>
                </a:solidFill>
              </a:rPr>
              <a:t>2  4  7  9</a:t>
            </a:r>
          </a:p>
        </p:txBody>
      </p:sp>
      <p:sp>
        <p:nvSpPr>
          <p:cNvPr id="21516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3  8  6  1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 1  3  6  8</a:t>
            </a:r>
          </a:p>
        </p:txBody>
      </p:sp>
      <p:sp>
        <p:nvSpPr>
          <p:cNvPr id="21517" name="AutoShape 12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2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21518" name="AutoShape 13"/>
          <p:cNvSpPr>
            <a:spLocks noChangeArrowheads="1"/>
          </p:cNvSpPr>
          <p:nvPr/>
        </p:nvSpPr>
        <p:spPr bwMode="auto"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9  4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 4  9</a:t>
            </a:r>
          </a:p>
        </p:txBody>
      </p:sp>
      <p:sp>
        <p:nvSpPr>
          <p:cNvPr id="21519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3  8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 3  8</a:t>
            </a:r>
          </a:p>
        </p:txBody>
      </p:sp>
      <p:sp>
        <p:nvSpPr>
          <p:cNvPr id="21520" name="AutoShape 15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6  1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 1  6</a:t>
            </a:r>
          </a:p>
        </p:txBody>
      </p:sp>
      <p:sp>
        <p:nvSpPr>
          <p:cNvPr id="21521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1522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2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1523" name="AutoShape 18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1524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4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4</a:t>
            </a:r>
          </a:p>
        </p:txBody>
      </p:sp>
      <p:sp>
        <p:nvSpPr>
          <p:cNvPr id="21525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3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21526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8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21527" name="AutoShape 22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6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1528" name="AutoShape 23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1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1</a:t>
            </a:r>
          </a:p>
        </p:txBody>
      </p:sp>
      <p:cxnSp>
        <p:nvCxnSpPr>
          <p:cNvPr id="21529" name="AutoShape 24"/>
          <p:cNvCxnSpPr>
            <a:cxnSpLocks noChangeShapeType="1"/>
            <a:stCxn id="21519" idx="0"/>
            <a:endCxn id="21516" idx="2"/>
          </p:cNvCxnSpPr>
          <p:nvPr/>
        </p:nvCxnSpPr>
        <p:spPr bwMode="auto">
          <a:xfrm flipV="1">
            <a:off x="5856288" y="4064000"/>
            <a:ext cx="1068387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0" name="AutoShape 25"/>
          <p:cNvCxnSpPr>
            <a:cxnSpLocks noChangeShapeType="1"/>
            <a:stCxn id="21520" idx="0"/>
            <a:endCxn id="21516" idx="2"/>
          </p:cNvCxnSpPr>
          <p:nvPr/>
        </p:nvCxnSpPr>
        <p:spPr bwMode="auto">
          <a:xfrm flipH="1" flipV="1">
            <a:off x="6924675" y="4064000"/>
            <a:ext cx="1066800" cy="569913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1" name="AutoShape 26"/>
          <p:cNvCxnSpPr>
            <a:cxnSpLocks noChangeShapeType="1"/>
            <a:stCxn id="21525" idx="0"/>
            <a:endCxn id="21519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2" name="AutoShape 27"/>
          <p:cNvCxnSpPr>
            <a:cxnSpLocks noChangeShapeType="1"/>
            <a:stCxn id="21527" idx="0"/>
            <a:endCxn id="21520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3" name="AutoShape 28"/>
          <p:cNvCxnSpPr>
            <a:cxnSpLocks noChangeShapeType="1"/>
            <a:stCxn id="21519" idx="2"/>
            <a:endCxn id="21526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4" name="AutoShape 29"/>
          <p:cNvCxnSpPr>
            <a:cxnSpLocks noChangeShapeType="1"/>
            <a:stCxn id="21520" idx="2"/>
            <a:endCxn id="21528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5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chemeClr val="accent1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accent1"/>
                </a:solidFill>
              </a:rPr>
              <a:t>1  2  3  4  6  7  8  9</a:t>
            </a:r>
          </a:p>
        </p:txBody>
      </p:sp>
      <p:cxnSp>
        <p:nvCxnSpPr>
          <p:cNvPr id="21536" name="AutoShape 31"/>
          <p:cNvCxnSpPr>
            <a:cxnSpLocks noChangeShapeType="1"/>
            <a:stCxn id="21515" idx="0"/>
            <a:endCxn id="21535" idx="2"/>
          </p:cNvCxnSpPr>
          <p:nvPr/>
        </p:nvCxnSpPr>
        <p:spPr bwMode="auto">
          <a:xfrm flipV="1">
            <a:off x="2505075" y="3030538"/>
            <a:ext cx="2219325" cy="577850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537" name="AutoShape 32"/>
          <p:cNvCxnSpPr>
            <a:cxnSpLocks noChangeShapeType="1"/>
            <a:stCxn id="21516" idx="0"/>
            <a:endCxn id="21535" idx="2"/>
          </p:cNvCxnSpPr>
          <p:nvPr/>
        </p:nvCxnSpPr>
        <p:spPr bwMode="auto">
          <a:xfrm flipH="1" flipV="1">
            <a:off x="4724400" y="3030538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538" name="Line 33"/>
          <p:cNvSpPr>
            <a:spLocks noChangeShapeType="1"/>
          </p:cNvSpPr>
          <p:nvPr/>
        </p:nvSpPr>
        <p:spPr bwMode="auto">
          <a:xfrm flipH="1">
            <a:off x="55626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39" name="Line 34"/>
          <p:cNvSpPr>
            <a:spLocks noChangeShapeType="1"/>
          </p:cNvSpPr>
          <p:nvPr/>
        </p:nvSpPr>
        <p:spPr bwMode="auto">
          <a:xfrm>
            <a:off x="7696200" y="4191000"/>
            <a:ext cx="609600" cy="3048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 txBox="1">
            <a:spLocks noGrp="1"/>
          </p:cNvSpPr>
          <p:nvPr/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400"/>
              <a:t>Merge Sort</a:t>
            </a:r>
          </a:p>
        </p:txBody>
      </p:sp>
      <p:sp>
        <p:nvSpPr>
          <p:cNvPr id="22531" name="Slide Number Placeholder 5"/>
          <p:cNvSpPr txBox="1">
            <a:spLocks noGrp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/>
            <a:fld id="{E3116DE2-BDC1-4DBD-A94A-C392FA311D83}" type="slidenum">
              <a:rPr lang="en-US" altLang="en-US" sz="1400"/>
              <a:pPr algn="r" eaLnBrk="1" hangingPunct="1"/>
              <a:t>15</a:t>
            </a:fld>
            <a:endParaRPr lang="en-US" altLang="en-US" sz="1400"/>
          </a:p>
        </p:txBody>
      </p:sp>
      <p:sp>
        <p:nvSpPr>
          <p:cNvPr id="22532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838200" y="1676400"/>
            <a:ext cx="7772400" cy="685800"/>
          </a:xfrm>
        </p:spPr>
        <p:txBody>
          <a:bodyPr/>
          <a:lstStyle/>
          <a:p>
            <a:pPr eaLnBrk="1" hangingPunct="1"/>
            <a:r>
              <a:rPr lang="en-US" altLang="en-US"/>
              <a:t>Merge</a:t>
            </a:r>
          </a:p>
        </p:txBody>
      </p:sp>
      <p:cxnSp>
        <p:nvCxnSpPr>
          <p:cNvPr id="22533" name="AutoShape 4"/>
          <p:cNvCxnSpPr>
            <a:cxnSpLocks noChangeShapeType="1"/>
            <a:stCxn id="22541" idx="0"/>
            <a:endCxn id="22539" idx="2"/>
          </p:cNvCxnSpPr>
          <p:nvPr/>
        </p:nvCxnSpPr>
        <p:spPr bwMode="auto">
          <a:xfrm flipV="1">
            <a:off x="14366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4" name="AutoShape 5"/>
          <p:cNvCxnSpPr>
            <a:cxnSpLocks noChangeShapeType="1"/>
            <a:stCxn id="22542" idx="0"/>
            <a:endCxn id="22539" idx="2"/>
          </p:cNvCxnSpPr>
          <p:nvPr/>
        </p:nvCxnSpPr>
        <p:spPr bwMode="auto">
          <a:xfrm flipH="1" flipV="1">
            <a:off x="2505075" y="4054475"/>
            <a:ext cx="109855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5" name="AutoShape 6"/>
          <p:cNvCxnSpPr>
            <a:cxnSpLocks noChangeShapeType="1"/>
            <a:stCxn id="22545" idx="0"/>
            <a:endCxn id="22541" idx="2"/>
          </p:cNvCxnSpPr>
          <p:nvPr/>
        </p:nvCxnSpPr>
        <p:spPr bwMode="auto">
          <a:xfrm flipV="1">
            <a:off x="9699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6" name="AutoShape 7"/>
          <p:cNvCxnSpPr>
            <a:cxnSpLocks noChangeShapeType="1"/>
            <a:stCxn id="22547" idx="0"/>
            <a:endCxn id="22542" idx="2"/>
          </p:cNvCxnSpPr>
          <p:nvPr/>
        </p:nvCxnSpPr>
        <p:spPr bwMode="auto">
          <a:xfrm flipV="1">
            <a:off x="3092450" y="5080000"/>
            <a:ext cx="5111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7" name="AutoShape 8"/>
          <p:cNvCxnSpPr>
            <a:cxnSpLocks noChangeShapeType="1"/>
            <a:stCxn id="22541" idx="2"/>
            <a:endCxn id="22546" idx="0"/>
          </p:cNvCxnSpPr>
          <p:nvPr/>
        </p:nvCxnSpPr>
        <p:spPr bwMode="auto">
          <a:xfrm>
            <a:off x="1436688" y="5080000"/>
            <a:ext cx="506412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38" name="AutoShape 9"/>
          <p:cNvCxnSpPr>
            <a:cxnSpLocks noChangeShapeType="1"/>
            <a:stCxn id="22542" idx="2"/>
            <a:endCxn id="22548" idx="0"/>
          </p:cNvCxnSpPr>
          <p:nvPr/>
        </p:nvCxnSpPr>
        <p:spPr bwMode="auto">
          <a:xfrm>
            <a:off x="3603625" y="5080000"/>
            <a:ext cx="47307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39" name="AutoShape 10"/>
          <p:cNvSpPr>
            <a:spLocks noChangeArrowheads="1"/>
          </p:cNvSpPr>
          <p:nvPr/>
        </p:nvSpPr>
        <p:spPr bwMode="auto">
          <a:xfrm>
            <a:off x="12239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 7  2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9  4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>
                <a:solidFill>
                  <a:schemeClr val="tx2"/>
                </a:solidFill>
              </a:rPr>
              <a:t>2  4  7  9</a:t>
            </a:r>
          </a:p>
        </p:txBody>
      </p:sp>
      <p:sp>
        <p:nvSpPr>
          <p:cNvPr id="22540" name="AutoShape 11"/>
          <p:cNvSpPr>
            <a:spLocks noChangeArrowheads="1"/>
          </p:cNvSpPr>
          <p:nvPr/>
        </p:nvSpPr>
        <p:spPr bwMode="auto">
          <a:xfrm>
            <a:off x="5643563" y="3617913"/>
            <a:ext cx="25622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3  8  6  1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 1  3  6  8</a:t>
            </a:r>
          </a:p>
        </p:txBody>
      </p:sp>
      <p:sp>
        <p:nvSpPr>
          <p:cNvPr id="22541" name="AutoShape 12"/>
          <p:cNvSpPr>
            <a:spLocks noChangeArrowheads="1"/>
          </p:cNvSpPr>
          <p:nvPr/>
        </p:nvSpPr>
        <p:spPr bwMode="auto">
          <a:xfrm>
            <a:off x="7429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2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2  7</a:t>
            </a:r>
          </a:p>
        </p:txBody>
      </p:sp>
      <p:sp>
        <p:nvSpPr>
          <p:cNvPr id="22542" name="AutoShape 13"/>
          <p:cNvSpPr>
            <a:spLocks noChangeArrowheads="1"/>
          </p:cNvSpPr>
          <p:nvPr/>
        </p:nvSpPr>
        <p:spPr bwMode="auto">
          <a:xfrm>
            <a:off x="2805113" y="4643438"/>
            <a:ext cx="1595437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9  4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 4  9</a:t>
            </a:r>
          </a:p>
        </p:txBody>
      </p:sp>
      <p:sp>
        <p:nvSpPr>
          <p:cNvPr id="22543" name="AutoShape 14"/>
          <p:cNvSpPr>
            <a:spLocks noChangeArrowheads="1"/>
          </p:cNvSpPr>
          <p:nvPr/>
        </p:nvSpPr>
        <p:spPr bwMode="auto">
          <a:xfrm>
            <a:off x="5162550" y="4643438"/>
            <a:ext cx="138747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3  8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 3  8</a:t>
            </a:r>
          </a:p>
        </p:txBody>
      </p:sp>
      <p:sp>
        <p:nvSpPr>
          <p:cNvPr id="22544" name="AutoShape 15"/>
          <p:cNvSpPr>
            <a:spLocks noChangeArrowheads="1"/>
          </p:cNvSpPr>
          <p:nvPr/>
        </p:nvSpPr>
        <p:spPr bwMode="auto">
          <a:xfrm>
            <a:off x="7243763" y="4643438"/>
            <a:ext cx="1495425" cy="42703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6  1 </a:t>
            </a:r>
            <a:r>
              <a:rPr lang="en-US" altLang="en-US" sz="1800">
                <a:solidFill>
                  <a:schemeClr val="accent1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 1  6</a:t>
            </a:r>
          </a:p>
        </p:txBody>
      </p:sp>
      <p:sp>
        <p:nvSpPr>
          <p:cNvPr id="22545" name="AutoShape 16"/>
          <p:cNvSpPr>
            <a:spLocks noChangeArrowheads="1"/>
          </p:cNvSpPr>
          <p:nvPr/>
        </p:nvSpPr>
        <p:spPr bwMode="auto">
          <a:xfrm>
            <a:off x="6096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7</a:t>
            </a:r>
          </a:p>
        </p:txBody>
      </p:sp>
      <p:sp>
        <p:nvSpPr>
          <p:cNvPr id="22546" name="AutoShape 17"/>
          <p:cNvSpPr>
            <a:spLocks noChangeArrowheads="1"/>
          </p:cNvSpPr>
          <p:nvPr/>
        </p:nvSpPr>
        <p:spPr bwMode="auto">
          <a:xfrm>
            <a:off x="1524000" y="5668963"/>
            <a:ext cx="838200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2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22547" name="AutoShape 18"/>
          <p:cNvSpPr>
            <a:spLocks noChangeArrowheads="1"/>
          </p:cNvSpPr>
          <p:nvPr/>
        </p:nvSpPr>
        <p:spPr bwMode="auto">
          <a:xfrm>
            <a:off x="27384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9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9</a:t>
            </a:r>
          </a:p>
        </p:txBody>
      </p:sp>
      <p:sp>
        <p:nvSpPr>
          <p:cNvPr id="22548" name="AutoShape 19"/>
          <p:cNvSpPr>
            <a:spLocks noChangeArrowheads="1"/>
          </p:cNvSpPr>
          <p:nvPr/>
        </p:nvSpPr>
        <p:spPr bwMode="auto">
          <a:xfrm>
            <a:off x="37322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4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tx2"/>
                </a:solidFill>
              </a:rPr>
              <a:t> 4</a:t>
            </a:r>
          </a:p>
        </p:txBody>
      </p:sp>
      <p:sp>
        <p:nvSpPr>
          <p:cNvPr id="22549" name="AutoShape 20"/>
          <p:cNvSpPr>
            <a:spLocks noChangeArrowheads="1"/>
          </p:cNvSpPr>
          <p:nvPr/>
        </p:nvSpPr>
        <p:spPr bwMode="auto">
          <a:xfrm>
            <a:off x="5029200" y="5668963"/>
            <a:ext cx="720725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3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3</a:t>
            </a:r>
          </a:p>
        </p:txBody>
      </p:sp>
      <p:sp>
        <p:nvSpPr>
          <p:cNvPr id="22550" name="AutoShape 21"/>
          <p:cNvSpPr>
            <a:spLocks noChangeArrowheads="1"/>
          </p:cNvSpPr>
          <p:nvPr/>
        </p:nvSpPr>
        <p:spPr bwMode="auto">
          <a:xfrm>
            <a:off x="6016625" y="5668963"/>
            <a:ext cx="693738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8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8</a:t>
            </a:r>
          </a:p>
        </p:txBody>
      </p:sp>
      <p:sp>
        <p:nvSpPr>
          <p:cNvPr id="22551" name="AutoShape 22"/>
          <p:cNvSpPr>
            <a:spLocks noChangeArrowheads="1"/>
          </p:cNvSpPr>
          <p:nvPr/>
        </p:nvSpPr>
        <p:spPr bwMode="auto">
          <a:xfrm>
            <a:off x="7158038" y="5668963"/>
            <a:ext cx="70643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6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6</a:t>
            </a:r>
          </a:p>
        </p:txBody>
      </p:sp>
      <p:sp>
        <p:nvSpPr>
          <p:cNvPr id="22552" name="AutoShape 23"/>
          <p:cNvSpPr>
            <a:spLocks noChangeArrowheads="1"/>
          </p:cNvSpPr>
          <p:nvPr/>
        </p:nvSpPr>
        <p:spPr bwMode="auto">
          <a:xfrm>
            <a:off x="8151813" y="5668963"/>
            <a:ext cx="687387" cy="427037"/>
          </a:xfrm>
          <a:prstGeom prst="roundRect">
            <a:avLst>
              <a:gd name="adj" fmla="val 16667"/>
            </a:avLst>
          </a:prstGeom>
          <a:solidFill>
            <a:schemeClr val="folHlink"/>
          </a:solidFill>
          <a:ln w="1905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1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>
                <a:solidFill>
                  <a:schemeClr val="folHlink"/>
                </a:solidFill>
              </a:rPr>
              <a:t> </a:t>
            </a:r>
            <a:r>
              <a:rPr lang="en-US" altLang="en-US" sz="1800">
                <a:solidFill>
                  <a:schemeClr val="tx2"/>
                </a:solidFill>
              </a:rPr>
              <a:t>1</a:t>
            </a:r>
          </a:p>
        </p:txBody>
      </p:sp>
      <p:cxnSp>
        <p:nvCxnSpPr>
          <p:cNvPr id="22553" name="AutoShape 24"/>
          <p:cNvCxnSpPr>
            <a:cxnSpLocks noChangeShapeType="1"/>
            <a:stCxn id="22543" idx="0"/>
            <a:endCxn id="22540" idx="2"/>
          </p:cNvCxnSpPr>
          <p:nvPr/>
        </p:nvCxnSpPr>
        <p:spPr bwMode="auto">
          <a:xfrm flipV="1">
            <a:off x="5856288" y="4054475"/>
            <a:ext cx="1068387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4" name="AutoShape 25"/>
          <p:cNvCxnSpPr>
            <a:cxnSpLocks noChangeShapeType="1"/>
            <a:stCxn id="22544" idx="0"/>
            <a:endCxn id="22540" idx="2"/>
          </p:cNvCxnSpPr>
          <p:nvPr/>
        </p:nvCxnSpPr>
        <p:spPr bwMode="auto">
          <a:xfrm flipH="1" flipV="1">
            <a:off x="6924675" y="4054475"/>
            <a:ext cx="10668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5" name="AutoShape 26"/>
          <p:cNvCxnSpPr>
            <a:cxnSpLocks noChangeShapeType="1"/>
            <a:stCxn id="22549" idx="0"/>
            <a:endCxn id="22543" idx="2"/>
          </p:cNvCxnSpPr>
          <p:nvPr/>
        </p:nvCxnSpPr>
        <p:spPr bwMode="auto">
          <a:xfrm flipV="1">
            <a:off x="5389563" y="5080000"/>
            <a:ext cx="4667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6" name="AutoShape 27"/>
          <p:cNvCxnSpPr>
            <a:cxnSpLocks noChangeShapeType="1"/>
            <a:stCxn id="22551" idx="0"/>
            <a:endCxn id="22544" idx="2"/>
          </p:cNvCxnSpPr>
          <p:nvPr/>
        </p:nvCxnSpPr>
        <p:spPr bwMode="auto">
          <a:xfrm flipV="1">
            <a:off x="7512050" y="5080000"/>
            <a:ext cx="4794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7" name="AutoShape 28"/>
          <p:cNvCxnSpPr>
            <a:cxnSpLocks noChangeShapeType="1"/>
            <a:stCxn id="22543" idx="2"/>
            <a:endCxn id="22550" idx="0"/>
          </p:cNvCxnSpPr>
          <p:nvPr/>
        </p:nvCxnSpPr>
        <p:spPr bwMode="auto">
          <a:xfrm>
            <a:off x="5856288" y="5080000"/>
            <a:ext cx="508000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58" name="AutoShape 29"/>
          <p:cNvCxnSpPr>
            <a:cxnSpLocks noChangeShapeType="1"/>
            <a:stCxn id="22544" idx="2"/>
            <a:endCxn id="22552" idx="0"/>
          </p:cNvCxnSpPr>
          <p:nvPr/>
        </p:nvCxnSpPr>
        <p:spPr bwMode="auto">
          <a:xfrm>
            <a:off x="7991475" y="5080000"/>
            <a:ext cx="504825" cy="579438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59" name="AutoShape 30"/>
          <p:cNvSpPr>
            <a:spLocks noChangeArrowheads="1"/>
          </p:cNvSpPr>
          <p:nvPr/>
        </p:nvSpPr>
        <p:spPr bwMode="auto">
          <a:xfrm>
            <a:off x="2286000" y="2590800"/>
            <a:ext cx="4876800" cy="43021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381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800"/>
              <a:t>7  2  9  4 </a:t>
            </a:r>
            <a:r>
              <a:rPr lang="en-US" altLang="en-US" sz="18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</a:t>
            </a:r>
            <a:r>
              <a:rPr lang="en-US" altLang="en-US" sz="1800"/>
              <a:t> 3  8  6  1</a:t>
            </a:r>
            <a:r>
              <a:rPr lang="en-US" altLang="en-US" sz="1800">
                <a:solidFill>
                  <a:schemeClr val="accent1"/>
                </a:solidFill>
              </a:rPr>
              <a:t>  </a:t>
            </a:r>
            <a:r>
              <a:rPr lang="en-US" altLang="en-US" sz="1800" b="1">
                <a:solidFill>
                  <a:srgbClr val="000000"/>
                </a:solidFill>
                <a:sym typeface="Symbol" panose="05050102010706020507" pitchFamily="18" charset="2"/>
              </a:rPr>
              <a:t></a:t>
            </a:r>
            <a:r>
              <a:rPr lang="en-US" altLang="en-US" sz="1800"/>
              <a:t>  </a:t>
            </a:r>
            <a:r>
              <a:rPr lang="en-US" altLang="en-US" sz="1800">
                <a:solidFill>
                  <a:schemeClr val="tx2"/>
                </a:solidFill>
              </a:rPr>
              <a:t>1  2  3  4  6  7  8  9</a:t>
            </a:r>
          </a:p>
        </p:txBody>
      </p:sp>
      <p:cxnSp>
        <p:nvCxnSpPr>
          <p:cNvPr id="22560" name="AutoShape 31"/>
          <p:cNvCxnSpPr>
            <a:cxnSpLocks noChangeShapeType="1"/>
            <a:stCxn id="22539" idx="0"/>
            <a:endCxn id="22559" idx="2"/>
          </p:cNvCxnSpPr>
          <p:nvPr/>
        </p:nvCxnSpPr>
        <p:spPr bwMode="auto">
          <a:xfrm flipV="1">
            <a:off x="2505075" y="3040063"/>
            <a:ext cx="221932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561" name="AutoShape 32"/>
          <p:cNvCxnSpPr>
            <a:cxnSpLocks noChangeShapeType="1"/>
            <a:stCxn id="22540" idx="0"/>
            <a:endCxn id="22559" idx="2"/>
          </p:cNvCxnSpPr>
          <p:nvPr/>
        </p:nvCxnSpPr>
        <p:spPr bwMode="auto">
          <a:xfrm flipH="1" flipV="1">
            <a:off x="4724400" y="3040063"/>
            <a:ext cx="2200275" cy="568325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562" name="Line 33"/>
          <p:cNvSpPr>
            <a:spLocks noChangeShapeType="1"/>
          </p:cNvSpPr>
          <p:nvPr/>
        </p:nvSpPr>
        <p:spPr bwMode="auto">
          <a:xfrm flipH="1">
            <a:off x="27432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563" name="Line 35"/>
          <p:cNvSpPr>
            <a:spLocks noChangeShapeType="1"/>
          </p:cNvSpPr>
          <p:nvPr/>
        </p:nvSpPr>
        <p:spPr bwMode="auto">
          <a:xfrm>
            <a:off x="6019800" y="3124200"/>
            <a:ext cx="685800" cy="228600"/>
          </a:xfrm>
          <a:prstGeom prst="line">
            <a:avLst/>
          </a:prstGeom>
          <a:noFill/>
          <a:ln w="76200">
            <a:solidFill>
              <a:schemeClr val="tx2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Rectangle 2"/>
          <p:cNvSpPr txBox="1">
            <a:spLocks noChangeArrowheads="1"/>
          </p:cNvSpPr>
          <p:nvPr/>
        </p:nvSpPr>
        <p:spPr bwMode="auto">
          <a:xfrm>
            <a:off x="609600" y="447675"/>
            <a:ext cx="7772400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lang="en-US" sz="3600" ker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Execution Example</a:t>
            </a:r>
            <a:endParaRPr lang="en-US" sz="3600" kern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1_computer-bunny.blue">
      <a:majorFont>
        <a:latin typeface="Arial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computer-bunny.blu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mputer-bunny.blu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mputer-bunny.blue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11725</TotalTime>
  <Words>1031</Words>
  <Application>Microsoft Office PowerPoint</Application>
  <PresentationFormat>On-screen Show (4:3)</PresentationFormat>
  <Paragraphs>206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ＭＳ Ｐゴシック</vt:lpstr>
      <vt:lpstr>ＭＳ Ｐゴシック</vt:lpstr>
      <vt:lpstr>Arial</vt:lpstr>
      <vt:lpstr>Monotype Sorts</vt:lpstr>
      <vt:lpstr>Symbol</vt:lpstr>
      <vt:lpstr>Tahoma</vt:lpstr>
      <vt:lpstr>Times New Roman</vt:lpstr>
      <vt:lpstr>Wingdings</vt:lpstr>
      <vt:lpstr>1_computer-bunny.blue</vt:lpstr>
      <vt:lpstr>1_Default Design</vt:lpstr>
      <vt:lpstr>Blueprint</vt:lpstr>
      <vt:lpstr>Divide-and-Conquer Technique:  Merge Sort</vt:lpstr>
      <vt:lpstr>Divide-and-Conquer</vt:lpstr>
      <vt:lpstr>Merge Sort and Quick Sort</vt:lpstr>
      <vt:lpstr>Merge Sort: Algorithm</vt:lpstr>
      <vt:lpstr>Merge Sort: Algorithm</vt:lpstr>
      <vt:lpstr>Execution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Brown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Algorithms</dc:title>
  <dc:creator>Roberto Tamassia</dc:creator>
  <cp:lastModifiedBy>rafiabrar2000@gmail.com</cp:lastModifiedBy>
  <cp:revision>1732</cp:revision>
  <dcterms:created xsi:type="dcterms:W3CDTF">2002-01-21T02:22:10Z</dcterms:created>
  <dcterms:modified xsi:type="dcterms:W3CDTF">2023-02-02T08:16:53Z</dcterms:modified>
</cp:coreProperties>
</file>