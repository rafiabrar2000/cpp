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4" r:id="rId1"/>
    <p:sldMasterId id="2147483666" r:id="rId2"/>
    <p:sldMasterId id="2147483907" r:id="rId3"/>
  </p:sldMasterIdLst>
  <p:notesMasterIdLst>
    <p:notesMasterId r:id="rId14"/>
  </p:notesMasterIdLst>
  <p:handoutMasterIdLst>
    <p:handoutMasterId r:id="rId15"/>
  </p:handoutMasterIdLst>
  <p:sldIdLst>
    <p:sldId id="506" r:id="rId4"/>
    <p:sldId id="554" r:id="rId5"/>
    <p:sldId id="589" r:id="rId6"/>
    <p:sldId id="590" r:id="rId7"/>
    <p:sldId id="591" r:id="rId8"/>
    <p:sldId id="593" r:id="rId9"/>
    <p:sldId id="596" r:id="rId10"/>
    <p:sldId id="595" r:id="rId11"/>
    <p:sldId id="594" r:id="rId12"/>
    <p:sldId id="592" r:id="rId13"/>
  </p:sldIdLst>
  <p:sldSz cx="9144000" cy="6858000" type="screen4x3"/>
  <p:notesSz cx="7302500" cy="9588500"/>
  <p:defaultTextStyle>
    <a:defPPr>
      <a:defRPr lang="en-US"/>
    </a:defPPr>
    <a:lvl1pPr algn="ctr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Arial" charset="0"/>
      </a:defRPr>
    </a:lvl1pPr>
    <a:lvl2pPr marL="457200" algn="ctr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Arial" charset="0"/>
      </a:defRPr>
    </a:lvl2pPr>
    <a:lvl3pPr marL="914400" algn="ctr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Arial" charset="0"/>
      </a:defRPr>
    </a:lvl3pPr>
    <a:lvl4pPr marL="1371600" algn="ctr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Arial" charset="0"/>
      </a:defRPr>
    </a:lvl4pPr>
    <a:lvl5pPr marL="1828800" algn="ctr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Arial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+mn-ea"/>
        <a:cs typeface="Arial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+mn-ea"/>
        <a:cs typeface="Arial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+mn-ea"/>
        <a:cs typeface="Arial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+mn-ea"/>
        <a:cs typeface="Arial" charset="0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00CC"/>
    <a:srgbClr val="5674F6"/>
    <a:srgbClr val="6289F8"/>
    <a:srgbClr val="8097F8"/>
    <a:srgbClr val="2C61F6"/>
    <a:srgbClr val="F8F0D0"/>
    <a:srgbClr val="F2E4AA"/>
    <a:srgbClr val="FF0066"/>
    <a:srgbClr val="00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324" autoAdjust="0"/>
    <p:restoredTop sz="90929"/>
  </p:normalViewPr>
  <p:slideViewPr>
    <p:cSldViewPr snapToObjects="1">
      <p:cViewPr varScale="1">
        <p:scale>
          <a:sx n="85" d="100"/>
          <a:sy n="85" d="100"/>
        </p:scale>
        <p:origin x="-948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  <p:sld r:id="rId7" collapse="1"/>
      <p:sld r:id="rId8" collapse="1"/>
      <p:sld r:id="rId9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7.xml"/><Relationship Id="rId19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notesMaster" Target="notesMasters/notesMaster1.xml"/></Relationships>
</file>

<file path=ppt/_rels/viewProps.xml.rels><?xml version="1.0" encoding="UTF-8" standalone="yes"?>
<Relationships xmlns="http://schemas.openxmlformats.org/package/2006/relationships"><Relationship Id="rId8" Type="http://schemas.openxmlformats.org/officeDocument/2006/relationships/slide" Target="slides/slide9.xml"/><Relationship Id="rId3" Type="http://schemas.openxmlformats.org/officeDocument/2006/relationships/slide" Target="slides/slide4.xml"/><Relationship Id="rId7" Type="http://schemas.openxmlformats.org/officeDocument/2006/relationships/slide" Target="slides/slide8.xml"/><Relationship Id="rId2" Type="http://schemas.openxmlformats.org/officeDocument/2006/relationships/slide" Target="slides/slide3.xml"/><Relationship Id="rId1" Type="http://schemas.openxmlformats.org/officeDocument/2006/relationships/slide" Target="slides/slide2.xml"/><Relationship Id="rId6" Type="http://schemas.openxmlformats.org/officeDocument/2006/relationships/slide" Target="slides/slide7.xml"/><Relationship Id="rId5" Type="http://schemas.openxmlformats.org/officeDocument/2006/relationships/slide" Target="slides/slide6.xml"/><Relationship Id="rId4" Type="http://schemas.openxmlformats.org/officeDocument/2006/relationships/slide" Target="slides/slide5.xml"/><Relationship Id="rId9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6388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09" tIns="48254" rIns="96509" bIns="48254" numCol="1" anchor="t" anchorCtr="0" compatLnSpc="1">
            <a:prstTxWarp prst="textNoShape">
              <a:avLst/>
            </a:prstTxWarp>
          </a:bodyPr>
          <a:lstStyle>
            <a:lvl1pPr algn="l" defTabSz="965200">
              <a:defRPr sz="1300">
                <a:cs typeface="+mn-cs"/>
              </a:defRPr>
            </a:lvl1pPr>
          </a:lstStyle>
          <a:p>
            <a:pPr>
              <a:defRPr/>
            </a:pPr>
            <a:r>
              <a:rPr lang="en-US"/>
              <a:t>Graphs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38613" y="0"/>
            <a:ext cx="316388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09" tIns="48254" rIns="96509" bIns="48254" numCol="1" anchor="t" anchorCtr="0" compatLnSpc="1">
            <a:prstTxWarp prst="textNoShape">
              <a:avLst/>
            </a:prstTxWarp>
          </a:bodyPr>
          <a:lstStyle>
            <a:lvl1pPr algn="r" defTabSz="965200">
              <a:defRPr sz="1300">
                <a:cs typeface="+mn-cs"/>
              </a:defRPr>
            </a:lvl1pPr>
          </a:lstStyle>
          <a:p>
            <a:pPr>
              <a:defRPr/>
            </a:pPr>
            <a:fld id="{D00E836B-36E8-49AB-8547-8706582B2F67}" type="datetime8">
              <a:rPr lang="en-US"/>
              <a:pPr>
                <a:defRPr/>
              </a:pPr>
              <a:t>10/22/2022 10:10 AM</a:t>
            </a:fld>
            <a:endParaRPr lang="en-US"/>
          </a:p>
        </p:txBody>
      </p:sp>
      <p:sp>
        <p:nvSpPr>
          <p:cNvPr id="1536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09075"/>
            <a:ext cx="316388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09" tIns="48254" rIns="96509" bIns="48254" numCol="1" anchor="b" anchorCtr="0" compatLnSpc="1">
            <a:prstTxWarp prst="textNoShape">
              <a:avLst/>
            </a:prstTxWarp>
          </a:bodyPr>
          <a:lstStyle>
            <a:lvl1pPr algn="l" defTabSz="965200">
              <a:defRPr sz="13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38613" y="9109075"/>
            <a:ext cx="316388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09" tIns="48254" rIns="96509" bIns="48254" numCol="1" anchor="b" anchorCtr="0" compatLnSpc="1">
            <a:prstTxWarp prst="textNoShape">
              <a:avLst/>
            </a:prstTxWarp>
          </a:bodyPr>
          <a:lstStyle>
            <a:lvl1pPr algn="r" defTabSz="965200">
              <a:defRPr sz="1300">
                <a:cs typeface="+mn-cs"/>
              </a:defRPr>
            </a:lvl1pPr>
          </a:lstStyle>
          <a:p>
            <a:pPr>
              <a:defRPr/>
            </a:pPr>
            <a:fld id="{34D48E54-F4AD-41ED-B80A-E5771012E59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2216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6388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09" tIns="48254" rIns="96509" bIns="48254" numCol="1" anchor="t" anchorCtr="0" compatLnSpc="1">
            <a:prstTxWarp prst="textNoShape">
              <a:avLst/>
            </a:prstTxWarp>
          </a:bodyPr>
          <a:lstStyle>
            <a:lvl1pPr algn="l" defTabSz="965200">
              <a:defRPr sz="1300">
                <a:cs typeface="+mn-cs"/>
              </a:defRPr>
            </a:lvl1pPr>
          </a:lstStyle>
          <a:p>
            <a:pPr>
              <a:defRPr/>
            </a:pPr>
            <a:r>
              <a:rPr lang="en-US"/>
              <a:t>Graphs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38613" y="0"/>
            <a:ext cx="316388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09" tIns="48254" rIns="96509" bIns="48254" numCol="1" anchor="t" anchorCtr="0" compatLnSpc="1">
            <a:prstTxWarp prst="textNoShape">
              <a:avLst/>
            </a:prstTxWarp>
          </a:bodyPr>
          <a:lstStyle>
            <a:lvl1pPr algn="r" defTabSz="965200">
              <a:defRPr sz="1300">
                <a:cs typeface="+mn-cs"/>
              </a:defRPr>
            </a:lvl1pPr>
          </a:lstStyle>
          <a:p>
            <a:pPr>
              <a:defRPr/>
            </a:pPr>
            <a:fld id="{D78C0AA8-A73B-45CA-A9B6-2AA43BAA7881}" type="datetime8">
              <a:rPr lang="en-US"/>
              <a:pPr>
                <a:defRPr/>
              </a:pPr>
              <a:t>10/22/2022 10:10 AM</a:t>
            </a:fld>
            <a:endParaRPr lang="en-US"/>
          </a:p>
        </p:txBody>
      </p:sp>
      <p:sp>
        <p:nvSpPr>
          <p:cNvPr id="2458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5713" y="720725"/>
            <a:ext cx="4792662" cy="35941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3138" y="4554538"/>
            <a:ext cx="5356225" cy="4313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09" tIns="48254" rIns="96509" bIns="4825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09075"/>
            <a:ext cx="316388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09" tIns="48254" rIns="96509" bIns="48254" numCol="1" anchor="b" anchorCtr="0" compatLnSpc="1">
            <a:prstTxWarp prst="textNoShape">
              <a:avLst/>
            </a:prstTxWarp>
          </a:bodyPr>
          <a:lstStyle>
            <a:lvl1pPr algn="l" defTabSz="965200">
              <a:defRPr sz="13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38613" y="9109075"/>
            <a:ext cx="316388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09" tIns="48254" rIns="96509" bIns="48254" numCol="1" anchor="b" anchorCtr="0" compatLnSpc="1">
            <a:prstTxWarp prst="textNoShape">
              <a:avLst/>
            </a:prstTxWarp>
          </a:bodyPr>
          <a:lstStyle>
            <a:lvl1pPr algn="r" defTabSz="965200">
              <a:defRPr sz="1300">
                <a:cs typeface="+mn-cs"/>
              </a:defRPr>
            </a:lvl1pPr>
          </a:lstStyle>
          <a:p>
            <a:pPr>
              <a:defRPr/>
            </a:pPr>
            <a:fld id="{4F0E5E3B-C471-45F5-8268-51CDC6EA0B0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4972720"/>
      </p:ext>
    </p:extLst>
  </p:cSld>
  <p:clrMap bg1="lt1" tx1="dk1" bg2="lt2" tx2="dk2" accent1="accent1" accent2="accent2" accent3="accent3" accent4="accent4" accent5="accent5" accent6="accent6" hlink="hlink" folHlink="folHlink"/>
  <p:hf ftr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0" y="836613"/>
            <a:ext cx="4572000" cy="76200"/>
          </a:xfrm>
          <a:prstGeom prst="rect">
            <a:avLst/>
          </a:prstGeom>
          <a:gradFill rotWithShape="0">
            <a:gsLst>
              <a:gs pos="0">
                <a:srgbClr val="FF8200"/>
              </a:gs>
              <a:gs pos="10001">
                <a:srgbClr val="FF0000"/>
              </a:gs>
              <a:gs pos="35001">
                <a:srgbClr val="BA0066"/>
              </a:gs>
              <a:gs pos="70000">
                <a:srgbClr val="66008F"/>
              </a:gs>
              <a:gs pos="100000">
                <a:srgbClr val="000082"/>
              </a:gs>
            </a:gsLst>
            <a:lin ang="0" scaled="1"/>
          </a:gradFill>
          <a:ln w="381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4572000" y="836613"/>
            <a:ext cx="4572000" cy="76200"/>
          </a:xfrm>
          <a:prstGeom prst="rect">
            <a:avLst/>
          </a:prstGeom>
          <a:gradFill rotWithShape="0">
            <a:gsLst>
              <a:gs pos="0">
                <a:srgbClr val="000082"/>
              </a:gs>
              <a:gs pos="100000">
                <a:schemeClr val="bg1"/>
              </a:gs>
            </a:gsLst>
            <a:lin ang="0" scaled="1"/>
          </a:gradFill>
          <a:ln w="381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6" name="Rectangle 6"/>
          <p:cNvSpPr>
            <a:spLocks noChangeArrowheads="1"/>
          </p:cNvSpPr>
          <p:nvPr userDrawn="1"/>
        </p:nvSpPr>
        <p:spPr bwMode="auto">
          <a:xfrm>
            <a:off x="2825750" y="6653213"/>
            <a:ext cx="4267200" cy="160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l" eaLnBrk="0" hangingPunct="0">
              <a:defRPr/>
            </a:pPr>
            <a:r>
              <a:rPr lang="en-US" sz="1200" b="1">
                <a:solidFill>
                  <a:srgbClr val="FF6600"/>
                </a:solidFill>
                <a:latin typeface="Arial" charset="0"/>
                <a:cs typeface="+mn-cs"/>
              </a:rPr>
              <a:t>Dr. Md. Abul Kashem Mia, Professor, CSE Dept, BUET</a:t>
            </a:r>
            <a:endParaRPr lang="en-US" sz="900" b="1">
              <a:latin typeface="Arial" charset="0"/>
              <a:cs typeface="+mn-cs"/>
            </a:endParaRPr>
          </a:p>
        </p:txBody>
      </p:sp>
      <p:sp>
        <p:nvSpPr>
          <p:cNvPr id="15053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 sz="4000" b="1">
                <a:latin typeface="Times New Roman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053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Monotype Sort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052513"/>
            <a:ext cx="4038600" cy="4343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052513"/>
            <a:ext cx="4038600" cy="4343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28600"/>
            <a:ext cx="2057400" cy="516731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28600"/>
            <a:ext cx="6019800" cy="516731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CISC 235 Topic 7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57EF93-D708-4299-A42D-D1849988CFC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CISC 235 Topic 7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892A47-9772-449E-A4FF-A6885E2ACC5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CISC 235 Topic 7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472593-6560-40A3-B6AE-CC4CCCA6CA2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CISC 235 Topic 7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2B832A5-8CA4-4A7A-9101-4AB201FAB2D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CISC 235 Topic 7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C4881C-7AA1-4773-A0C0-3B968BD07CD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CISC 235 Topic 7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B4D814-BCF4-4C42-B4CB-B6ABE116C21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CISC 235 Topic 7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20A7578-D549-4761-9491-D337622511C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CISC 235 Topic 7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29F3AD-61DC-44AD-9C7C-7828194A7DB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CISC 235 Topic 7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C1B0816-47BC-4F27-8D64-0A28D0457BD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CISC 235 Topic 7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37B675-87C9-474F-8F01-CD66067F1A6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CISC 235 Topic 7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9EDE1FA-0A54-4289-944D-9EB41E5AD27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0" y="836613"/>
            <a:ext cx="4572000" cy="76200"/>
          </a:xfrm>
          <a:prstGeom prst="rect">
            <a:avLst/>
          </a:prstGeom>
          <a:gradFill rotWithShape="0">
            <a:gsLst>
              <a:gs pos="0">
                <a:srgbClr val="FF8200"/>
              </a:gs>
              <a:gs pos="10001">
                <a:srgbClr val="FF0000"/>
              </a:gs>
              <a:gs pos="35001">
                <a:srgbClr val="BA0066"/>
              </a:gs>
              <a:gs pos="70000">
                <a:srgbClr val="66008F"/>
              </a:gs>
              <a:gs pos="100000">
                <a:srgbClr val="000082"/>
              </a:gs>
            </a:gsLst>
            <a:lin ang="0" scaled="1"/>
          </a:gradFill>
          <a:ln w="381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solidFill>
                <a:srgbClr val="000000"/>
              </a:solidFill>
              <a:cs typeface="Arial"/>
            </a:endParaRPr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4572000" y="836613"/>
            <a:ext cx="4572000" cy="76200"/>
          </a:xfrm>
          <a:prstGeom prst="rect">
            <a:avLst/>
          </a:prstGeom>
          <a:gradFill rotWithShape="0">
            <a:gsLst>
              <a:gs pos="0">
                <a:srgbClr val="000082"/>
              </a:gs>
              <a:gs pos="100000">
                <a:schemeClr val="bg1"/>
              </a:gs>
            </a:gsLst>
            <a:lin ang="0" scaled="1"/>
          </a:gradFill>
          <a:ln w="381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solidFill>
                <a:srgbClr val="000000"/>
              </a:solidFill>
              <a:cs typeface="Arial"/>
            </a:endParaRPr>
          </a:p>
        </p:txBody>
      </p:sp>
      <p:sp>
        <p:nvSpPr>
          <p:cNvPr id="6" name="Rectangle 6"/>
          <p:cNvSpPr>
            <a:spLocks noChangeArrowheads="1"/>
          </p:cNvSpPr>
          <p:nvPr userDrawn="1"/>
        </p:nvSpPr>
        <p:spPr bwMode="auto">
          <a:xfrm>
            <a:off x="2825750" y="6653213"/>
            <a:ext cx="4267200" cy="160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l" eaLnBrk="0" hangingPunct="0">
              <a:defRPr/>
            </a:pPr>
            <a:r>
              <a:rPr lang="en-US" sz="1200" b="1">
                <a:solidFill>
                  <a:srgbClr val="FF6600"/>
                </a:solidFill>
                <a:latin typeface="Arial" charset="0"/>
                <a:cs typeface="Arial"/>
              </a:rPr>
              <a:t>Dr. Md. Abul Kashem Mia, Professor, CSE Dept, BUET</a:t>
            </a:r>
            <a:endParaRPr lang="en-US" sz="900" b="1">
              <a:solidFill>
                <a:srgbClr val="000000"/>
              </a:solidFill>
              <a:latin typeface="Arial" charset="0"/>
              <a:cs typeface="Arial"/>
            </a:endParaRPr>
          </a:p>
        </p:txBody>
      </p:sp>
      <p:sp>
        <p:nvSpPr>
          <p:cNvPr id="15053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 sz="4000" b="1">
                <a:latin typeface="Times New Roman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053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Monotype Sort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052513"/>
            <a:ext cx="4038600" cy="4343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052513"/>
            <a:ext cx="4038600" cy="4343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28600"/>
            <a:ext cx="2057400" cy="516731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28600"/>
            <a:ext cx="6019800" cy="516731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28600"/>
            <a:ext cx="8229600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052513"/>
            <a:ext cx="8229600" cy="434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9508" name="Rectangle 4"/>
          <p:cNvSpPr>
            <a:spLocks noChangeArrowheads="1"/>
          </p:cNvSpPr>
          <p:nvPr/>
        </p:nvSpPr>
        <p:spPr bwMode="auto">
          <a:xfrm>
            <a:off x="0" y="836613"/>
            <a:ext cx="4572000" cy="76200"/>
          </a:xfrm>
          <a:prstGeom prst="rect">
            <a:avLst/>
          </a:prstGeom>
          <a:gradFill rotWithShape="0">
            <a:gsLst>
              <a:gs pos="0">
                <a:srgbClr val="FF8200"/>
              </a:gs>
              <a:gs pos="10001">
                <a:srgbClr val="FF0000"/>
              </a:gs>
              <a:gs pos="35001">
                <a:srgbClr val="BA0066"/>
              </a:gs>
              <a:gs pos="70000">
                <a:srgbClr val="66008F"/>
              </a:gs>
              <a:gs pos="100000">
                <a:srgbClr val="000082"/>
              </a:gs>
            </a:gsLst>
            <a:lin ang="0" scaled="1"/>
          </a:gradFill>
          <a:ln w="381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149509" name="Rectangle 5"/>
          <p:cNvSpPr>
            <a:spLocks noChangeArrowheads="1"/>
          </p:cNvSpPr>
          <p:nvPr/>
        </p:nvSpPr>
        <p:spPr bwMode="auto">
          <a:xfrm>
            <a:off x="4572000" y="836613"/>
            <a:ext cx="4572000" cy="76200"/>
          </a:xfrm>
          <a:prstGeom prst="rect">
            <a:avLst/>
          </a:prstGeom>
          <a:gradFill rotWithShape="0">
            <a:gsLst>
              <a:gs pos="0">
                <a:srgbClr val="000082"/>
              </a:gs>
              <a:gs pos="100000">
                <a:schemeClr val="bg1"/>
              </a:gs>
            </a:gsLst>
            <a:lin ang="0" scaled="1"/>
          </a:gradFill>
          <a:ln w="381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149510" name="Rectangle 6"/>
          <p:cNvSpPr>
            <a:spLocks noChangeArrowheads="1"/>
          </p:cNvSpPr>
          <p:nvPr userDrawn="1"/>
        </p:nvSpPr>
        <p:spPr bwMode="auto">
          <a:xfrm>
            <a:off x="2825750" y="6653213"/>
            <a:ext cx="4267200" cy="160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l" eaLnBrk="0" hangingPunct="0">
              <a:defRPr/>
            </a:pPr>
            <a:r>
              <a:rPr lang="en-US" sz="1200" b="1" dirty="0">
                <a:solidFill>
                  <a:srgbClr val="FF6600"/>
                </a:solidFill>
                <a:latin typeface="Arial" charset="0"/>
                <a:cs typeface="+mn-cs"/>
              </a:rPr>
              <a:t>Dr. Md. </a:t>
            </a:r>
            <a:r>
              <a:rPr lang="en-US" sz="1200" b="1" dirty="0" err="1">
                <a:solidFill>
                  <a:srgbClr val="FF6600"/>
                </a:solidFill>
                <a:latin typeface="Arial" charset="0"/>
                <a:cs typeface="+mn-cs"/>
              </a:rPr>
              <a:t>Abul</a:t>
            </a:r>
            <a:r>
              <a:rPr lang="en-US" sz="1200" b="1" dirty="0">
                <a:solidFill>
                  <a:srgbClr val="FF6600"/>
                </a:solidFill>
                <a:latin typeface="Arial" charset="0"/>
                <a:cs typeface="+mn-cs"/>
              </a:rPr>
              <a:t> </a:t>
            </a:r>
            <a:r>
              <a:rPr lang="en-US" sz="1200" b="1" dirty="0" err="1">
                <a:solidFill>
                  <a:srgbClr val="FF6600"/>
                </a:solidFill>
                <a:latin typeface="Arial" charset="0"/>
                <a:cs typeface="+mn-cs"/>
              </a:rPr>
              <a:t>Kashem</a:t>
            </a:r>
            <a:r>
              <a:rPr lang="en-US" sz="1200" b="1" dirty="0">
                <a:solidFill>
                  <a:srgbClr val="FF6600"/>
                </a:solidFill>
                <a:latin typeface="Arial" charset="0"/>
                <a:cs typeface="+mn-cs"/>
              </a:rPr>
              <a:t> Mia, Professor, CSE Dept, BUET</a:t>
            </a:r>
            <a:r>
              <a:rPr lang="en-US" sz="900" b="1" dirty="0">
                <a:latin typeface="Arial" charset="0"/>
                <a:cs typeface="+mn-cs"/>
              </a:rPr>
              <a:t>  	           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1" r:id="rId1"/>
    <p:sldLayoutId id="2147483849" r:id="rId2"/>
    <p:sldLayoutId id="2147483850" r:id="rId3"/>
    <p:sldLayoutId id="2147483851" r:id="rId4"/>
    <p:sldLayoutId id="2147483852" r:id="rId5"/>
    <p:sldLayoutId id="2147483853" r:id="rId6"/>
    <p:sldLayoutId id="2147483854" r:id="rId7"/>
    <p:sldLayoutId id="2147483855" r:id="rId8"/>
    <p:sldLayoutId id="2147483856" r:id="rId9"/>
    <p:sldLayoutId id="2147483857" r:id="rId10"/>
    <p:sldLayoutId id="2147483858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  <a:cs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  <a:cs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  <a:cs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Monotype Sorts" pitchFamily="2" charset="2"/>
        <a:buChar char="l"/>
        <a:defRPr sz="26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65000"/>
        <a:buFont typeface="Monotype Sorts" pitchFamily="2" charset="2"/>
        <a:buChar char="n"/>
        <a:defRPr sz="24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Monotype Sorts" pitchFamily="2" charset="2"/>
        <a:buChar char="u"/>
        <a:defRPr sz="22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Monotype Sorts" pitchFamily="2" charset="2"/>
        <a:buChar char="]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Char char="–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100000"/>
        <a:buChar char="–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100000"/>
        <a:buChar char="–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100000"/>
        <a:buChar char="–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100000"/>
        <a:buChar char="–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4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CISC 235 Topic 7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3B0E2B21-579C-47CF-81C7-16A89EE59E8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189447" name="Line 7"/>
          <p:cNvSpPr>
            <a:spLocks noChangeShapeType="1"/>
          </p:cNvSpPr>
          <p:nvPr userDrawn="1"/>
        </p:nvSpPr>
        <p:spPr bwMode="auto">
          <a:xfrm>
            <a:off x="468313" y="1484313"/>
            <a:ext cx="8207375" cy="0"/>
          </a:xfrm>
          <a:prstGeom prst="line">
            <a:avLst/>
          </a:prstGeom>
          <a:noFill/>
          <a:ln w="38100">
            <a:solidFill>
              <a:srgbClr val="D60093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189448" name="Line 8"/>
          <p:cNvSpPr>
            <a:spLocks noChangeShapeType="1"/>
          </p:cNvSpPr>
          <p:nvPr userDrawn="1"/>
        </p:nvSpPr>
        <p:spPr bwMode="auto">
          <a:xfrm>
            <a:off x="468313" y="1557338"/>
            <a:ext cx="8207375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189449" name="Line 9"/>
          <p:cNvSpPr>
            <a:spLocks noChangeShapeType="1"/>
          </p:cNvSpPr>
          <p:nvPr userDrawn="1"/>
        </p:nvSpPr>
        <p:spPr bwMode="auto">
          <a:xfrm>
            <a:off x="468313" y="1412875"/>
            <a:ext cx="8207375" cy="0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9" r:id="rId1"/>
    <p:sldLayoutId id="2147483860" r:id="rId2"/>
    <p:sldLayoutId id="2147483861" r:id="rId3"/>
    <p:sldLayoutId id="2147483862" r:id="rId4"/>
    <p:sldLayoutId id="2147483863" r:id="rId5"/>
    <p:sldLayoutId id="2147483864" r:id="rId6"/>
    <p:sldLayoutId id="2147483865" r:id="rId7"/>
    <p:sldLayoutId id="2147483866" r:id="rId8"/>
    <p:sldLayoutId id="2147483867" r:id="rId9"/>
    <p:sldLayoutId id="2147483868" r:id="rId10"/>
    <p:sldLayoutId id="2147483869" r:id="rId11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D60093"/>
          </a:solidFill>
          <a:latin typeface="+mj-lt"/>
          <a:ea typeface="MS PGothic" pitchFamily="34" charset="-128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D60093"/>
          </a:solidFill>
          <a:latin typeface="Arial" charset="0"/>
          <a:ea typeface="MS PGothic" pitchFamily="34" charset="-128"/>
          <a:cs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D60093"/>
          </a:solidFill>
          <a:latin typeface="Arial" charset="0"/>
          <a:ea typeface="MS PGothic" pitchFamily="34" charset="-128"/>
          <a:cs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D60093"/>
          </a:solidFill>
          <a:latin typeface="Arial" charset="0"/>
          <a:ea typeface="MS PGothic" pitchFamily="34" charset="-128"/>
          <a:cs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D60093"/>
          </a:solidFill>
          <a:latin typeface="Arial" charset="0"/>
          <a:ea typeface="MS PGothic" pitchFamily="34" charset="-128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rgbClr val="D60093"/>
          </a:solidFill>
          <a:latin typeface="Arial" charset="0"/>
          <a:ea typeface="ＭＳ Ｐゴシック" pitchFamily="34" charset="-128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rgbClr val="D60093"/>
          </a:solidFill>
          <a:latin typeface="Arial" charset="0"/>
          <a:ea typeface="ＭＳ Ｐゴシック" pitchFamily="34" charset="-128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rgbClr val="D60093"/>
          </a:solidFill>
          <a:latin typeface="Arial" charset="0"/>
          <a:ea typeface="ＭＳ Ｐゴシック" pitchFamily="34" charset="-128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rgbClr val="D60093"/>
          </a:solidFill>
          <a:latin typeface="Arial" charset="0"/>
          <a:ea typeface="ＭＳ Ｐゴシック" pitchFamily="34" charset="-128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accent2"/>
          </a:solidFill>
          <a:latin typeface="+mn-lt"/>
          <a:ea typeface="MS PGothic" pitchFamily="34" charset="-128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MS PGothic" pitchFamily="34" charset="-128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MS PGothic" pitchFamily="34" charset="-128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MS PGothic" pitchFamily="34" charset="-128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MS PGothic" pitchFamily="34" charset="-128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28600"/>
            <a:ext cx="8229600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052513"/>
            <a:ext cx="8229600" cy="434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9508" name="Rectangle 4"/>
          <p:cNvSpPr>
            <a:spLocks noChangeArrowheads="1"/>
          </p:cNvSpPr>
          <p:nvPr/>
        </p:nvSpPr>
        <p:spPr bwMode="auto">
          <a:xfrm>
            <a:off x="0" y="836613"/>
            <a:ext cx="4572000" cy="76200"/>
          </a:xfrm>
          <a:prstGeom prst="rect">
            <a:avLst/>
          </a:prstGeom>
          <a:gradFill rotWithShape="0">
            <a:gsLst>
              <a:gs pos="0">
                <a:srgbClr val="FF8200"/>
              </a:gs>
              <a:gs pos="10001">
                <a:srgbClr val="FF0000"/>
              </a:gs>
              <a:gs pos="35001">
                <a:srgbClr val="BA0066"/>
              </a:gs>
              <a:gs pos="70000">
                <a:srgbClr val="66008F"/>
              </a:gs>
              <a:gs pos="100000">
                <a:srgbClr val="000082"/>
              </a:gs>
            </a:gsLst>
            <a:lin ang="0" scaled="1"/>
          </a:gradFill>
          <a:ln w="381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solidFill>
                <a:srgbClr val="000000"/>
              </a:solidFill>
              <a:cs typeface="Arial"/>
            </a:endParaRPr>
          </a:p>
        </p:txBody>
      </p:sp>
      <p:sp>
        <p:nvSpPr>
          <p:cNvPr id="149509" name="Rectangle 5"/>
          <p:cNvSpPr>
            <a:spLocks noChangeArrowheads="1"/>
          </p:cNvSpPr>
          <p:nvPr/>
        </p:nvSpPr>
        <p:spPr bwMode="auto">
          <a:xfrm>
            <a:off x="4572000" y="836613"/>
            <a:ext cx="4572000" cy="76200"/>
          </a:xfrm>
          <a:prstGeom prst="rect">
            <a:avLst/>
          </a:prstGeom>
          <a:gradFill rotWithShape="0">
            <a:gsLst>
              <a:gs pos="0">
                <a:srgbClr val="000082"/>
              </a:gs>
              <a:gs pos="100000">
                <a:schemeClr val="bg1"/>
              </a:gs>
            </a:gsLst>
            <a:lin ang="0" scaled="1"/>
          </a:gradFill>
          <a:ln w="381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solidFill>
                <a:srgbClr val="000000"/>
              </a:solidFill>
              <a:cs typeface="Arial"/>
            </a:endParaRPr>
          </a:p>
        </p:txBody>
      </p:sp>
      <p:sp>
        <p:nvSpPr>
          <p:cNvPr id="149510" name="Rectangle 6"/>
          <p:cNvSpPr>
            <a:spLocks noChangeArrowheads="1"/>
          </p:cNvSpPr>
          <p:nvPr userDrawn="1"/>
        </p:nvSpPr>
        <p:spPr bwMode="auto">
          <a:xfrm>
            <a:off x="2825750" y="6653213"/>
            <a:ext cx="4267200" cy="160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l" eaLnBrk="0" hangingPunct="0">
              <a:defRPr/>
            </a:pPr>
            <a:r>
              <a:rPr lang="en-US" sz="1200" b="1" dirty="0">
                <a:solidFill>
                  <a:srgbClr val="FF6600"/>
                </a:solidFill>
                <a:latin typeface="Arial" charset="0"/>
                <a:cs typeface="Arial"/>
              </a:rPr>
              <a:t>Dr. Md. </a:t>
            </a:r>
            <a:r>
              <a:rPr lang="en-US" sz="1200" b="1" dirty="0" err="1">
                <a:solidFill>
                  <a:srgbClr val="FF6600"/>
                </a:solidFill>
                <a:latin typeface="Arial" charset="0"/>
                <a:cs typeface="Arial"/>
              </a:rPr>
              <a:t>Abul</a:t>
            </a:r>
            <a:r>
              <a:rPr lang="en-US" sz="1200" b="1" dirty="0">
                <a:solidFill>
                  <a:srgbClr val="FF6600"/>
                </a:solidFill>
                <a:latin typeface="Arial" charset="0"/>
                <a:cs typeface="Arial"/>
              </a:rPr>
              <a:t> </a:t>
            </a:r>
            <a:r>
              <a:rPr lang="en-US" sz="1200" b="1" dirty="0" err="1">
                <a:solidFill>
                  <a:srgbClr val="FF6600"/>
                </a:solidFill>
                <a:latin typeface="Arial" charset="0"/>
                <a:cs typeface="Arial"/>
              </a:rPr>
              <a:t>Kashem</a:t>
            </a:r>
            <a:r>
              <a:rPr lang="en-US" sz="1200" b="1" dirty="0">
                <a:solidFill>
                  <a:srgbClr val="FF6600"/>
                </a:solidFill>
                <a:latin typeface="Arial" charset="0"/>
                <a:cs typeface="Arial"/>
              </a:rPr>
              <a:t> Mia, Professor, CSE Dept, BUET</a:t>
            </a:r>
            <a:r>
              <a:rPr lang="en-US" sz="900" b="1" dirty="0">
                <a:solidFill>
                  <a:srgbClr val="000000"/>
                </a:solidFill>
                <a:latin typeface="Arial" charset="0"/>
                <a:cs typeface="Arial"/>
              </a:rPr>
              <a:t>  	           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08" r:id="rId1"/>
    <p:sldLayoutId id="2147483909" r:id="rId2"/>
    <p:sldLayoutId id="2147483910" r:id="rId3"/>
    <p:sldLayoutId id="2147483911" r:id="rId4"/>
    <p:sldLayoutId id="2147483912" r:id="rId5"/>
    <p:sldLayoutId id="2147483913" r:id="rId6"/>
    <p:sldLayoutId id="2147483914" r:id="rId7"/>
    <p:sldLayoutId id="2147483915" r:id="rId8"/>
    <p:sldLayoutId id="2147483916" r:id="rId9"/>
    <p:sldLayoutId id="2147483917" r:id="rId10"/>
    <p:sldLayoutId id="2147483918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  <a:cs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  <a:cs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  <a:cs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Monotype Sorts" pitchFamily="2" charset="2"/>
        <a:buChar char="l"/>
        <a:defRPr sz="26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65000"/>
        <a:buFont typeface="Monotype Sorts" pitchFamily="2" charset="2"/>
        <a:buChar char="n"/>
        <a:defRPr sz="24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Monotype Sorts" pitchFamily="2" charset="2"/>
        <a:buChar char="u"/>
        <a:defRPr sz="22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Monotype Sorts" pitchFamily="2" charset="2"/>
        <a:buChar char="]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Char char="–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100000"/>
        <a:buChar char="–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100000"/>
        <a:buChar char="–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100000"/>
        <a:buChar char="–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100000"/>
        <a:buChar char="–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14363" y="2130425"/>
            <a:ext cx="7989887" cy="1802631"/>
          </a:xfrm>
        </p:spPr>
        <p:txBody>
          <a:bodyPr/>
          <a:lstStyle/>
          <a:p>
            <a:pPr eaLnBrk="1" hangingPunct="1">
              <a:defRPr/>
            </a:pPr>
            <a:r>
              <a:rPr lang="en-US" sz="4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Divide-and-Conquer Technique: </a:t>
            </a:r>
            <a:br>
              <a:rPr lang="en-US" sz="4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4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Finding</a:t>
            </a:r>
            <a:r>
              <a:rPr lang="en-US" sz="4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Maximum &amp; Minimum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 lIns="91440" tIns="45720" rIns="91440" bIns="45720" anchor="b"/>
          <a:lstStyle/>
          <a:p>
            <a:pPr eaLnBrk="1" hangingPunct="1">
              <a:defRPr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Divide-and-Conquer</a:t>
            </a:r>
          </a:p>
        </p:txBody>
      </p:sp>
      <p:sp>
        <p:nvSpPr>
          <p:cNvPr id="8195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250825" y="1171575"/>
            <a:ext cx="5113338" cy="4953000"/>
          </a:xfrm>
        </p:spPr>
        <p:txBody>
          <a:bodyPr lIns="91440" tIns="45720" rIns="91440" bIns="45720"/>
          <a:lstStyle/>
          <a:p>
            <a:pPr eaLnBrk="1" hangingPunct="1">
              <a:lnSpc>
                <a:spcPct val="90000"/>
              </a:lnSpc>
            </a:pPr>
            <a:r>
              <a:rPr lang="en-US" sz="2200" dirty="0">
                <a:solidFill>
                  <a:schemeClr val="tx2"/>
                </a:solidFill>
              </a:rPr>
              <a:t>Divide-and-Conquer</a:t>
            </a:r>
            <a:r>
              <a:rPr lang="en-US" sz="2200" dirty="0"/>
              <a:t> is a general algorithm design paradigm: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200" dirty="0">
                <a:solidFill>
                  <a:schemeClr val="tx2"/>
                </a:solidFill>
              </a:rPr>
              <a:t>Divide</a:t>
            </a:r>
            <a:r>
              <a:rPr lang="en-US" sz="2200" dirty="0"/>
              <a:t> the problem into a number of subproblems that are smaller instances of the same problem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200" dirty="0">
                <a:solidFill>
                  <a:schemeClr val="tx2"/>
                </a:solidFill>
              </a:rPr>
              <a:t>Conquer</a:t>
            </a:r>
            <a:r>
              <a:rPr lang="en-US" sz="2200" dirty="0"/>
              <a:t> the subproblems by solving them recursively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200" dirty="0">
                <a:solidFill>
                  <a:schemeClr val="tx2"/>
                </a:solidFill>
              </a:rPr>
              <a:t>Combine</a:t>
            </a:r>
            <a:r>
              <a:rPr lang="en-US" sz="2200" dirty="0"/>
              <a:t> the solutions to the subproblems into the solution for the original problem</a:t>
            </a:r>
            <a:endParaRPr lang="en-US" sz="2200" b="1" i="1" dirty="0"/>
          </a:p>
          <a:p>
            <a:pPr eaLnBrk="1" hangingPunct="1">
              <a:lnSpc>
                <a:spcPct val="90000"/>
              </a:lnSpc>
            </a:pPr>
            <a:r>
              <a:rPr lang="en-US" sz="2200" dirty="0"/>
              <a:t>The base case for the recursion are subproblems of constant size</a:t>
            </a:r>
          </a:p>
          <a:p>
            <a:pPr eaLnBrk="1" hangingPunct="1">
              <a:lnSpc>
                <a:spcPct val="90000"/>
              </a:lnSpc>
            </a:pPr>
            <a:r>
              <a:rPr lang="en-US" sz="2200" dirty="0"/>
              <a:t>Analysis can be done using </a:t>
            </a:r>
            <a:r>
              <a:rPr lang="en-US" sz="2200" b="1" dirty="0">
                <a:solidFill>
                  <a:schemeClr val="tx2"/>
                </a:solidFill>
              </a:rPr>
              <a:t>recurrence equations</a:t>
            </a:r>
          </a:p>
        </p:txBody>
      </p:sp>
      <p:grpSp>
        <p:nvGrpSpPr>
          <p:cNvPr id="8196" name="Group 54"/>
          <p:cNvGrpSpPr>
            <a:grpSpLocks/>
          </p:cNvGrpSpPr>
          <p:nvPr/>
        </p:nvGrpSpPr>
        <p:grpSpPr bwMode="auto">
          <a:xfrm>
            <a:off x="5535613" y="2286000"/>
            <a:ext cx="3429000" cy="1676400"/>
            <a:chOff x="3342" y="1584"/>
            <a:chExt cx="1698" cy="816"/>
          </a:xfrm>
        </p:grpSpPr>
        <p:sp>
          <p:nvSpPr>
            <p:cNvPr id="8197" name="Oval 9"/>
            <p:cNvSpPr>
              <a:spLocks noChangeArrowheads="1"/>
            </p:cNvSpPr>
            <p:nvPr/>
          </p:nvSpPr>
          <p:spPr bwMode="auto">
            <a:xfrm>
              <a:off x="4098" y="1584"/>
              <a:ext cx="213" cy="213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/>
            <a:p>
              <a:endParaRPr lang="en-US" sz="2000">
                <a:latin typeface="Times New Roman" pitchFamily="18" charset="0"/>
                <a:sym typeface="Symbol" pitchFamily="18" charset="2"/>
              </a:endParaRPr>
            </a:p>
          </p:txBody>
        </p:sp>
        <p:cxnSp>
          <p:nvCxnSpPr>
            <p:cNvPr id="8198" name="AutoShape 16"/>
            <p:cNvCxnSpPr>
              <a:cxnSpLocks noChangeShapeType="1"/>
              <a:stCxn id="8202" idx="7"/>
              <a:endCxn id="8197" idx="3"/>
            </p:cNvCxnSpPr>
            <p:nvPr/>
          </p:nvCxnSpPr>
          <p:spPr bwMode="auto">
            <a:xfrm flipV="1">
              <a:off x="3688" y="1772"/>
              <a:ext cx="441" cy="184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8199" name="AutoShape 17"/>
            <p:cNvCxnSpPr>
              <a:cxnSpLocks noChangeShapeType="1"/>
              <a:stCxn id="8209" idx="0"/>
              <a:endCxn id="8197" idx="4"/>
            </p:cNvCxnSpPr>
            <p:nvPr/>
          </p:nvCxnSpPr>
          <p:spPr bwMode="auto">
            <a:xfrm flipV="1">
              <a:off x="4198" y="1803"/>
              <a:ext cx="7" cy="122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8200" name="AutoShape 18"/>
            <p:cNvCxnSpPr>
              <a:cxnSpLocks noChangeShapeType="1"/>
              <a:stCxn id="8203" idx="0"/>
              <a:endCxn id="8202" idx="4"/>
            </p:cNvCxnSpPr>
            <p:nvPr/>
          </p:nvCxnSpPr>
          <p:spPr bwMode="auto">
            <a:xfrm flipV="1">
              <a:off x="3611" y="2150"/>
              <a:ext cx="2" cy="91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8201" name="AutoShape 19"/>
            <p:cNvCxnSpPr>
              <a:cxnSpLocks noChangeShapeType="1"/>
              <a:stCxn id="8204" idx="0"/>
              <a:endCxn id="8202" idx="3"/>
            </p:cNvCxnSpPr>
            <p:nvPr/>
          </p:nvCxnSpPr>
          <p:spPr bwMode="auto">
            <a:xfrm flipV="1">
              <a:off x="3419" y="2119"/>
              <a:ext cx="118" cy="122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</p:cxnSp>
        <p:sp>
          <p:nvSpPr>
            <p:cNvPr id="8202" name="Oval 24"/>
            <p:cNvSpPr>
              <a:spLocks noChangeArrowheads="1"/>
            </p:cNvSpPr>
            <p:nvPr/>
          </p:nvSpPr>
          <p:spPr bwMode="auto">
            <a:xfrm>
              <a:off x="3506" y="1931"/>
              <a:ext cx="213" cy="213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/>
            <a:p>
              <a:endParaRPr lang="en-US" sz="2000">
                <a:latin typeface="Times New Roman" pitchFamily="18" charset="0"/>
                <a:sym typeface="Symbol" pitchFamily="18" charset="2"/>
              </a:endParaRPr>
            </a:p>
          </p:txBody>
        </p:sp>
        <p:sp>
          <p:nvSpPr>
            <p:cNvPr id="8203" name="Rectangle 31"/>
            <p:cNvSpPr>
              <a:spLocks noChangeAspect="1" noChangeArrowheads="1"/>
            </p:cNvSpPr>
            <p:nvPr/>
          </p:nvSpPr>
          <p:spPr bwMode="auto">
            <a:xfrm>
              <a:off x="3534" y="2247"/>
              <a:ext cx="153" cy="153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04" name="Rectangle 36"/>
            <p:cNvSpPr>
              <a:spLocks noChangeAspect="1" noChangeArrowheads="1"/>
            </p:cNvSpPr>
            <p:nvPr/>
          </p:nvSpPr>
          <p:spPr bwMode="auto">
            <a:xfrm>
              <a:off x="3342" y="2247"/>
              <a:ext cx="153" cy="153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05" name="Rectangle 37"/>
            <p:cNvSpPr>
              <a:spLocks noChangeAspect="1" noChangeArrowheads="1"/>
            </p:cNvSpPr>
            <p:nvPr/>
          </p:nvSpPr>
          <p:spPr bwMode="auto">
            <a:xfrm>
              <a:off x="3726" y="2247"/>
              <a:ext cx="153" cy="153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cxnSp>
          <p:nvCxnSpPr>
            <p:cNvPr id="8206" name="AutoShape 38"/>
            <p:cNvCxnSpPr>
              <a:cxnSpLocks noChangeShapeType="1"/>
              <a:stCxn id="8205" idx="0"/>
              <a:endCxn id="8202" idx="5"/>
            </p:cNvCxnSpPr>
            <p:nvPr/>
          </p:nvCxnSpPr>
          <p:spPr bwMode="auto">
            <a:xfrm flipH="1" flipV="1">
              <a:off x="3688" y="2119"/>
              <a:ext cx="115" cy="122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8207" name="AutoShape 39"/>
            <p:cNvCxnSpPr>
              <a:cxnSpLocks noChangeShapeType="1"/>
              <a:stCxn id="8210" idx="0"/>
              <a:endCxn id="8209" idx="4"/>
            </p:cNvCxnSpPr>
            <p:nvPr/>
          </p:nvCxnSpPr>
          <p:spPr bwMode="auto">
            <a:xfrm flipV="1">
              <a:off x="4196" y="2150"/>
              <a:ext cx="2" cy="91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8208" name="AutoShape 40"/>
            <p:cNvCxnSpPr>
              <a:cxnSpLocks noChangeShapeType="1"/>
              <a:stCxn id="8211" idx="0"/>
              <a:endCxn id="8209" idx="3"/>
            </p:cNvCxnSpPr>
            <p:nvPr/>
          </p:nvCxnSpPr>
          <p:spPr bwMode="auto">
            <a:xfrm flipV="1">
              <a:off x="4004" y="2119"/>
              <a:ext cx="118" cy="122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</p:cxnSp>
        <p:sp>
          <p:nvSpPr>
            <p:cNvPr id="8209" name="Oval 41"/>
            <p:cNvSpPr>
              <a:spLocks noChangeArrowheads="1"/>
            </p:cNvSpPr>
            <p:nvPr/>
          </p:nvSpPr>
          <p:spPr bwMode="auto">
            <a:xfrm>
              <a:off x="4091" y="1931"/>
              <a:ext cx="213" cy="213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/>
            <a:p>
              <a:endParaRPr lang="en-US" sz="2000">
                <a:latin typeface="Times New Roman" pitchFamily="18" charset="0"/>
                <a:sym typeface="Symbol" pitchFamily="18" charset="2"/>
              </a:endParaRPr>
            </a:p>
          </p:txBody>
        </p:sp>
        <p:sp>
          <p:nvSpPr>
            <p:cNvPr id="8210" name="Rectangle 42"/>
            <p:cNvSpPr>
              <a:spLocks noChangeAspect="1" noChangeArrowheads="1"/>
            </p:cNvSpPr>
            <p:nvPr/>
          </p:nvSpPr>
          <p:spPr bwMode="auto">
            <a:xfrm>
              <a:off x="4119" y="2247"/>
              <a:ext cx="153" cy="153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11" name="Rectangle 43"/>
            <p:cNvSpPr>
              <a:spLocks noChangeAspect="1" noChangeArrowheads="1"/>
            </p:cNvSpPr>
            <p:nvPr/>
          </p:nvSpPr>
          <p:spPr bwMode="auto">
            <a:xfrm>
              <a:off x="3927" y="2247"/>
              <a:ext cx="153" cy="153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12" name="Rectangle 44"/>
            <p:cNvSpPr>
              <a:spLocks noChangeAspect="1" noChangeArrowheads="1"/>
            </p:cNvSpPr>
            <p:nvPr/>
          </p:nvSpPr>
          <p:spPr bwMode="auto">
            <a:xfrm>
              <a:off x="4311" y="2247"/>
              <a:ext cx="153" cy="153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cxnSp>
          <p:nvCxnSpPr>
            <p:cNvPr id="8213" name="AutoShape 45"/>
            <p:cNvCxnSpPr>
              <a:cxnSpLocks noChangeShapeType="1"/>
              <a:stCxn id="8212" idx="0"/>
              <a:endCxn id="8209" idx="5"/>
            </p:cNvCxnSpPr>
            <p:nvPr/>
          </p:nvCxnSpPr>
          <p:spPr bwMode="auto">
            <a:xfrm flipH="1" flipV="1">
              <a:off x="4273" y="2119"/>
              <a:ext cx="115" cy="122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8214" name="AutoShape 46"/>
            <p:cNvCxnSpPr>
              <a:cxnSpLocks noChangeShapeType="1"/>
              <a:stCxn id="8217" idx="0"/>
              <a:endCxn id="8216" idx="4"/>
            </p:cNvCxnSpPr>
            <p:nvPr/>
          </p:nvCxnSpPr>
          <p:spPr bwMode="auto">
            <a:xfrm flipV="1">
              <a:off x="4772" y="2150"/>
              <a:ext cx="2" cy="91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8215" name="AutoShape 47"/>
            <p:cNvCxnSpPr>
              <a:cxnSpLocks noChangeShapeType="1"/>
              <a:stCxn id="8218" idx="0"/>
              <a:endCxn id="8216" idx="3"/>
            </p:cNvCxnSpPr>
            <p:nvPr/>
          </p:nvCxnSpPr>
          <p:spPr bwMode="auto">
            <a:xfrm flipV="1">
              <a:off x="4580" y="2119"/>
              <a:ext cx="118" cy="122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</p:cxnSp>
        <p:sp>
          <p:nvSpPr>
            <p:cNvPr id="8216" name="Oval 48"/>
            <p:cNvSpPr>
              <a:spLocks noChangeArrowheads="1"/>
            </p:cNvSpPr>
            <p:nvPr/>
          </p:nvSpPr>
          <p:spPr bwMode="auto">
            <a:xfrm>
              <a:off x="4667" y="1931"/>
              <a:ext cx="213" cy="213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/>
            <a:p>
              <a:endParaRPr lang="en-US" sz="2000">
                <a:latin typeface="Times New Roman" pitchFamily="18" charset="0"/>
                <a:sym typeface="Symbol" pitchFamily="18" charset="2"/>
              </a:endParaRPr>
            </a:p>
          </p:txBody>
        </p:sp>
        <p:sp>
          <p:nvSpPr>
            <p:cNvPr id="8217" name="Rectangle 49"/>
            <p:cNvSpPr>
              <a:spLocks noChangeAspect="1" noChangeArrowheads="1"/>
            </p:cNvSpPr>
            <p:nvPr/>
          </p:nvSpPr>
          <p:spPr bwMode="auto">
            <a:xfrm>
              <a:off x="4695" y="2247"/>
              <a:ext cx="153" cy="153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18" name="Rectangle 50"/>
            <p:cNvSpPr>
              <a:spLocks noChangeAspect="1" noChangeArrowheads="1"/>
            </p:cNvSpPr>
            <p:nvPr/>
          </p:nvSpPr>
          <p:spPr bwMode="auto">
            <a:xfrm>
              <a:off x="4503" y="2247"/>
              <a:ext cx="153" cy="153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19" name="Rectangle 51"/>
            <p:cNvSpPr>
              <a:spLocks noChangeAspect="1" noChangeArrowheads="1"/>
            </p:cNvSpPr>
            <p:nvPr/>
          </p:nvSpPr>
          <p:spPr bwMode="auto">
            <a:xfrm>
              <a:off x="4887" y="2247"/>
              <a:ext cx="153" cy="153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cxnSp>
          <p:nvCxnSpPr>
            <p:cNvPr id="8220" name="AutoShape 52"/>
            <p:cNvCxnSpPr>
              <a:cxnSpLocks noChangeShapeType="1"/>
              <a:stCxn id="8219" idx="0"/>
              <a:endCxn id="8216" idx="5"/>
            </p:cNvCxnSpPr>
            <p:nvPr/>
          </p:nvCxnSpPr>
          <p:spPr bwMode="auto">
            <a:xfrm flipH="1" flipV="1">
              <a:off x="4849" y="2119"/>
              <a:ext cx="115" cy="122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8221" name="AutoShape 53"/>
            <p:cNvCxnSpPr>
              <a:cxnSpLocks noChangeShapeType="1"/>
              <a:stCxn id="8197" idx="5"/>
              <a:endCxn id="8216" idx="1"/>
            </p:cNvCxnSpPr>
            <p:nvPr/>
          </p:nvCxnSpPr>
          <p:spPr bwMode="auto">
            <a:xfrm>
              <a:off x="4280" y="1772"/>
              <a:ext cx="418" cy="184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</p:cxn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 lIns="91440" tIns="45720" rIns="91440" bIns="45720" anchor="b"/>
          <a:lstStyle/>
          <a:p>
            <a:pPr eaLnBrk="1" hangingPunct="1">
              <a:defRPr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Divide-and-Conquer</a:t>
            </a:r>
          </a:p>
        </p:txBody>
      </p:sp>
      <p:sp>
        <p:nvSpPr>
          <p:cNvPr id="48" name="Oval 6"/>
          <p:cNvSpPr>
            <a:spLocks noChangeArrowheads="1"/>
          </p:cNvSpPr>
          <p:nvPr/>
        </p:nvSpPr>
        <p:spPr bwMode="auto">
          <a:xfrm>
            <a:off x="5562600" y="2362200"/>
            <a:ext cx="2286000" cy="838200"/>
          </a:xfrm>
          <a:prstGeom prst="ellipse">
            <a:avLst/>
          </a:prstGeom>
          <a:solidFill>
            <a:srgbClr val="4F81BD"/>
          </a:solidFill>
          <a:ln w="12700">
            <a:solidFill>
              <a:srgbClr val="FF00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1" i="0" u="none" strike="noStrike" kern="0" cap="none" spc="0" normalizeH="0" baseline="0" noProof="0">
                <a:ln>
                  <a:noFill/>
                </a:ln>
                <a:solidFill>
                  <a:srgbClr val="EEECE1"/>
                </a:solidFill>
                <a:effectLst/>
                <a:uLnTx/>
                <a:uFillTx/>
                <a:latin typeface="Calibri" pitchFamily="34" charset="0"/>
              </a:rPr>
              <a:t>subproblem 2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1" i="0" u="none" strike="noStrike" kern="0" cap="none" spc="0" normalizeH="0" baseline="0" noProof="0">
                <a:ln>
                  <a:noFill/>
                </a:ln>
                <a:solidFill>
                  <a:srgbClr val="EEECE1"/>
                </a:solidFill>
                <a:effectLst/>
                <a:uLnTx/>
                <a:uFillTx/>
                <a:latin typeface="Calibri" pitchFamily="34" charset="0"/>
              </a:rPr>
              <a:t>of size </a:t>
            </a:r>
            <a:r>
              <a:rPr kumimoji="0" lang="en-US" altLang="en-US" sz="1800" b="1" i="1" u="none" strike="noStrike" kern="0" cap="none" spc="0" normalizeH="0" baseline="0" noProof="0">
                <a:ln>
                  <a:noFill/>
                </a:ln>
                <a:solidFill>
                  <a:srgbClr val="EEECE1"/>
                </a:solidFill>
                <a:effectLst/>
                <a:uLnTx/>
                <a:uFillTx/>
                <a:latin typeface="Calibri" pitchFamily="34" charset="0"/>
              </a:rPr>
              <a:t>n</a:t>
            </a:r>
            <a:r>
              <a:rPr kumimoji="0" lang="en-US" altLang="en-US" sz="1800" b="1" i="0" u="none" strike="noStrike" kern="0" cap="none" spc="0" normalizeH="0" baseline="0" noProof="0">
                <a:ln>
                  <a:noFill/>
                </a:ln>
                <a:solidFill>
                  <a:srgbClr val="EEECE1"/>
                </a:solidFill>
                <a:effectLst/>
                <a:uLnTx/>
                <a:uFillTx/>
                <a:latin typeface="Calibri" pitchFamily="34" charset="0"/>
              </a:rPr>
              <a:t>/2</a:t>
            </a:r>
          </a:p>
        </p:txBody>
      </p:sp>
      <p:sp>
        <p:nvSpPr>
          <p:cNvPr id="49" name="Oval 7"/>
          <p:cNvSpPr>
            <a:spLocks noChangeArrowheads="1"/>
          </p:cNvSpPr>
          <p:nvPr/>
        </p:nvSpPr>
        <p:spPr bwMode="auto">
          <a:xfrm>
            <a:off x="1219200" y="2362200"/>
            <a:ext cx="2286000" cy="838200"/>
          </a:xfrm>
          <a:prstGeom prst="ellipse">
            <a:avLst/>
          </a:prstGeom>
          <a:solidFill>
            <a:srgbClr val="4F81BD"/>
          </a:solidFill>
          <a:ln w="12700">
            <a:solidFill>
              <a:srgbClr val="FF00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1" i="0" u="none" strike="noStrike" kern="0" cap="none" spc="0" normalizeH="0" baseline="0" noProof="0">
                <a:ln>
                  <a:noFill/>
                </a:ln>
                <a:solidFill>
                  <a:srgbClr val="EEECE1"/>
                </a:solidFill>
                <a:effectLst/>
                <a:uLnTx/>
                <a:uFillTx/>
                <a:latin typeface="Calibri" pitchFamily="34" charset="0"/>
              </a:rPr>
              <a:t>subproblem 1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1" i="0" u="none" strike="noStrike" kern="0" cap="none" spc="0" normalizeH="0" baseline="0" noProof="0">
                <a:ln>
                  <a:noFill/>
                </a:ln>
                <a:solidFill>
                  <a:srgbClr val="EEECE1"/>
                </a:solidFill>
                <a:effectLst/>
                <a:uLnTx/>
                <a:uFillTx/>
                <a:latin typeface="Calibri" pitchFamily="34" charset="0"/>
              </a:rPr>
              <a:t>of size </a:t>
            </a:r>
            <a:r>
              <a:rPr kumimoji="0" lang="en-US" altLang="en-US" sz="1800" b="1" i="1" u="none" strike="noStrike" kern="0" cap="none" spc="0" normalizeH="0" baseline="0" noProof="0">
                <a:ln>
                  <a:noFill/>
                </a:ln>
                <a:solidFill>
                  <a:srgbClr val="EEECE1"/>
                </a:solidFill>
                <a:effectLst/>
                <a:uLnTx/>
                <a:uFillTx/>
                <a:latin typeface="Calibri" pitchFamily="34" charset="0"/>
              </a:rPr>
              <a:t>n</a:t>
            </a:r>
            <a:r>
              <a:rPr kumimoji="0" lang="en-US" altLang="en-US" sz="1800" b="1" i="0" u="none" strike="noStrike" kern="0" cap="none" spc="0" normalizeH="0" baseline="0" noProof="0">
                <a:ln>
                  <a:noFill/>
                </a:ln>
                <a:solidFill>
                  <a:srgbClr val="EEECE1"/>
                </a:solidFill>
                <a:effectLst/>
                <a:uLnTx/>
                <a:uFillTx/>
                <a:latin typeface="Calibri" pitchFamily="34" charset="0"/>
              </a:rPr>
              <a:t>/2</a:t>
            </a:r>
          </a:p>
        </p:txBody>
      </p:sp>
      <p:sp>
        <p:nvSpPr>
          <p:cNvPr id="50" name="Rectangle 8"/>
          <p:cNvSpPr>
            <a:spLocks noChangeArrowheads="1"/>
          </p:cNvSpPr>
          <p:nvPr/>
        </p:nvSpPr>
        <p:spPr bwMode="auto">
          <a:xfrm>
            <a:off x="1219200" y="3657600"/>
            <a:ext cx="2286000" cy="685800"/>
          </a:xfrm>
          <a:prstGeom prst="rect">
            <a:avLst/>
          </a:prstGeom>
          <a:solidFill>
            <a:srgbClr val="4F81BD"/>
          </a:solidFill>
          <a:ln w="12700">
            <a:solidFill>
              <a:srgbClr val="FF0000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1" i="0" u="none" strike="noStrike" kern="0" cap="none" spc="0" normalizeH="0" baseline="0" noProof="0">
                <a:ln>
                  <a:noFill/>
                </a:ln>
                <a:solidFill>
                  <a:srgbClr val="EEECE1"/>
                </a:solidFill>
                <a:effectLst/>
                <a:uLnTx/>
                <a:uFillTx/>
                <a:latin typeface="Calibri" pitchFamily="34" charset="0"/>
              </a:rPr>
              <a:t>a solution to 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1" i="0" u="none" strike="noStrike" kern="0" cap="none" spc="0" normalizeH="0" baseline="0" noProof="0">
                <a:ln>
                  <a:noFill/>
                </a:ln>
                <a:solidFill>
                  <a:srgbClr val="EEECE1"/>
                </a:solidFill>
                <a:effectLst/>
                <a:uLnTx/>
                <a:uFillTx/>
                <a:latin typeface="Calibri" pitchFamily="34" charset="0"/>
              </a:rPr>
              <a:t>subproblem 1</a:t>
            </a:r>
            <a:endParaRPr kumimoji="0" lang="en-US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itchFamily="34" charset="0"/>
            </a:endParaRPr>
          </a:p>
        </p:txBody>
      </p:sp>
      <p:sp>
        <p:nvSpPr>
          <p:cNvPr id="51" name="Rectangle 9"/>
          <p:cNvSpPr>
            <a:spLocks noChangeArrowheads="1"/>
          </p:cNvSpPr>
          <p:nvPr/>
        </p:nvSpPr>
        <p:spPr bwMode="auto">
          <a:xfrm>
            <a:off x="3429000" y="5410200"/>
            <a:ext cx="2514600" cy="685800"/>
          </a:xfrm>
          <a:prstGeom prst="rect">
            <a:avLst/>
          </a:prstGeom>
          <a:solidFill>
            <a:srgbClr val="4F81BD"/>
          </a:solidFill>
          <a:ln w="12700">
            <a:solidFill>
              <a:srgbClr val="FF0000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1" i="0" u="none" strike="noStrike" kern="0" cap="none" spc="0" normalizeH="0" baseline="0" noProof="0">
                <a:ln>
                  <a:noFill/>
                </a:ln>
                <a:solidFill>
                  <a:srgbClr val="EEECE1"/>
                </a:solidFill>
                <a:effectLst/>
                <a:uLnTx/>
                <a:uFillTx/>
                <a:latin typeface="Calibri" pitchFamily="34" charset="0"/>
              </a:rPr>
              <a:t>a solution to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1" i="0" u="none" strike="noStrike" kern="0" cap="none" spc="0" normalizeH="0" baseline="0" noProof="0">
                <a:ln>
                  <a:noFill/>
                </a:ln>
                <a:solidFill>
                  <a:srgbClr val="EEECE1"/>
                </a:solidFill>
                <a:effectLst/>
                <a:uLnTx/>
                <a:uFillTx/>
                <a:latin typeface="Calibri" pitchFamily="34" charset="0"/>
              </a:rPr>
              <a:t>the original problem</a:t>
            </a:r>
            <a:endParaRPr kumimoji="0" lang="en-US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itchFamily="34" charset="0"/>
            </a:endParaRPr>
          </a:p>
        </p:txBody>
      </p:sp>
      <p:sp>
        <p:nvSpPr>
          <p:cNvPr id="52" name="Rectangle 10"/>
          <p:cNvSpPr>
            <a:spLocks noChangeArrowheads="1"/>
          </p:cNvSpPr>
          <p:nvPr/>
        </p:nvSpPr>
        <p:spPr bwMode="auto">
          <a:xfrm>
            <a:off x="5562600" y="3657600"/>
            <a:ext cx="2286000" cy="685800"/>
          </a:xfrm>
          <a:prstGeom prst="rect">
            <a:avLst/>
          </a:prstGeom>
          <a:solidFill>
            <a:srgbClr val="4F81BD"/>
          </a:solidFill>
          <a:ln w="12700">
            <a:solidFill>
              <a:srgbClr val="FF0000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1" i="0" u="none" strike="noStrike" kern="0" cap="none" spc="0" normalizeH="0" baseline="0" noProof="0">
                <a:ln>
                  <a:noFill/>
                </a:ln>
                <a:solidFill>
                  <a:srgbClr val="EEECE1"/>
                </a:solidFill>
                <a:effectLst/>
                <a:uLnTx/>
                <a:uFillTx/>
                <a:latin typeface="Calibri" pitchFamily="34" charset="0"/>
              </a:rPr>
              <a:t>a solution to 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1" i="0" u="none" strike="noStrike" kern="0" cap="none" spc="0" normalizeH="0" baseline="0" noProof="0">
                <a:ln>
                  <a:noFill/>
                </a:ln>
                <a:solidFill>
                  <a:srgbClr val="EEECE1"/>
                </a:solidFill>
                <a:effectLst/>
                <a:uLnTx/>
                <a:uFillTx/>
                <a:latin typeface="Calibri" pitchFamily="34" charset="0"/>
              </a:rPr>
              <a:t>subproblem 2</a:t>
            </a:r>
            <a:endParaRPr kumimoji="0" lang="en-US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itchFamily="34" charset="0"/>
            </a:endParaRPr>
          </a:p>
        </p:txBody>
      </p:sp>
      <p:sp>
        <p:nvSpPr>
          <p:cNvPr id="53" name="Line 11"/>
          <p:cNvSpPr>
            <a:spLocks noChangeShapeType="1"/>
          </p:cNvSpPr>
          <p:nvPr/>
        </p:nvSpPr>
        <p:spPr bwMode="auto">
          <a:xfrm flipH="1">
            <a:off x="2667000" y="2057400"/>
            <a:ext cx="1447800" cy="3048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none" w="sm" len="sm"/>
            <a:tailEnd type="stealth" w="lg" len="lg"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54" name="Line 12"/>
          <p:cNvSpPr>
            <a:spLocks noChangeShapeType="1"/>
          </p:cNvSpPr>
          <p:nvPr/>
        </p:nvSpPr>
        <p:spPr bwMode="auto">
          <a:xfrm>
            <a:off x="4953000" y="2057400"/>
            <a:ext cx="1524000" cy="3048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none" w="sm" len="sm"/>
            <a:tailEnd type="stealth" w="lg" len="lg"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55" name="Oval 4"/>
          <p:cNvSpPr>
            <a:spLocks noChangeArrowheads="1"/>
          </p:cNvSpPr>
          <p:nvPr/>
        </p:nvSpPr>
        <p:spPr bwMode="auto">
          <a:xfrm>
            <a:off x="3429000" y="1295400"/>
            <a:ext cx="2286000" cy="838200"/>
          </a:xfrm>
          <a:prstGeom prst="ellipse">
            <a:avLst/>
          </a:prstGeom>
          <a:solidFill>
            <a:srgbClr val="4F81BD"/>
          </a:solidFill>
          <a:ln w="12700">
            <a:solidFill>
              <a:srgbClr val="FF00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1" i="0" u="none" strike="noStrike" kern="0" cap="none" spc="0" normalizeH="0" baseline="0" noProof="0">
                <a:ln>
                  <a:noFill/>
                </a:ln>
                <a:solidFill>
                  <a:srgbClr val="EEECE1"/>
                </a:solidFill>
                <a:effectLst/>
                <a:uLnTx/>
                <a:uFillTx/>
                <a:latin typeface="Calibri" pitchFamily="34" charset="0"/>
              </a:rPr>
              <a:t>a problem of size </a:t>
            </a:r>
            <a:r>
              <a:rPr kumimoji="0" lang="en-US" altLang="en-US" sz="1800" b="1" i="1" u="none" strike="noStrike" kern="0" cap="none" spc="0" normalizeH="0" baseline="0" noProof="0">
                <a:ln>
                  <a:noFill/>
                </a:ln>
                <a:solidFill>
                  <a:srgbClr val="EEECE1"/>
                </a:solidFill>
                <a:effectLst/>
                <a:uLnTx/>
                <a:uFillTx/>
                <a:latin typeface="Calibri" pitchFamily="34" charset="0"/>
              </a:rPr>
              <a:t>n</a:t>
            </a:r>
            <a:endParaRPr kumimoji="0" lang="en-US" altLang="en-US" sz="1800" b="1" i="0" u="none" strike="noStrike" kern="0" cap="none" spc="0" normalizeH="0" baseline="0" noProof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Calibri" pitchFamily="34" charset="0"/>
            </a:endParaRPr>
          </a:p>
        </p:txBody>
      </p:sp>
      <p:sp>
        <p:nvSpPr>
          <p:cNvPr id="56" name="Line 13"/>
          <p:cNvSpPr>
            <a:spLocks noChangeShapeType="1"/>
          </p:cNvSpPr>
          <p:nvPr/>
        </p:nvSpPr>
        <p:spPr bwMode="auto">
          <a:xfrm>
            <a:off x="2286000" y="3200400"/>
            <a:ext cx="0" cy="4572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none" w="sm" len="sm"/>
            <a:tailEnd type="stealth" w="lg" len="lg"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57" name="Line 14"/>
          <p:cNvSpPr>
            <a:spLocks noChangeShapeType="1"/>
          </p:cNvSpPr>
          <p:nvPr/>
        </p:nvSpPr>
        <p:spPr bwMode="auto">
          <a:xfrm>
            <a:off x="6705600" y="3200400"/>
            <a:ext cx="0" cy="4572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none" w="sm" len="sm"/>
            <a:tailEnd type="stealth" w="lg" len="lg"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58" name="Line 15"/>
          <p:cNvSpPr>
            <a:spLocks noChangeShapeType="1"/>
          </p:cNvSpPr>
          <p:nvPr/>
        </p:nvSpPr>
        <p:spPr bwMode="auto">
          <a:xfrm>
            <a:off x="2286000" y="4343400"/>
            <a:ext cx="0" cy="5334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none" w="sm" len="sm"/>
            <a:tailEnd type="stealth" w="lg" len="lg"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59" name="Line 16"/>
          <p:cNvSpPr>
            <a:spLocks noChangeShapeType="1"/>
          </p:cNvSpPr>
          <p:nvPr/>
        </p:nvSpPr>
        <p:spPr bwMode="auto">
          <a:xfrm>
            <a:off x="6705600" y="4343400"/>
            <a:ext cx="0" cy="5334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none" w="sm" len="sm"/>
            <a:tailEnd type="stealth" w="lg" len="lg"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60" name="Line 17"/>
          <p:cNvSpPr>
            <a:spLocks noChangeShapeType="1"/>
          </p:cNvSpPr>
          <p:nvPr/>
        </p:nvSpPr>
        <p:spPr bwMode="auto">
          <a:xfrm>
            <a:off x="2286000" y="4876800"/>
            <a:ext cx="44196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none" w="sm" len="sm"/>
            <a:tailEnd type="none" w="lg" len="lg"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61" name="Line 18"/>
          <p:cNvSpPr>
            <a:spLocks noChangeShapeType="1"/>
          </p:cNvSpPr>
          <p:nvPr/>
        </p:nvSpPr>
        <p:spPr bwMode="auto">
          <a:xfrm>
            <a:off x="4572000" y="4876800"/>
            <a:ext cx="0" cy="5334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none" w="sm" len="sm"/>
            <a:tailEnd type="stealth" w="lg" len="lg"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62" name="Group 25"/>
          <p:cNvGrpSpPr>
            <a:grpSpLocks/>
          </p:cNvGrpSpPr>
          <p:nvPr/>
        </p:nvGrpSpPr>
        <p:grpSpPr bwMode="auto">
          <a:xfrm>
            <a:off x="3581400" y="2209800"/>
            <a:ext cx="1905000" cy="990600"/>
            <a:chOff x="3581401" y="2209800"/>
            <a:chExt cx="1904999" cy="990600"/>
          </a:xfrm>
        </p:grpSpPr>
        <p:sp>
          <p:nvSpPr>
            <p:cNvPr id="63" name="Rounded Rectangle 62"/>
            <p:cNvSpPr/>
            <p:nvPr/>
          </p:nvSpPr>
          <p:spPr>
            <a:xfrm>
              <a:off x="3962401" y="2667000"/>
              <a:ext cx="1219199" cy="533400"/>
            </a:xfrm>
            <a:prstGeom prst="roundRect">
              <a:avLst/>
            </a:prstGeom>
            <a:solidFill>
              <a:srgbClr val="4F81BD"/>
            </a:solidFill>
            <a:ln w="25400" cap="flat" cmpd="sng" algn="ctr">
              <a:solidFill>
                <a:srgbClr val="4F81BD">
                  <a:shade val="50000"/>
                </a:srgbClr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Divide</a:t>
              </a:r>
            </a:p>
          </p:txBody>
        </p:sp>
        <p:cxnSp>
          <p:nvCxnSpPr>
            <p:cNvPr id="64" name="Straight Arrow Connector 63"/>
            <p:cNvCxnSpPr/>
            <p:nvPr/>
          </p:nvCxnSpPr>
          <p:spPr>
            <a:xfrm rot="10800000">
              <a:off x="3581401" y="2209800"/>
              <a:ext cx="533400" cy="457200"/>
            </a:xfrm>
            <a:prstGeom prst="straightConnector1">
              <a:avLst/>
            </a:prstGeom>
            <a:noFill/>
            <a:ln w="25400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  <a:tailEnd type="arrow"/>
            </a:ln>
            <a:effectLst/>
          </p:spPr>
        </p:cxnSp>
        <p:cxnSp>
          <p:nvCxnSpPr>
            <p:cNvPr id="65" name="Straight Arrow Connector 64"/>
            <p:cNvCxnSpPr/>
            <p:nvPr/>
          </p:nvCxnSpPr>
          <p:spPr>
            <a:xfrm flipV="1">
              <a:off x="4724400" y="2209800"/>
              <a:ext cx="762000" cy="457200"/>
            </a:xfrm>
            <a:prstGeom prst="straightConnector1">
              <a:avLst/>
            </a:prstGeom>
            <a:noFill/>
            <a:ln w="25400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  <a:tailEnd type="arrow"/>
            </a:ln>
            <a:effectLst/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 lIns="91440" tIns="45720" rIns="91440" bIns="45720" anchor="b"/>
          <a:lstStyle/>
          <a:p>
            <a:pPr eaLnBrk="1" hangingPunct="1">
              <a:defRPr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Finding Maximum and Minimum</a:t>
            </a:r>
          </a:p>
        </p:txBody>
      </p:sp>
      <p:sp>
        <p:nvSpPr>
          <p:cNvPr id="128" name="內容版面配置區 2"/>
          <p:cNvSpPr txBox="1">
            <a:spLocks/>
          </p:cNvSpPr>
          <p:nvPr/>
        </p:nvSpPr>
        <p:spPr bwMode="auto">
          <a:xfrm>
            <a:off x="457200" y="1124744"/>
            <a:ext cx="8229600" cy="12961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altLang="zh-TW" sz="2800" b="0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新細明體"/>
                <a:cs typeface="+mn-cs"/>
              </a:rPr>
              <a:t>Input:</a:t>
            </a:r>
            <a:r>
              <a:rPr kumimoji="0" lang="en-US" altLang="zh-TW" sz="28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新細明體"/>
                <a:cs typeface="+mn-cs"/>
              </a:rPr>
              <a:t> </a:t>
            </a:r>
            <a:r>
              <a:rPr kumimoji="0" lang="en-US" altLang="zh-TW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新細明體"/>
                <a:cs typeface="+mn-cs"/>
              </a:rPr>
              <a:t>an array </a:t>
            </a:r>
            <a:r>
              <a:rPr kumimoji="0" lang="en-US" altLang="zh-TW" sz="28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新細明體"/>
                <a:cs typeface="+mn-cs"/>
              </a:rPr>
              <a:t>A</a:t>
            </a:r>
            <a:r>
              <a:rPr kumimoji="0" lang="en-US" altLang="zh-TW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新細明體"/>
                <a:cs typeface="+mn-cs"/>
              </a:rPr>
              <a:t>[1..</a:t>
            </a:r>
            <a:r>
              <a:rPr kumimoji="0" lang="en-US" altLang="zh-TW" sz="28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新細明體"/>
                <a:cs typeface="+mn-cs"/>
              </a:rPr>
              <a:t>n</a:t>
            </a:r>
            <a:r>
              <a:rPr kumimoji="0" lang="en-US" altLang="zh-TW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新細明體"/>
                <a:cs typeface="+mn-cs"/>
              </a:rPr>
              <a:t>] of </a:t>
            </a:r>
            <a:r>
              <a:rPr kumimoji="0" lang="en-US" altLang="zh-TW" sz="28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新細明體"/>
                <a:cs typeface="+mn-cs"/>
              </a:rPr>
              <a:t>n</a:t>
            </a:r>
            <a:r>
              <a:rPr kumimoji="0" lang="en-US" altLang="zh-TW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新細明體"/>
                <a:cs typeface="+mn-cs"/>
              </a:rPr>
              <a:t> numbers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kumimoji="0" lang="zh-TW" altLang="zh-TW" sz="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+mn-lt"/>
              <a:ea typeface="新細明體"/>
              <a:cs typeface="+mn-cs"/>
            </a:endParaRPr>
          </a:p>
          <a:p>
            <a:pPr marL="342900" lvl="0" indent="-342900" algn="l">
              <a:spcBef>
                <a:spcPct val="20000"/>
              </a:spcBef>
              <a:buFont typeface="Arial" charset="0"/>
              <a:buChar char="•"/>
              <a:defRPr/>
            </a:pPr>
            <a:r>
              <a:rPr kumimoji="0" lang="en-US" altLang="zh-TW" sz="2800" b="0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新細明體"/>
                <a:cs typeface="+mn-cs"/>
              </a:rPr>
              <a:t>Output: </a:t>
            </a:r>
            <a:r>
              <a:rPr lang="en-US" altLang="zh-TW" sz="2800" dirty="0">
                <a:solidFill>
                  <a:sysClr val="windowText" lastClr="000000"/>
                </a:solidFill>
                <a:latin typeface="+mn-lt"/>
                <a:ea typeface="新細明體"/>
                <a:cs typeface="+mn-cs"/>
              </a:rPr>
              <a:t>the maximum and minimum value</a:t>
            </a:r>
            <a:endParaRPr kumimoji="0" lang="en-US" altLang="zh-TW" sz="2800" b="0" i="1" u="none" strike="noStrike" kern="1200" cap="none" spc="0" normalizeH="0" baseline="-2500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+mn-lt"/>
              <a:ea typeface="新細明體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en-US" altLang="zh-TW" sz="3200" b="0" i="1" u="none" strike="noStrike" kern="1200" cap="none" spc="0" normalizeH="0" baseline="-2500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+mn-lt"/>
              <a:ea typeface="新細明體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altLang="zh-TW" sz="3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新細明體"/>
                <a:cs typeface="+mn-cs"/>
              </a:rPr>
              <a:t> </a:t>
            </a:r>
            <a:endParaRPr kumimoji="0" lang="zh-TW" altLang="zh-TW" sz="32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+mn-lt"/>
              <a:ea typeface="新細明體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altLang="zh-TW" sz="3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新細明體"/>
                <a:cs typeface="+mn-cs"/>
              </a:rPr>
              <a:t> </a:t>
            </a:r>
            <a:endParaRPr kumimoji="0" lang="zh-TW" altLang="zh-TW" sz="32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+mn-lt"/>
              <a:ea typeface="新細明體"/>
              <a:cs typeface="+mn-cs"/>
            </a:endParaRPr>
          </a:p>
        </p:txBody>
      </p:sp>
      <p:graphicFrame>
        <p:nvGraphicFramePr>
          <p:cNvPr id="129" name="內容版面配置區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299104"/>
              </p:ext>
            </p:extLst>
          </p:nvPr>
        </p:nvGraphicFramePr>
        <p:xfrm>
          <a:off x="755650" y="2781648"/>
          <a:ext cx="7921625" cy="371475"/>
        </p:xfrm>
        <a:graphic>
          <a:graphicData uri="http://schemas.openxmlformats.org/drawingml/2006/table">
            <a:tbl>
              <a:tblPr/>
              <a:tblGrid>
                <a:gridCol w="49530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4953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49530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493713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495300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495300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495300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  <a:gridCol w="495300">
                  <a:extLst>
                    <a:ext uri="{9D8B030D-6E8A-4147-A177-3AD203B41FA5}">
                      <a16:colId xmlns="" xmlns:a16="http://schemas.microsoft.com/office/drawing/2014/main" val="20007"/>
                    </a:ext>
                  </a:extLst>
                </a:gridCol>
                <a:gridCol w="495300">
                  <a:extLst>
                    <a:ext uri="{9D8B030D-6E8A-4147-A177-3AD203B41FA5}">
                      <a16:colId xmlns="" xmlns:a16="http://schemas.microsoft.com/office/drawing/2014/main" val="20008"/>
                    </a:ext>
                  </a:extLst>
                </a:gridCol>
                <a:gridCol w="493712">
                  <a:extLst>
                    <a:ext uri="{9D8B030D-6E8A-4147-A177-3AD203B41FA5}">
                      <a16:colId xmlns="" xmlns:a16="http://schemas.microsoft.com/office/drawing/2014/main" val="20009"/>
                    </a:ext>
                  </a:extLst>
                </a:gridCol>
                <a:gridCol w="495300">
                  <a:extLst>
                    <a:ext uri="{9D8B030D-6E8A-4147-A177-3AD203B41FA5}">
                      <a16:colId xmlns="" xmlns:a16="http://schemas.microsoft.com/office/drawing/2014/main" val="20010"/>
                    </a:ext>
                  </a:extLst>
                </a:gridCol>
                <a:gridCol w="495300">
                  <a:extLst>
                    <a:ext uri="{9D8B030D-6E8A-4147-A177-3AD203B41FA5}">
                      <a16:colId xmlns="" xmlns:a16="http://schemas.microsoft.com/office/drawing/2014/main" val="20011"/>
                    </a:ext>
                  </a:extLst>
                </a:gridCol>
                <a:gridCol w="495300">
                  <a:extLst>
                    <a:ext uri="{9D8B030D-6E8A-4147-A177-3AD203B41FA5}">
                      <a16:colId xmlns="" xmlns:a16="http://schemas.microsoft.com/office/drawing/2014/main" val="20012"/>
                    </a:ext>
                  </a:extLst>
                </a:gridCol>
                <a:gridCol w="495300">
                  <a:extLst>
                    <a:ext uri="{9D8B030D-6E8A-4147-A177-3AD203B41FA5}">
                      <a16:colId xmlns="" xmlns:a16="http://schemas.microsoft.com/office/drawing/2014/main" val="20013"/>
                    </a:ext>
                  </a:extLst>
                </a:gridCol>
                <a:gridCol w="495300">
                  <a:extLst>
                    <a:ext uri="{9D8B030D-6E8A-4147-A177-3AD203B41FA5}">
                      <a16:colId xmlns="" xmlns:a16="http://schemas.microsoft.com/office/drawing/2014/main" val="20014"/>
                    </a:ext>
                  </a:extLst>
                </a:gridCol>
                <a:gridCol w="495300">
                  <a:extLst>
                    <a:ext uri="{9D8B030D-6E8A-4147-A177-3AD203B41FA5}">
                      <a16:colId xmlns="" xmlns:a16="http://schemas.microsoft.com/office/drawing/2014/main" val="20015"/>
                    </a:ext>
                  </a:extLst>
                </a:gridCol>
              </a:tblGrid>
              <a:tr h="371475"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新細明體" pitchFamily="18" charset="-120"/>
                        </a:rPr>
                        <a:t>13</a:t>
                      </a:r>
                      <a:endParaRPr kumimoji="0" lang="zh-TW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新細明體" pitchFamily="18" charset="-120"/>
                        </a:rPr>
                        <a:t>-13</a:t>
                      </a:r>
                      <a:endParaRPr kumimoji="0" lang="zh-TW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新細明體" pitchFamily="18" charset="-120"/>
                        </a:rPr>
                        <a:t>-25</a:t>
                      </a:r>
                      <a:endParaRPr kumimoji="0" lang="zh-TW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新細明體" pitchFamily="18" charset="-120"/>
                        </a:rPr>
                        <a:t>20</a:t>
                      </a:r>
                      <a:endParaRPr kumimoji="0" lang="zh-TW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新細明體" pitchFamily="18" charset="-120"/>
                        </a:rPr>
                        <a:t>-3</a:t>
                      </a:r>
                      <a:endParaRPr kumimoji="0" lang="zh-TW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新細明體" pitchFamily="18" charset="-120"/>
                        </a:rPr>
                        <a:t>-16</a:t>
                      </a:r>
                      <a:endParaRPr kumimoji="0" lang="zh-TW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新細明體" pitchFamily="18" charset="-120"/>
                        </a:rPr>
                        <a:t>-23</a:t>
                      </a:r>
                      <a:endParaRPr kumimoji="0" lang="zh-TW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新細明體" pitchFamily="18" charset="-120"/>
                        </a:rPr>
                        <a:t>18</a:t>
                      </a:r>
                      <a:endParaRPr kumimoji="0" lang="zh-TW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新細明體" pitchFamily="18" charset="-120"/>
                        </a:rPr>
                        <a:t>20</a:t>
                      </a:r>
                      <a:endParaRPr kumimoji="0" lang="zh-TW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新細明體" pitchFamily="18" charset="-120"/>
                        </a:rPr>
                        <a:t>-7</a:t>
                      </a:r>
                      <a:endParaRPr kumimoji="0" lang="zh-TW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新細明體" pitchFamily="18" charset="-120"/>
                        </a:rPr>
                        <a:t>12</a:t>
                      </a:r>
                      <a:endParaRPr kumimoji="0" lang="zh-TW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新細明體" pitchFamily="18" charset="-120"/>
                        </a:rPr>
                        <a:t>-5</a:t>
                      </a:r>
                      <a:endParaRPr kumimoji="0" lang="zh-TW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新細明體" pitchFamily="18" charset="-120"/>
                        </a:rPr>
                        <a:t>-22</a:t>
                      </a:r>
                      <a:endParaRPr kumimoji="0" lang="zh-TW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新細明體" pitchFamily="18" charset="-120"/>
                        </a:rPr>
                        <a:t>15</a:t>
                      </a:r>
                      <a:endParaRPr kumimoji="0" lang="zh-TW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新細明體" pitchFamily="18" charset="-120"/>
                        </a:rPr>
                        <a:t>-4</a:t>
                      </a:r>
                      <a:endParaRPr kumimoji="0" lang="zh-TW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新細明體" pitchFamily="18" charset="-120"/>
                        </a:rPr>
                        <a:t>7</a:t>
                      </a:r>
                      <a:endParaRPr kumimoji="0" lang="zh-TW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0" name="文字方塊 5"/>
          <p:cNvSpPr txBox="1">
            <a:spLocks noChangeArrowheads="1"/>
          </p:cNvSpPr>
          <p:nvPr/>
        </p:nvSpPr>
        <p:spPr bwMode="auto">
          <a:xfrm>
            <a:off x="744320" y="2420888"/>
            <a:ext cx="7891904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1        2        3       4        5        6        7        8       9       10      11      12      13     14      15     16</a:t>
            </a: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1" name="文字方塊 6"/>
          <p:cNvSpPr txBox="1">
            <a:spLocks noChangeArrowheads="1"/>
          </p:cNvSpPr>
          <p:nvPr/>
        </p:nvSpPr>
        <p:spPr bwMode="auto">
          <a:xfrm>
            <a:off x="305845" y="2722775"/>
            <a:ext cx="40748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A</a:t>
            </a:r>
            <a:endParaRPr kumimoji="0" lang="zh-TW" altLang="en-US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838200" y="3457351"/>
            <a:ext cx="6356350" cy="2138562"/>
            <a:chOff x="838200" y="3457351"/>
            <a:chExt cx="6356350" cy="2138562"/>
          </a:xfrm>
        </p:grpSpPr>
        <p:sp>
          <p:nvSpPr>
            <p:cNvPr id="9" name="Text Box 1026"/>
            <p:cNvSpPr txBox="1">
              <a:spLocks noChangeArrowheads="1"/>
            </p:cNvSpPr>
            <p:nvPr/>
          </p:nvSpPr>
          <p:spPr bwMode="auto">
            <a:xfrm>
              <a:off x="1219200" y="3838351"/>
              <a:ext cx="5975350" cy="8540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dirty="0">
                  <a:solidFill>
                    <a:schemeClr val="accent2">
                      <a:lumMod val="75000"/>
                    </a:schemeClr>
                  </a:solidFill>
                </a:rPr>
                <a:t>List</a:t>
              </a:r>
              <a:r>
                <a:rPr lang="en-US" altLang="en-US" dirty="0"/>
                <a:t>			 </a:t>
              </a:r>
              <a:r>
                <a:rPr lang="en-US" altLang="en-US" dirty="0">
                  <a:solidFill>
                    <a:schemeClr val="accent2">
                      <a:lumMod val="75000"/>
                    </a:schemeClr>
                  </a:solidFill>
                </a:rPr>
                <a:t>List 1</a:t>
              </a:r>
              <a:r>
                <a:rPr lang="en-US" altLang="en-US" dirty="0"/>
                <a:t>	 </a:t>
              </a:r>
              <a:r>
                <a:rPr lang="en-US" altLang="en-US" dirty="0">
                  <a:solidFill>
                    <a:schemeClr val="accent2">
                      <a:lumMod val="75000"/>
                    </a:schemeClr>
                  </a:solidFill>
                </a:rPr>
                <a:t>List 2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dirty="0">
                  <a:solidFill>
                    <a:srgbClr val="0000FF"/>
                  </a:solidFill>
                </a:rPr>
                <a:t>n elements</a:t>
              </a:r>
              <a:r>
                <a:rPr lang="en-US" altLang="en-US" sz="1800" dirty="0"/>
                <a:t>		</a:t>
              </a:r>
              <a:r>
                <a:rPr lang="en-US" altLang="en-US" sz="1800" dirty="0">
                  <a:solidFill>
                    <a:srgbClr val="0000FF"/>
                  </a:solidFill>
                </a:rPr>
                <a:t>n/2 elements</a:t>
              </a:r>
              <a:r>
                <a:rPr lang="en-US" altLang="en-US" sz="1800" dirty="0"/>
                <a:t>	 </a:t>
              </a:r>
              <a:r>
                <a:rPr lang="en-US" altLang="en-US" sz="1800" dirty="0">
                  <a:solidFill>
                    <a:srgbClr val="0000FF"/>
                  </a:solidFill>
                </a:rPr>
                <a:t>n/2 elements</a:t>
              </a:r>
            </a:p>
          </p:txBody>
        </p:sp>
        <p:sp>
          <p:nvSpPr>
            <p:cNvPr id="10" name="Oval 1027"/>
            <p:cNvSpPr>
              <a:spLocks noChangeArrowheads="1"/>
            </p:cNvSpPr>
            <p:nvPr/>
          </p:nvSpPr>
          <p:spPr bwMode="auto">
            <a:xfrm>
              <a:off x="838200" y="3457351"/>
              <a:ext cx="1828800" cy="17526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/>
            </a:p>
          </p:txBody>
        </p:sp>
        <p:sp>
          <p:nvSpPr>
            <p:cNvPr id="11" name="Oval 1028"/>
            <p:cNvSpPr>
              <a:spLocks noChangeArrowheads="1"/>
            </p:cNvSpPr>
            <p:nvPr/>
          </p:nvSpPr>
          <p:spPr bwMode="auto">
            <a:xfrm>
              <a:off x="3886200" y="3685951"/>
              <a:ext cx="1477888" cy="14478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/>
            </a:p>
          </p:txBody>
        </p:sp>
        <p:sp>
          <p:nvSpPr>
            <p:cNvPr id="12" name="Oval 1029"/>
            <p:cNvSpPr>
              <a:spLocks noChangeArrowheads="1"/>
            </p:cNvSpPr>
            <p:nvPr/>
          </p:nvSpPr>
          <p:spPr bwMode="auto">
            <a:xfrm>
              <a:off x="5791200" y="3685951"/>
              <a:ext cx="1371600" cy="13716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/>
            </a:p>
          </p:txBody>
        </p:sp>
        <p:sp>
          <p:nvSpPr>
            <p:cNvPr id="13" name="Line 1030"/>
            <p:cNvSpPr>
              <a:spLocks noChangeShapeType="1"/>
            </p:cNvSpPr>
            <p:nvPr/>
          </p:nvSpPr>
          <p:spPr bwMode="auto">
            <a:xfrm>
              <a:off x="2819400" y="4371751"/>
              <a:ext cx="990600" cy="0"/>
            </a:xfrm>
            <a:prstGeom prst="line">
              <a:avLst/>
            </a:prstGeom>
            <a:noFill/>
            <a:ln w="25400" cap="flat">
              <a:solidFill>
                <a:schemeClr val="tx1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 Box 1031"/>
            <p:cNvSpPr txBox="1">
              <a:spLocks noChangeArrowheads="1"/>
            </p:cNvSpPr>
            <p:nvPr/>
          </p:nvSpPr>
          <p:spPr bwMode="auto">
            <a:xfrm>
              <a:off x="1295400" y="5229200"/>
              <a:ext cx="5848350" cy="366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dirty="0">
                  <a:solidFill>
                    <a:schemeClr val="tx2">
                      <a:lumMod val="50000"/>
                    </a:schemeClr>
                  </a:solidFill>
                </a:rPr>
                <a:t>min, max 		min1, max1	min2, max2</a:t>
              </a:r>
            </a:p>
          </p:txBody>
        </p:sp>
      </p:grpSp>
      <p:sp>
        <p:nvSpPr>
          <p:cNvPr id="15" name="Text Box 1032"/>
          <p:cNvSpPr txBox="1">
            <a:spLocks noChangeArrowheads="1"/>
          </p:cNvSpPr>
          <p:nvPr/>
        </p:nvSpPr>
        <p:spPr bwMode="auto">
          <a:xfrm>
            <a:off x="2229225" y="5661248"/>
            <a:ext cx="3993401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>
              <a:spcBef>
                <a:spcPct val="0"/>
              </a:spcBef>
              <a:buFontTx/>
              <a:buNone/>
            </a:pPr>
            <a:r>
              <a:rPr lang="en-US" altLang="en-US" sz="2400" b="1" dirty="0"/>
              <a:t>min  </a:t>
            </a:r>
            <a:r>
              <a:rPr lang="en-US" altLang="en-US" sz="1600" b="1" dirty="0"/>
              <a:t> </a:t>
            </a:r>
            <a:r>
              <a:rPr lang="en-US" altLang="en-US" sz="2400" b="1" dirty="0"/>
              <a:t>=  MIN  ( min1, min2 )</a:t>
            </a:r>
          </a:p>
          <a:p>
            <a:pPr algn="l" eaLnBrk="1" hangingPunct="1">
              <a:spcBef>
                <a:spcPct val="0"/>
              </a:spcBef>
              <a:buFontTx/>
              <a:buNone/>
            </a:pPr>
            <a:r>
              <a:rPr lang="en-US" altLang="en-US" sz="2400" b="1" dirty="0"/>
              <a:t>max  =  MAX ( max1, max2 )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 lIns="91440" tIns="45720" rIns="91440" bIns="45720" anchor="b"/>
          <a:lstStyle/>
          <a:p>
            <a:pPr eaLnBrk="1" hangingPunct="1">
              <a:defRPr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Finding Maximum and Minimum</a:t>
            </a:r>
          </a:p>
        </p:txBody>
      </p:sp>
      <p:sp>
        <p:nvSpPr>
          <p:cNvPr id="16" name="Text Box 2"/>
          <p:cNvSpPr txBox="1">
            <a:spLocks noChangeArrowheads="1"/>
          </p:cNvSpPr>
          <p:nvPr/>
        </p:nvSpPr>
        <p:spPr bwMode="auto">
          <a:xfrm>
            <a:off x="373062" y="1196752"/>
            <a:ext cx="8397875" cy="3935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>
              <a:spcBef>
                <a:spcPct val="0"/>
              </a:spcBef>
              <a:buFontTx/>
              <a:buNone/>
            </a:pPr>
            <a:r>
              <a:rPr lang="en-US" altLang="en-US" sz="2800" i="1" dirty="0">
                <a:cs typeface="Times New Roman" panose="02020603050405020304" pitchFamily="18" charset="0"/>
              </a:rPr>
              <a:t>	</a:t>
            </a:r>
            <a:r>
              <a:rPr lang="en-US" altLang="en-US" sz="2800" i="1" dirty="0">
                <a:solidFill>
                  <a:srgbClr val="0000FF"/>
                </a:solidFill>
                <a:cs typeface="Times New Roman" panose="02020603050405020304" pitchFamily="18" charset="0"/>
              </a:rPr>
              <a:t>The straightforward algorithm: </a:t>
            </a:r>
            <a:endParaRPr lang="en-US" altLang="en-US" sz="2800" dirty="0">
              <a:solidFill>
                <a:srgbClr val="0000FF"/>
              </a:solidFill>
              <a:cs typeface="Times New Roman" panose="02020603050405020304" pitchFamily="18" charset="0"/>
            </a:endParaRPr>
          </a:p>
          <a:p>
            <a:pPr algn="l" eaLnBrk="1" hangingPunct="1">
              <a:spcBef>
                <a:spcPct val="0"/>
              </a:spcBef>
              <a:buFontTx/>
              <a:buNone/>
            </a:pPr>
            <a:r>
              <a:rPr lang="en-US" altLang="en-US" sz="2800" i="1" dirty="0">
                <a:cs typeface="Times New Roman" panose="02020603050405020304" pitchFamily="18" charset="0"/>
              </a:rPr>
              <a:t> </a:t>
            </a:r>
            <a:endParaRPr lang="en-US" altLang="en-US" sz="2800" dirty="0">
              <a:cs typeface="Times New Roman" panose="02020603050405020304" pitchFamily="18" charset="0"/>
            </a:endParaRPr>
          </a:p>
          <a:p>
            <a:pPr algn="l" eaLnBrk="1" hangingPunct="1">
              <a:spcBef>
                <a:spcPct val="0"/>
              </a:spcBef>
              <a:buFontTx/>
              <a:buNone/>
            </a:pPr>
            <a:r>
              <a:rPr lang="en-US" altLang="en-US" sz="2800" i="1" dirty="0">
                <a:cs typeface="Times New Roman" panose="02020603050405020304" pitchFamily="18" charset="0"/>
              </a:rPr>
              <a:t>		</a:t>
            </a:r>
            <a:r>
              <a:rPr lang="en-US" altLang="en-US" sz="2800" dirty="0">
                <a:cs typeface="Times New Roman" panose="02020603050405020304" pitchFamily="18" charset="0"/>
              </a:rPr>
              <a:t>max ← min ← A (1);</a:t>
            </a:r>
          </a:p>
          <a:p>
            <a:pPr algn="l"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>
                <a:cs typeface="Times New Roman" panose="02020603050405020304" pitchFamily="18" charset="0"/>
              </a:rPr>
              <a:t>		for </a:t>
            </a:r>
            <a:r>
              <a:rPr lang="en-US" altLang="en-US" sz="2800" i="1" dirty="0" err="1">
                <a:cs typeface="Times New Roman" panose="02020603050405020304" pitchFamily="18" charset="0"/>
              </a:rPr>
              <a:t>i</a:t>
            </a:r>
            <a:r>
              <a:rPr lang="en-US" altLang="en-US" sz="2800" dirty="0">
                <a:cs typeface="Times New Roman" panose="02020603050405020304" pitchFamily="18" charset="0"/>
              </a:rPr>
              <a:t> ← 2 to </a:t>
            </a:r>
            <a:r>
              <a:rPr lang="en-US" altLang="en-US" sz="2800" i="1" dirty="0">
                <a:cs typeface="Times New Roman" panose="02020603050405020304" pitchFamily="18" charset="0"/>
              </a:rPr>
              <a:t>n</a:t>
            </a:r>
            <a:r>
              <a:rPr lang="en-US" altLang="en-US" sz="2800" dirty="0">
                <a:cs typeface="Times New Roman" panose="02020603050405020304" pitchFamily="18" charset="0"/>
              </a:rPr>
              <a:t> do </a:t>
            </a:r>
          </a:p>
          <a:p>
            <a:pPr algn="l"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>
                <a:cs typeface="Times New Roman" panose="02020603050405020304" pitchFamily="18" charset="0"/>
              </a:rPr>
              <a:t>			if (A (</a:t>
            </a:r>
            <a:r>
              <a:rPr lang="en-US" altLang="en-US" sz="2800" i="1" dirty="0" err="1">
                <a:cs typeface="Times New Roman" panose="02020603050405020304" pitchFamily="18" charset="0"/>
              </a:rPr>
              <a:t>i</a:t>
            </a:r>
            <a:r>
              <a:rPr lang="en-US" altLang="en-US" sz="2800" dirty="0">
                <a:cs typeface="Times New Roman" panose="02020603050405020304" pitchFamily="18" charset="0"/>
              </a:rPr>
              <a:t>) &gt; max) then max ← A (</a:t>
            </a:r>
            <a:r>
              <a:rPr lang="en-US" altLang="en-US" sz="2800" i="1" dirty="0" err="1">
                <a:cs typeface="Times New Roman" panose="02020603050405020304" pitchFamily="18" charset="0"/>
              </a:rPr>
              <a:t>i</a:t>
            </a:r>
            <a:r>
              <a:rPr lang="en-US" altLang="en-US" sz="2800" dirty="0">
                <a:cs typeface="Times New Roman" panose="02020603050405020304" pitchFamily="18" charset="0"/>
              </a:rPr>
              <a:t>);</a:t>
            </a:r>
          </a:p>
          <a:p>
            <a:pPr algn="l"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>
                <a:cs typeface="Times New Roman" panose="02020603050405020304" pitchFamily="18" charset="0"/>
              </a:rPr>
              <a:t>			if (A (</a:t>
            </a:r>
            <a:r>
              <a:rPr lang="en-US" altLang="en-US" sz="2800" i="1" dirty="0" err="1">
                <a:cs typeface="Times New Roman" panose="02020603050405020304" pitchFamily="18" charset="0"/>
              </a:rPr>
              <a:t>i</a:t>
            </a:r>
            <a:r>
              <a:rPr lang="en-US" altLang="en-US" sz="2800" dirty="0">
                <a:cs typeface="Times New Roman" panose="02020603050405020304" pitchFamily="18" charset="0"/>
              </a:rPr>
              <a:t>) &lt; min) then  min ← A (</a:t>
            </a:r>
            <a:r>
              <a:rPr lang="en-US" altLang="en-US" sz="2800" i="1" dirty="0" err="1">
                <a:cs typeface="Times New Roman" panose="02020603050405020304" pitchFamily="18" charset="0"/>
              </a:rPr>
              <a:t>i</a:t>
            </a:r>
            <a:r>
              <a:rPr lang="en-US" altLang="en-US" sz="2800" dirty="0">
                <a:cs typeface="Times New Roman" panose="02020603050405020304" pitchFamily="18" charset="0"/>
              </a:rPr>
              <a:t>);</a:t>
            </a:r>
          </a:p>
          <a:p>
            <a:pPr algn="l"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>
                <a:cs typeface="Times New Roman" panose="02020603050405020304" pitchFamily="18" charset="0"/>
              </a:rPr>
              <a:t> </a:t>
            </a:r>
          </a:p>
          <a:p>
            <a:pPr algn="l"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>
                <a:solidFill>
                  <a:schemeClr val="accent6">
                    <a:lumMod val="50000"/>
                  </a:schemeClr>
                </a:solidFill>
                <a:cs typeface="Times New Roman" panose="02020603050405020304" pitchFamily="18" charset="0"/>
              </a:rPr>
              <a:t>		No. of comparisons:  2(</a:t>
            </a:r>
            <a:r>
              <a:rPr lang="en-US" altLang="en-US" sz="2800" i="1" dirty="0">
                <a:solidFill>
                  <a:schemeClr val="accent6">
                    <a:lumMod val="50000"/>
                  </a:schemeClr>
                </a:solidFill>
                <a:cs typeface="Times New Roman" panose="02020603050405020304" pitchFamily="18" charset="0"/>
              </a:rPr>
              <a:t>n</a:t>
            </a:r>
            <a:r>
              <a:rPr lang="en-US" altLang="en-US" sz="2800" dirty="0">
                <a:solidFill>
                  <a:schemeClr val="accent6">
                    <a:lumMod val="50000"/>
                  </a:schemeClr>
                </a:solidFill>
                <a:cs typeface="Times New Roman" panose="02020603050405020304" pitchFamily="18" charset="0"/>
              </a:rPr>
              <a:t> – 1)</a:t>
            </a:r>
          </a:p>
          <a:p>
            <a:pPr algn="l" eaLnBrk="1" hangingPunct="1">
              <a:spcBef>
                <a:spcPct val="0"/>
              </a:spcBef>
              <a:buFontTx/>
              <a:buNone/>
            </a:pPr>
            <a:endParaRPr lang="en-US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597024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 lIns="91440" tIns="45720" rIns="91440" bIns="45720" anchor="b"/>
          <a:lstStyle/>
          <a:p>
            <a:pPr eaLnBrk="1" hangingPunct="1">
              <a:defRPr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Finding Maximum and </a:t>
            </a:r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Minimum (FTI)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106363" y="965621"/>
            <a:ext cx="8961437" cy="59093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200" b="0" i="1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The Divide-and-Conquer algorithm:</a:t>
            </a:r>
            <a:r>
              <a:rPr kumimoji="0" lang="en-US" alt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cs typeface="+mn-cs"/>
              </a:rPr>
              <a:t> 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2200" kern="0" dirty="0" smtClean="0">
                <a:solidFill>
                  <a:srgbClr val="7030A0"/>
                </a:solidFill>
                <a:latin typeface="Candara" pitchFamily="34" charset="0"/>
                <a:cs typeface="Courier New" pitchFamily="49" charset="0"/>
              </a:rPr>
              <a:t>Find_</a:t>
            </a:r>
            <a:r>
              <a:rPr kumimoji="0" lang="en-US" altLang="en-US" sz="22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ndara" pitchFamily="34" charset="0"/>
                <a:cs typeface="Courier New" pitchFamily="49" charset="0"/>
              </a:rPr>
              <a:t>maxmin</a:t>
            </a:r>
            <a:r>
              <a:rPr kumimoji="0" lang="en-US" altLang="en-US" sz="2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ndara" pitchFamily="34" charset="0"/>
                <a:cs typeface="Courier New" pitchFamily="49" charset="0"/>
              </a:rPr>
              <a:t> (A, </a:t>
            </a:r>
            <a:r>
              <a:rPr kumimoji="0" lang="en-US" altLang="en-US" sz="2200" b="0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ndara" pitchFamily="34" charset="0"/>
                <a:cs typeface="Courier New" pitchFamily="49" charset="0"/>
              </a:rPr>
              <a:t>i</a:t>
            </a:r>
            <a:r>
              <a:rPr kumimoji="0" lang="en-US" alt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ndara" pitchFamily="34" charset="0"/>
                <a:cs typeface="Courier New" pitchFamily="49" charset="0"/>
              </a:rPr>
              <a:t>, </a:t>
            </a:r>
            <a:r>
              <a:rPr kumimoji="0" lang="en-US" altLang="en-US" sz="2200" b="0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ndara" pitchFamily="34" charset="0"/>
                <a:cs typeface="Courier New" pitchFamily="49" charset="0"/>
              </a:rPr>
              <a:t>j</a:t>
            </a:r>
            <a:r>
              <a:rPr kumimoji="0" lang="en-US" altLang="en-US" sz="2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ndara" pitchFamily="34" charset="0"/>
                <a:cs typeface="Courier New" pitchFamily="49" charset="0"/>
              </a:rPr>
              <a:t>);    </a:t>
            </a:r>
            <a:r>
              <a:rPr kumimoji="0" lang="en-US" altLang="en-US" sz="2200" b="0" i="0" u="none" strike="noStrike" kern="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ndara" pitchFamily="34" charset="0"/>
                <a:cs typeface="Courier New" pitchFamily="49" charset="0"/>
              </a:rPr>
              <a:t>    </a:t>
            </a:r>
            <a:r>
              <a:rPr kumimoji="0" lang="en-US" alt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ndara" pitchFamily="34" charset="0"/>
                <a:cs typeface="Courier New" pitchFamily="49" charset="0"/>
              </a:rPr>
              <a:t>// </a:t>
            </a:r>
            <a:r>
              <a:rPr kumimoji="0" lang="en-US" altLang="en-US" sz="22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ndara" pitchFamily="34" charset="0"/>
                <a:cs typeface="Courier New" pitchFamily="49" charset="0"/>
              </a:rPr>
              <a:t>i</a:t>
            </a:r>
            <a:r>
              <a:rPr kumimoji="0" lang="en-US" alt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ndara" pitchFamily="34" charset="0"/>
                <a:cs typeface="Courier New" pitchFamily="49" charset="0"/>
              </a:rPr>
              <a:t>, </a:t>
            </a:r>
            <a:r>
              <a:rPr kumimoji="0" lang="en-US" altLang="en-US" sz="22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ndara" pitchFamily="34" charset="0"/>
                <a:cs typeface="Courier New" pitchFamily="49" charset="0"/>
              </a:rPr>
              <a:t>j</a:t>
            </a:r>
            <a:r>
              <a:rPr kumimoji="0" lang="en-US" alt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ndara" pitchFamily="34" charset="0"/>
                <a:cs typeface="Courier New" pitchFamily="49" charset="0"/>
              </a:rPr>
              <a:t> </a:t>
            </a:r>
            <a:r>
              <a:rPr kumimoji="0" lang="en-US" altLang="en-US" sz="2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ndara" pitchFamily="34" charset="0"/>
                <a:cs typeface="Courier New" pitchFamily="49" charset="0"/>
              </a:rPr>
              <a:t>are start</a:t>
            </a:r>
            <a:r>
              <a:rPr kumimoji="0" lang="en-US" altLang="en-US" sz="2200" b="0" i="0" u="none" strike="noStrike" kern="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ndara" pitchFamily="34" charset="0"/>
                <a:cs typeface="Courier New" pitchFamily="49" charset="0"/>
              </a:rPr>
              <a:t> and end</a:t>
            </a:r>
            <a:r>
              <a:rPr kumimoji="0" lang="en-US" altLang="en-US" sz="2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ndara" pitchFamily="34" charset="0"/>
                <a:cs typeface="Courier New" pitchFamily="49" charset="0"/>
              </a:rPr>
              <a:t> </a:t>
            </a:r>
            <a:r>
              <a:rPr kumimoji="0" lang="en-US" alt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ndara" pitchFamily="34" charset="0"/>
                <a:cs typeface="Courier New" pitchFamily="49" charset="0"/>
              </a:rPr>
              <a:t>index </a:t>
            </a:r>
            <a:endParaRPr kumimoji="0" lang="en-US" altLang="en-US" sz="22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ndara" pitchFamily="34" charset="0"/>
              <a:cs typeface="Courier New" pitchFamily="49" charset="0"/>
            </a:endParaRPr>
          </a:p>
          <a:p>
            <a:pPr lvl="1" indent="0" algn="l" eaLnBrk="1" fontAlgn="auto" hangingPunct="1">
              <a:spcBef>
                <a:spcPct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en-US" sz="2400" b="1" kern="0" dirty="0">
                <a:solidFill>
                  <a:srgbClr val="000000"/>
                </a:solidFill>
                <a:latin typeface="Candara" pitchFamily="34" charset="0"/>
                <a:cs typeface="Courier New" pitchFamily="49" charset="0"/>
              </a:rPr>
              <a:t>i</a:t>
            </a:r>
            <a:r>
              <a:rPr lang="en-US" altLang="en-US" sz="2400" b="1" kern="0" dirty="0" smtClean="0">
                <a:solidFill>
                  <a:srgbClr val="000000"/>
                </a:solidFill>
                <a:latin typeface="Candara" pitchFamily="34" charset="0"/>
                <a:cs typeface="Courier New" pitchFamily="49" charset="0"/>
              </a:rPr>
              <a:t>f</a:t>
            </a:r>
            <a:r>
              <a:rPr lang="en-US" altLang="en-US" sz="2400" kern="0" dirty="0" smtClean="0">
                <a:solidFill>
                  <a:srgbClr val="000000"/>
                </a:solidFill>
                <a:latin typeface="Candara" pitchFamily="34" charset="0"/>
                <a:cs typeface="Courier New" pitchFamily="49" charset="0"/>
              </a:rPr>
              <a:t> </a:t>
            </a:r>
            <a:r>
              <a:rPr lang="en-US" altLang="en-US" sz="2400" kern="0" dirty="0" smtClean="0">
                <a:solidFill>
                  <a:srgbClr val="000000"/>
                </a:solidFill>
                <a:latin typeface="Candara" pitchFamily="34" charset="0"/>
                <a:cs typeface="Courier New" pitchFamily="49" charset="0"/>
              </a:rPr>
              <a:t>i = j: </a:t>
            </a:r>
          </a:p>
          <a:p>
            <a:pPr lvl="2" indent="0" algn="l" eaLnBrk="1" fontAlgn="auto" hangingPunct="1">
              <a:spcBef>
                <a:spcPct val="0"/>
              </a:spcBef>
              <a:spcAft>
                <a:spcPts val="0"/>
              </a:spcAft>
              <a:buFontTx/>
              <a:buNone/>
              <a:defRPr/>
            </a:pP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ndara" pitchFamily="34" charset="0"/>
                <a:cs typeface="Courier New" pitchFamily="49" charset="0"/>
              </a:rPr>
              <a:t>	</a:t>
            </a:r>
            <a:r>
              <a:rPr kumimoji="0" lang="en-US" altLang="en-US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ndara" pitchFamily="34" charset="0"/>
                <a:cs typeface="Courier New" pitchFamily="49" charset="0"/>
              </a:rPr>
              <a:t>return</a:t>
            </a:r>
            <a:r>
              <a:rPr kumimoji="0" lang="en-US" altLang="en-US" b="0" i="0" u="none" strike="noStrike" kern="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ndara" pitchFamily="34" charset="0"/>
                <a:cs typeface="Courier New" pitchFamily="49" charset="0"/>
              </a:rPr>
              <a:t> A[i], A[i]  </a:t>
            </a:r>
            <a:r>
              <a:rPr kumimoji="0" lang="en-US" altLang="en-US" b="0" i="0" u="none" strike="noStrike" kern="0" cap="none" spc="0" normalizeH="0" noProof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Candara" pitchFamily="34" charset="0"/>
                <a:cs typeface="Courier New" pitchFamily="49" charset="0"/>
              </a:rPr>
              <a:t>// base case</a:t>
            </a:r>
          </a:p>
          <a:p>
            <a:pPr lvl="1" indent="0" algn="l" eaLnBrk="1" fontAlgn="auto" hangingPunct="1">
              <a:spcBef>
                <a:spcPct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en-US" sz="2400" b="1" kern="0" dirty="0">
                <a:solidFill>
                  <a:srgbClr val="000000"/>
                </a:solidFill>
                <a:latin typeface="Candara" pitchFamily="34" charset="0"/>
                <a:cs typeface="Courier New" pitchFamily="49" charset="0"/>
              </a:rPr>
              <a:t>e</a:t>
            </a:r>
            <a:r>
              <a:rPr lang="en-US" altLang="en-US" sz="2400" b="1" kern="0" baseline="0" dirty="0" smtClean="0">
                <a:solidFill>
                  <a:srgbClr val="000000"/>
                </a:solidFill>
                <a:latin typeface="Candara" pitchFamily="34" charset="0"/>
                <a:cs typeface="Courier New" pitchFamily="49" charset="0"/>
              </a:rPr>
              <a:t>lse</a:t>
            </a:r>
            <a:r>
              <a:rPr lang="en-US" altLang="en-US" sz="2400" b="1" kern="0" dirty="0" smtClean="0">
                <a:solidFill>
                  <a:srgbClr val="000000"/>
                </a:solidFill>
                <a:latin typeface="Candara" pitchFamily="34" charset="0"/>
                <a:cs typeface="Courier New" pitchFamily="49" charset="0"/>
              </a:rPr>
              <a:t> </a:t>
            </a:r>
            <a:r>
              <a:rPr lang="en-US" altLang="en-US" sz="2400" b="1" kern="0" dirty="0" smtClean="0">
                <a:solidFill>
                  <a:srgbClr val="000000"/>
                </a:solidFill>
                <a:latin typeface="Candara" pitchFamily="34" charset="0"/>
                <a:cs typeface="Courier New" pitchFamily="49" charset="0"/>
              </a:rPr>
              <a:t>if </a:t>
            </a:r>
            <a:r>
              <a:rPr lang="en-US" altLang="en-US" sz="2400" kern="0" dirty="0" smtClean="0">
                <a:solidFill>
                  <a:srgbClr val="000000"/>
                </a:solidFill>
                <a:latin typeface="Candara" pitchFamily="34" charset="0"/>
                <a:cs typeface="Courier New" pitchFamily="49" charset="0"/>
              </a:rPr>
              <a:t>i &lt; j:</a:t>
            </a:r>
          </a:p>
          <a:p>
            <a:pPr lvl="2" indent="0" algn="l" eaLnBrk="1" fontAlgn="auto" hangingPunct="1">
              <a:spcBef>
                <a:spcPct val="0"/>
              </a:spcBef>
              <a:spcAft>
                <a:spcPts val="0"/>
              </a:spcAft>
              <a:buFontTx/>
              <a:buNone/>
              <a:defRPr/>
            </a:pPr>
            <a:r>
              <a:rPr kumimoji="0" lang="en-US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ndara" pitchFamily="34" charset="0"/>
                <a:cs typeface="Courier New" pitchFamily="49" charset="0"/>
              </a:rPr>
              <a:t>	</a:t>
            </a:r>
            <a:r>
              <a:rPr kumimoji="0" lang="en-US" altLang="en-US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ndara" pitchFamily="34" charset="0"/>
                <a:cs typeface="Courier New" pitchFamily="49" charset="0"/>
              </a:rPr>
              <a:t>mid</a:t>
            </a:r>
            <a:r>
              <a:rPr kumimoji="0" lang="en-US" altLang="en-US" b="0" i="0" u="none" strike="noStrike" kern="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ndara" pitchFamily="34" charset="0"/>
                <a:cs typeface="Courier New" pitchFamily="49" charset="0"/>
              </a:rPr>
              <a:t> = (</a:t>
            </a:r>
            <a:r>
              <a:rPr kumimoji="0" lang="en-US" altLang="en-US" b="0" i="0" u="none" strike="noStrike" kern="0" cap="none" spc="0" normalizeH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ndara" pitchFamily="34" charset="0"/>
                <a:cs typeface="Courier New" pitchFamily="49" charset="0"/>
              </a:rPr>
              <a:t>i+j</a:t>
            </a:r>
            <a:r>
              <a:rPr kumimoji="0" lang="en-US" altLang="en-US" b="0" i="0" u="none" strike="noStrike" kern="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ndara" pitchFamily="34" charset="0"/>
                <a:cs typeface="Courier New" pitchFamily="49" charset="0"/>
              </a:rPr>
              <a:t>)/2; </a:t>
            </a:r>
            <a:r>
              <a:rPr kumimoji="0" lang="en-US" altLang="en-US" b="0" i="0" u="none" strike="noStrike" kern="0" cap="none" spc="0" normalizeH="0" noProof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Candara" pitchFamily="34" charset="0"/>
                <a:cs typeface="Courier New" pitchFamily="49" charset="0"/>
              </a:rPr>
              <a:t>// divide</a:t>
            </a:r>
          </a:p>
          <a:p>
            <a:pPr lvl="2" indent="0" algn="l" eaLnBrk="1" fontAlgn="auto" hangingPunct="1">
              <a:spcBef>
                <a:spcPct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en-US" kern="0" baseline="0" dirty="0">
                <a:solidFill>
                  <a:srgbClr val="000000"/>
                </a:solidFill>
                <a:latin typeface="Candara" pitchFamily="34" charset="0"/>
                <a:cs typeface="Courier New" pitchFamily="49" charset="0"/>
              </a:rPr>
              <a:t>	</a:t>
            </a:r>
            <a:r>
              <a:rPr lang="en-US" altLang="en-US" kern="0" baseline="0" dirty="0" smtClean="0">
                <a:solidFill>
                  <a:srgbClr val="000000"/>
                </a:solidFill>
                <a:latin typeface="Candara" pitchFamily="34" charset="0"/>
                <a:cs typeface="Courier New" pitchFamily="49" charset="0"/>
              </a:rPr>
              <a:t>mx1,</a:t>
            </a:r>
            <a:r>
              <a:rPr lang="en-US" altLang="en-US" kern="0" dirty="0" smtClean="0">
                <a:solidFill>
                  <a:srgbClr val="000000"/>
                </a:solidFill>
                <a:latin typeface="Candara" pitchFamily="34" charset="0"/>
                <a:cs typeface="Courier New" pitchFamily="49" charset="0"/>
              </a:rPr>
              <a:t> min1 = </a:t>
            </a:r>
            <a:r>
              <a:rPr lang="en-US" altLang="en-US" kern="0" baseline="0" dirty="0" err="1" smtClean="0">
                <a:solidFill>
                  <a:srgbClr val="000000"/>
                </a:solidFill>
                <a:latin typeface="Candara" pitchFamily="34" charset="0"/>
                <a:cs typeface="Courier New" pitchFamily="49" charset="0"/>
              </a:rPr>
              <a:t>Find_maxmin</a:t>
            </a:r>
            <a:r>
              <a:rPr lang="en-US" altLang="en-US" kern="0" baseline="0" dirty="0" smtClean="0">
                <a:solidFill>
                  <a:srgbClr val="000000"/>
                </a:solidFill>
                <a:latin typeface="Candara" pitchFamily="34" charset="0"/>
                <a:cs typeface="Courier New" pitchFamily="49" charset="0"/>
              </a:rPr>
              <a:t>(A,</a:t>
            </a:r>
            <a:r>
              <a:rPr lang="en-US" altLang="en-US" kern="0" dirty="0" smtClean="0">
                <a:solidFill>
                  <a:srgbClr val="000000"/>
                </a:solidFill>
                <a:latin typeface="Candara" pitchFamily="34" charset="0"/>
                <a:cs typeface="Courier New" pitchFamily="49" charset="0"/>
              </a:rPr>
              <a:t> i, mid) </a:t>
            </a:r>
            <a:r>
              <a:rPr lang="en-US" altLang="en-US" kern="0" dirty="0" smtClean="0">
                <a:solidFill>
                  <a:schemeClr val="accent1"/>
                </a:solidFill>
                <a:latin typeface="Candara" pitchFamily="34" charset="0"/>
                <a:cs typeface="Courier New" pitchFamily="49" charset="0"/>
              </a:rPr>
              <a:t>// conquer</a:t>
            </a:r>
            <a:endParaRPr lang="en-US" altLang="en-US" kern="0" dirty="0">
              <a:solidFill>
                <a:schemeClr val="accent1"/>
              </a:solidFill>
              <a:latin typeface="Candara" pitchFamily="34" charset="0"/>
              <a:cs typeface="Courier New" pitchFamily="49" charset="0"/>
            </a:endParaRPr>
          </a:p>
          <a:p>
            <a:pPr lvl="2" indent="0" algn="l" eaLnBrk="1" fontAlgn="auto" hangingPunct="1">
              <a:spcBef>
                <a:spcPct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en-US" kern="0" dirty="0">
                <a:solidFill>
                  <a:srgbClr val="000000"/>
                </a:solidFill>
                <a:latin typeface="Candara" pitchFamily="34" charset="0"/>
                <a:cs typeface="Courier New" pitchFamily="49" charset="0"/>
              </a:rPr>
              <a:t>	</a:t>
            </a:r>
            <a:r>
              <a:rPr lang="en-US" altLang="en-US" kern="0" dirty="0" smtClean="0">
                <a:solidFill>
                  <a:srgbClr val="000000"/>
                </a:solidFill>
                <a:latin typeface="Candara" pitchFamily="34" charset="0"/>
                <a:cs typeface="Courier New" pitchFamily="49" charset="0"/>
              </a:rPr>
              <a:t>mx2, min2 </a:t>
            </a:r>
            <a:r>
              <a:rPr lang="en-US" altLang="en-US" kern="0" dirty="0">
                <a:solidFill>
                  <a:srgbClr val="000000"/>
                </a:solidFill>
                <a:latin typeface="Candara" pitchFamily="34" charset="0"/>
                <a:cs typeface="Courier New" pitchFamily="49" charset="0"/>
              </a:rPr>
              <a:t>= </a:t>
            </a:r>
            <a:r>
              <a:rPr lang="en-US" altLang="en-US" kern="0" dirty="0" err="1">
                <a:solidFill>
                  <a:srgbClr val="000000"/>
                </a:solidFill>
                <a:latin typeface="Candara" pitchFamily="34" charset="0"/>
                <a:cs typeface="Courier New" pitchFamily="49" charset="0"/>
              </a:rPr>
              <a:t>Find_maxmin</a:t>
            </a:r>
            <a:r>
              <a:rPr lang="en-US" altLang="en-US" kern="0" dirty="0">
                <a:solidFill>
                  <a:srgbClr val="000000"/>
                </a:solidFill>
                <a:latin typeface="Candara" pitchFamily="34" charset="0"/>
                <a:cs typeface="Courier New" pitchFamily="49" charset="0"/>
              </a:rPr>
              <a:t>(A, </a:t>
            </a:r>
            <a:r>
              <a:rPr lang="en-US" altLang="en-US" kern="0" dirty="0" smtClean="0">
                <a:solidFill>
                  <a:srgbClr val="000000"/>
                </a:solidFill>
                <a:latin typeface="Candara" pitchFamily="34" charset="0"/>
                <a:cs typeface="Courier New" pitchFamily="49" charset="0"/>
              </a:rPr>
              <a:t>mid+1, j) </a:t>
            </a:r>
            <a:r>
              <a:rPr lang="en-US" altLang="en-US" kern="0" dirty="0">
                <a:solidFill>
                  <a:schemeClr val="accent1"/>
                </a:solidFill>
                <a:latin typeface="Candara" pitchFamily="34" charset="0"/>
                <a:cs typeface="Courier New" pitchFamily="49" charset="0"/>
              </a:rPr>
              <a:t>// </a:t>
            </a:r>
            <a:r>
              <a:rPr lang="en-US" altLang="en-US" kern="0" dirty="0" smtClean="0">
                <a:solidFill>
                  <a:schemeClr val="accent1"/>
                </a:solidFill>
                <a:latin typeface="Candara" pitchFamily="34" charset="0"/>
                <a:cs typeface="Courier New" pitchFamily="49" charset="0"/>
              </a:rPr>
              <a:t>conquer</a:t>
            </a:r>
          </a:p>
          <a:p>
            <a:pPr lvl="2" indent="0" algn="l" eaLnBrk="1" fontAlgn="auto" hangingPunct="1">
              <a:spcBef>
                <a:spcPct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en-US" kern="0" dirty="0">
                <a:solidFill>
                  <a:srgbClr val="000000"/>
                </a:solidFill>
                <a:latin typeface="Candara" pitchFamily="34" charset="0"/>
                <a:cs typeface="Courier New" pitchFamily="49" charset="0"/>
              </a:rPr>
              <a:t>	</a:t>
            </a:r>
            <a:r>
              <a:rPr lang="en-US" altLang="en-US" kern="0" dirty="0" smtClean="0">
                <a:solidFill>
                  <a:schemeClr val="accent1"/>
                </a:solidFill>
                <a:latin typeface="Candara" pitchFamily="34" charset="0"/>
                <a:cs typeface="Courier New" pitchFamily="49" charset="0"/>
              </a:rPr>
              <a:t>// combine</a:t>
            </a:r>
          </a:p>
          <a:p>
            <a:pPr lvl="2" indent="0" algn="l" eaLnBrk="1" fontAlgn="auto" hangingPunct="1">
              <a:spcBef>
                <a:spcPct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en-US" kern="0" dirty="0" smtClean="0">
                <a:solidFill>
                  <a:srgbClr val="000000"/>
                </a:solidFill>
                <a:latin typeface="Candara" pitchFamily="34" charset="0"/>
                <a:cs typeface="Courier New" pitchFamily="49" charset="0"/>
              </a:rPr>
              <a:t>	</a:t>
            </a:r>
            <a:r>
              <a:rPr lang="en-US" altLang="en-US" kern="0" dirty="0" err="1" smtClean="0">
                <a:solidFill>
                  <a:srgbClr val="000000"/>
                </a:solidFill>
                <a:latin typeface="Candara" pitchFamily="34" charset="0"/>
                <a:cs typeface="Courier New" pitchFamily="49" charset="0"/>
              </a:rPr>
              <a:t>fmax</a:t>
            </a:r>
            <a:r>
              <a:rPr lang="en-US" altLang="en-US" kern="0" dirty="0" smtClean="0">
                <a:solidFill>
                  <a:srgbClr val="000000"/>
                </a:solidFill>
                <a:latin typeface="Candara" pitchFamily="34" charset="0"/>
                <a:cs typeface="Courier New" pitchFamily="49" charset="0"/>
              </a:rPr>
              <a:t>, </a:t>
            </a:r>
            <a:r>
              <a:rPr lang="en-US" altLang="en-US" kern="0" dirty="0" err="1">
                <a:solidFill>
                  <a:srgbClr val="000000"/>
                </a:solidFill>
                <a:latin typeface="Candara" pitchFamily="34" charset="0"/>
                <a:cs typeface="Courier New" pitchFamily="49" charset="0"/>
              </a:rPr>
              <a:t>fmin</a:t>
            </a:r>
            <a:r>
              <a:rPr lang="en-US" altLang="en-US" kern="0" dirty="0">
                <a:solidFill>
                  <a:srgbClr val="000000"/>
                </a:solidFill>
                <a:latin typeface="Candara" pitchFamily="34" charset="0"/>
                <a:cs typeface="Courier New" pitchFamily="49" charset="0"/>
              </a:rPr>
              <a:t> </a:t>
            </a:r>
            <a:r>
              <a:rPr lang="en-US" altLang="en-US" kern="0" dirty="0" smtClean="0">
                <a:solidFill>
                  <a:srgbClr val="000000"/>
                </a:solidFill>
                <a:latin typeface="Candara" pitchFamily="34" charset="0"/>
                <a:cs typeface="Courier New" pitchFamily="49" charset="0"/>
              </a:rPr>
              <a:t>= -1, -1 </a:t>
            </a:r>
          </a:p>
          <a:p>
            <a:pPr lvl="2" indent="0" algn="l" eaLnBrk="1" fontAlgn="auto" hangingPunct="1">
              <a:spcBef>
                <a:spcPct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en-US" kern="0" dirty="0">
                <a:solidFill>
                  <a:srgbClr val="000000"/>
                </a:solidFill>
                <a:latin typeface="Candara" pitchFamily="34" charset="0"/>
                <a:cs typeface="Courier New" pitchFamily="49" charset="0"/>
              </a:rPr>
              <a:t>	</a:t>
            </a:r>
            <a:r>
              <a:rPr lang="en-US" altLang="en-US" b="1" kern="0" dirty="0" smtClean="0">
                <a:solidFill>
                  <a:srgbClr val="000000"/>
                </a:solidFill>
                <a:latin typeface="Candara" pitchFamily="34" charset="0"/>
                <a:cs typeface="Courier New" pitchFamily="49" charset="0"/>
              </a:rPr>
              <a:t>if</a:t>
            </a:r>
            <a:r>
              <a:rPr lang="en-US" altLang="en-US" kern="0" dirty="0" smtClean="0">
                <a:solidFill>
                  <a:srgbClr val="000000"/>
                </a:solidFill>
                <a:latin typeface="Candara" pitchFamily="34" charset="0"/>
                <a:cs typeface="Courier New" pitchFamily="49" charset="0"/>
              </a:rPr>
              <a:t> mx1 &gt; mx2: </a:t>
            </a:r>
            <a:r>
              <a:rPr lang="en-US" altLang="en-US" kern="0" dirty="0" err="1">
                <a:solidFill>
                  <a:srgbClr val="000000"/>
                </a:solidFill>
                <a:latin typeface="Candara" pitchFamily="34" charset="0"/>
                <a:cs typeface="Courier New" pitchFamily="49" charset="0"/>
              </a:rPr>
              <a:t>fmax</a:t>
            </a:r>
            <a:r>
              <a:rPr lang="en-US" altLang="en-US" kern="0" dirty="0">
                <a:solidFill>
                  <a:srgbClr val="000000"/>
                </a:solidFill>
                <a:latin typeface="Candara" pitchFamily="34" charset="0"/>
                <a:cs typeface="Courier New" pitchFamily="49" charset="0"/>
              </a:rPr>
              <a:t> </a:t>
            </a:r>
            <a:r>
              <a:rPr lang="en-US" altLang="en-US" kern="0" dirty="0" smtClean="0">
                <a:solidFill>
                  <a:srgbClr val="000000"/>
                </a:solidFill>
                <a:latin typeface="Candara" pitchFamily="34" charset="0"/>
                <a:cs typeface="Courier New" pitchFamily="49" charset="0"/>
              </a:rPr>
              <a:t>= mx1</a:t>
            </a:r>
          </a:p>
          <a:p>
            <a:pPr lvl="2" indent="0" algn="l" eaLnBrk="1" fontAlgn="auto" hangingPunct="1">
              <a:spcBef>
                <a:spcPct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en-US" kern="0" dirty="0">
                <a:solidFill>
                  <a:srgbClr val="000000"/>
                </a:solidFill>
                <a:latin typeface="Candara" pitchFamily="34" charset="0"/>
                <a:cs typeface="Courier New" pitchFamily="49" charset="0"/>
              </a:rPr>
              <a:t>	</a:t>
            </a:r>
            <a:r>
              <a:rPr lang="en-US" altLang="en-US" b="1" kern="0" dirty="0" smtClean="0">
                <a:solidFill>
                  <a:srgbClr val="000000"/>
                </a:solidFill>
                <a:latin typeface="Candara" pitchFamily="34" charset="0"/>
                <a:cs typeface="Courier New" pitchFamily="49" charset="0"/>
              </a:rPr>
              <a:t>else</a:t>
            </a:r>
            <a:r>
              <a:rPr lang="en-US" altLang="en-US" kern="0" dirty="0" smtClean="0">
                <a:solidFill>
                  <a:srgbClr val="000000"/>
                </a:solidFill>
                <a:latin typeface="Candara" pitchFamily="34" charset="0"/>
                <a:cs typeface="Courier New" pitchFamily="49" charset="0"/>
              </a:rPr>
              <a:t> </a:t>
            </a:r>
            <a:r>
              <a:rPr lang="en-US" altLang="en-US" kern="0" dirty="0" err="1">
                <a:solidFill>
                  <a:srgbClr val="000000"/>
                </a:solidFill>
                <a:latin typeface="Candara" pitchFamily="34" charset="0"/>
                <a:cs typeface="Courier New" pitchFamily="49" charset="0"/>
              </a:rPr>
              <a:t>fmax</a:t>
            </a:r>
            <a:r>
              <a:rPr lang="en-US" altLang="en-US" kern="0" dirty="0">
                <a:solidFill>
                  <a:srgbClr val="000000"/>
                </a:solidFill>
                <a:latin typeface="Candara" pitchFamily="34" charset="0"/>
                <a:cs typeface="Courier New" pitchFamily="49" charset="0"/>
              </a:rPr>
              <a:t> </a:t>
            </a:r>
            <a:r>
              <a:rPr lang="en-US" altLang="en-US" kern="0" dirty="0" smtClean="0">
                <a:solidFill>
                  <a:srgbClr val="000000"/>
                </a:solidFill>
                <a:latin typeface="Candara" pitchFamily="34" charset="0"/>
                <a:cs typeface="Courier New" pitchFamily="49" charset="0"/>
              </a:rPr>
              <a:t>= mx2</a:t>
            </a:r>
          </a:p>
          <a:p>
            <a:pPr lvl="2" indent="0" algn="l" eaLnBrk="1" fontAlgn="auto" hangingPunct="1">
              <a:spcBef>
                <a:spcPct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en-US" kern="0" dirty="0">
                <a:solidFill>
                  <a:srgbClr val="000000"/>
                </a:solidFill>
                <a:latin typeface="Candara" pitchFamily="34" charset="0"/>
                <a:cs typeface="Courier New" pitchFamily="49" charset="0"/>
              </a:rPr>
              <a:t>	</a:t>
            </a:r>
            <a:r>
              <a:rPr lang="en-US" altLang="en-US" b="1" kern="0" dirty="0" smtClean="0">
                <a:solidFill>
                  <a:srgbClr val="000000"/>
                </a:solidFill>
                <a:latin typeface="Candara" pitchFamily="34" charset="0"/>
                <a:cs typeface="Courier New" pitchFamily="49" charset="0"/>
              </a:rPr>
              <a:t>if</a:t>
            </a:r>
            <a:r>
              <a:rPr lang="en-US" altLang="en-US" kern="0" dirty="0" smtClean="0">
                <a:solidFill>
                  <a:srgbClr val="000000"/>
                </a:solidFill>
                <a:latin typeface="Candara" pitchFamily="34" charset="0"/>
                <a:cs typeface="Courier New" pitchFamily="49" charset="0"/>
              </a:rPr>
              <a:t> min1 &lt; min2: </a:t>
            </a:r>
            <a:r>
              <a:rPr lang="en-US" altLang="en-US" kern="0" dirty="0" err="1">
                <a:solidFill>
                  <a:srgbClr val="000000"/>
                </a:solidFill>
                <a:latin typeface="Candara" pitchFamily="34" charset="0"/>
                <a:cs typeface="Courier New" pitchFamily="49" charset="0"/>
              </a:rPr>
              <a:t>fmin</a:t>
            </a:r>
            <a:r>
              <a:rPr lang="en-US" altLang="en-US" kern="0" dirty="0">
                <a:solidFill>
                  <a:srgbClr val="000000"/>
                </a:solidFill>
                <a:latin typeface="Candara" pitchFamily="34" charset="0"/>
                <a:cs typeface="Courier New" pitchFamily="49" charset="0"/>
              </a:rPr>
              <a:t> </a:t>
            </a:r>
            <a:r>
              <a:rPr lang="en-US" altLang="en-US" kern="0" dirty="0" smtClean="0">
                <a:solidFill>
                  <a:srgbClr val="000000"/>
                </a:solidFill>
                <a:latin typeface="Candara" pitchFamily="34" charset="0"/>
                <a:cs typeface="Courier New" pitchFamily="49" charset="0"/>
              </a:rPr>
              <a:t>= min1</a:t>
            </a:r>
          </a:p>
          <a:p>
            <a:pPr lvl="2" indent="0" algn="l" eaLnBrk="1" fontAlgn="auto" hangingPunct="1">
              <a:spcBef>
                <a:spcPct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en-US" kern="0" dirty="0">
                <a:solidFill>
                  <a:srgbClr val="000000"/>
                </a:solidFill>
                <a:latin typeface="Candara" pitchFamily="34" charset="0"/>
                <a:cs typeface="Courier New" pitchFamily="49" charset="0"/>
              </a:rPr>
              <a:t>	</a:t>
            </a:r>
            <a:r>
              <a:rPr lang="en-US" altLang="en-US" b="1" kern="0" dirty="0" smtClean="0">
                <a:solidFill>
                  <a:srgbClr val="000000"/>
                </a:solidFill>
                <a:latin typeface="Candara" pitchFamily="34" charset="0"/>
                <a:cs typeface="Courier New" pitchFamily="49" charset="0"/>
              </a:rPr>
              <a:t>else</a:t>
            </a:r>
            <a:r>
              <a:rPr lang="en-US" altLang="en-US" kern="0" dirty="0" smtClean="0">
                <a:solidFill>
                  <a:srgbClr val="000000"/>
                </a:solidFill>
                <a:latin typeface="Candara" pitchFamily="34" charset="0"/>
                <a:cs typeface="Courier New" pitchFamily="49" charset="0"/>
              </a:rPr>
              <a:t> </a:t>
            </a:r>
            <a:r>
              <a:rPr lang="en-US" altLang="en-US" kern="0" dirty="0" err="1">
                <a:solidFill>
                  <a:srgbClr val="000000"/>
                </a:solidFill>
                <a:latin typeface="Candara" pitchFamily="34" charset="0"/>
                <a:cs typeface="Courier New" pitchFamily="49" charset="0"/>
              </a:rPr>
              <a:t>fmin</a:t>
            </a:r>
            <a:r>
              <a:rPr lang="en-US" altLang="en-US" kern="0" dirty="0">
                <a:solidFill>
                  <a:srgbClr val="000000"/>
                </a:solidFill>
                <a:latin typeface="Candara" pitchFamily="34" charset="0"/>
                <a:cs typeface="Courier New" pitchFamily="49" charset="0"/>
              </a:rPr>
              <a:t> </a:t>
            </a:r>
            <a:r>
              <a:rPr lang="en-US" altLang="en-US" kern="0" dirty="0" smtClean="0">
                <a:solidFill>
                  <a:srgbClr val="000000"/>
                </a:solidFill>
                <a:latin typeface="Candara" pitchFamily="34" charset="0"/>
                <a:cs typeface="Courier New" pitchFamily="49" charset="0"/>
              </a:rPr>
              <a:t>= min2</a:t>
            </a:r>
          </a:p>
          <a:p>
            <a:pPr lvl="2" indent="0" algn="l" eaLnBrk="1" fontAlgn="auto" hangingPunct="1">
              <a:spcBef>
                <a:spcPct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en-US" kern="0" dirty="0">
                <a:solidFill>
                  <a:srgbClr val="000000"/>
                </a:solidFill>
                <a:latin typeface="Candara" pitchFamily="34" charset="0"/>
                <a:cs typeface="Courier New" pitchFamily="49" charset="0"/>
              </a:rPr>
              <a:t>	</a:t>
            </a:r>
            <a:r>
              <a:rPr lang="en-US" altLang="en-US" b="1" kern="0" dirty="0" smtClean="0">
                <a:solidFill>
                  <a:srgbClr val="000000"/>
                </a:solidFill>
                <a:latin typeface="Candara" pitchFamily="34" charset="0"/>
                <a:cs typeface="Courier New" pitchFamily="49" charset="0"/>
              </a:rPr>
              <a:t>return</a:t>
            </a:r>
            <a:r>
              <a:rPr lang="en-US" altLang="en-US" kern="0" dirty="0" smtClean="0">
                <a:solidFill>
                  <a:srgbClr val="000000"/>
                </a:solidFill>
                <a:latin typeface="Candara" pitchFamily="34" charset="0"/>
                <a:cs typeface="Courier New" pitchFamily="49" charset="0"/>
              </a:rPr>
              <a:t> </a:t>
            </a:r>
            <a:r>
              <a:rPr lang="en-US" altLang="en-US" kern="0" dirty="0" err="1" smtClean="0">
                <a:solidFill>
                  <a:srgbClr val="000000"/>
                </a:solidFill>
                <a:latin typeface="Candara" pitchFamily="34" charset="0"/>
                <a:cs typeface="Courier New" pitchFamily="49" charset="0"/>
              </a:rPr>
              <a:t>fmax</a:t>
            </a:r>
            <a:r>
              <a:rPr lang="en-US" altLang="en-US" kern="0" dirty="0" smtClean="0">
                <a:solidFill>
                  <a:srgbClr val="000000"/>
                </a:solidFill>
                <a:latin typeface="Candara" pitchFamily="34" charset="0"/>
                <a:cs typeface="Courier New" pitchFamily="49" charset="0"/>
              </a:rPr>
              <a:t>, </a:t>
            </a:r>
            <a:r>
              <a:rPr lang="en-US" altLang="en-US" kern="0" dirty="0" err="1" smtClean="0">
                <a:solidFill>
                  <a:srgbClr val="000000"/>
                </a:solidFill>
                <a:latin typeface="Candara" pitchFamily="34" charset="0"/>
                <a:cs typeface="Courier New" pitchFamily="49" charset="0"/>
              </a:rPr>
              <a:t>fmin</a:t>
            </a:r>
            <a:endParaRPr lang="en-US" altLang="en-US" kern="0" dirty="0">
              <a:solidFill>
                <a:srgbClr val="000000"/>
              </a:solidFill>
              <a:latin typeface="Candara" pitchFamily="34" charset="0"/>
              <a:cs typeface="Courier New" pitchFamily="49" charset="0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2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27389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 lIns="91440" tIns="45720" rIns="91440" bIns="45720" anchor="b"/>
          <a:lstStyle/>
          <a:p>
            <a:pPr eaLnBrk="1" hangingPunct="1">
              <a:defRPr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Finding Maximum and Minimum</a:t>
            </a:r>
          </a:p>
        </p:txBody>
      </p:sp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106363" y="965621"/>
            <a:ext cx="8961437" cy="60016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200" b="0" i="1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The Divide-and-Conquer algorithm:</a:t>
            </a:r>
            <a:r>
              <a:rPr kumimoji="0" lang="en-US" alt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cs typeface="+mn-cs"/>
              </a:rPr>
              <a:t> 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   procedure </a:t>
            </a:r>
            <a:r>
              <a:rPr kumimoji="0" lang="en-US" altLang="en-US" sz="2200" b="0" i="0" u="none" strike="noStrike" kern="0" cap="none" spc="0" normalizeH="0" baseline="0" noProof="0" dirty="0" err="1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Rmaxmin</a:t>
            </a:r>
            <a:r>
              <a:rPr kumimoji="0" lang="en-US" alt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kumimoji="0" lang="en-US" altLang="en-US" sz="2200" b="0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0" lang="en-US" alt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22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kumimoji="0" lang="en-US" alt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2200" b="0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fmax</a:t>
            </a:r>
            <a:r>
              <a:rPr kumimoji="0" lang="en-US" alt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2200" b="0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fmin</a:t>
            </a:r>
            <a:r>
              <a:rPr kumimoji="0" lang="en-US" alt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r>
              <a:rPr kumimoji="0" lang="en-US" alt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+mn-cs"/>
              </a:rPr>
              <a:t>    </a:t>
            </a:r>
            <a:r>
              <a:rPr kumimoji="0" lang="en-US" altLang="en-US" sz="2200" b="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+mn-cs"/>
              </a:rPr>
              <a:t>    </a:t>
            </a:r>
            <a:r>
              <a:rPr kumimoji="0" lang="en-US" alt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// </a:t>
            </a:r>
            <a:r>
              <a:rPr kumimoji="0" lang="en-US" altLang="en-US" sz="2200" b="0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0" lang="en-US" alt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22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kumimoji="0" lang="en-US" alt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are index #, </a:t>
            </a:r>
            <a:r>
              <a:rPr kumimoji="0" lang="en-US" altLang="en-US" sz="2200" b="0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fmax</a:t>
            </a:r>
            <a:r>
              <a:rPr kumimoji="0" lang="en-US" alt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, 		begin  			                    // </a:t>
            </a:r>
            <a:r>
              <a:rPr kumimoji="0" lang="en-US" altLang="en-US" sz="2200" b="0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fmin</a:t>
            </a:r>
            <a:r>
              <a:rPr kumimoji="0" lang="en-US" alt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are output parameters 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	   case: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kumimoji="0" lang="en-US" altLang="en-US" sz="2200" b="0" i="1" u="none" strike="noStrike" kern="0" cap="none" spc="0" normalizeH="0" baseline="0" noProof="0" dirty="0" err="1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0" lang="en-US" altLang="en-US" sz="2200" b="0" i="1" u="none" strike="noStrike" kern="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kumimoji="0" lang="en-US" altLang="en-US" sz="2200" b="0" i="1" u="none" strike="noStrike" kern="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kumimoji="0" lang="en-US" alt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:		</a:t>
            </a:r>
            <a:r>
              <a:rPr kumimoji="0" lang="en-US" altLang="en-US" sz="2200" b="0" i="1" u="none" strike="noStrike" kern="0" cap="none" spc="0" normalizeH="0" baseline="0" noProof="0" dirty="0" err="1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fmax</a:t>
            </a:r>
            <a:r>
              <a:rPr kumimoji="0" lang="en-US" alt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← </a:t>
            </a:r>
            <a:r>
              <a:rPr kumimoji="0" lang="en-US" altLang="en-US" sz="2200" b="0" i="1" u="none" strike="noStrike" kern="0" cap="none" spc="0" normalizeH="0" baseline="0" noProof="0" dirty="0" err="1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fmin</a:t>
            </a:r>
            <a:r>
              <a:rPr kumimoji="0" lang="en-US" alt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← A[</a:t>
            </a:r>
            <a:r>
              <a:rPr kumimoji="0" lang="en-US" altLang="en-US" sz="2200" b="0" i="1" u="none" strike="noStrike" kern="0" cap="none" spc="0" normalizeH="0" baseline="0" noProof="0" dirty="0" err="1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2200" kern="0" dirty="0">
                <a:solidFill>
                  <a:srgbClr val="0000CC"/>
                </a:solidFill>
                <a:cs typeface="Times New Roman" panose="02020603050405020304" pitchFamily="18" charset="0"/>
              </a:rPr>
              <a:t>]</a:t>
            </a:r>
            <a:r>
              <a:rPr kumimoji="0" lang="en-US" alt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2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kumimoji="0" lang="en-US" altLang="en-US" sz="2200" b="0" i="1" u="none" strike="noStrike" kern="0" cap="none" spc="0" normalizeH="0" baseline="0" noProof="0" dirty="0" err="1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0" lang="en-US" altLang="en-US" sz="2200" b="0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kumimoji="0" lang="en-US" altLang="en-US" sz="2200" b="0" i="1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kumimoji="0" lang="en-US" altLang="en-US" sz="2200" b="0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–1:		if A[</a:t>
            </a:r>
            <a:r>
              <a:rPr kumimoji="0" lang="en-US" altLang="en-US" sz="2200" b="0" i="1" u="none" strike="noStrike" kern="0" cap="none" spc="0" normalizeH="0" baseline="0" noProof="0" dirty="0" err="1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2200" kern="0" dirty="0">
                <a:solidFill>
                  <a:schemeClr val="accent2">
                    <a:lumMod val="75000"/>
                  </a:schemeClr>
                </a:solidFill>
                <a:cs typeface="Times New Roman" panose="02020603050405020304" pitchFamily="18" charset="0"/>
              </a:rPr>
              <a:t>]</a:t>
            </a:r>
            <a:r>
              <a:rPr kumimoji="0" lang="en-US" altLang="en-US" sz="2200" b="0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&lt; A[</a:t>
            </a:r>
            <a:r>
              <a:rPr kumimoji="0" lang="en-US" altLang="en-US" sz="2200" b="0" i="1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en-US" sz="2200" kern="0" dirty="0">
                <a:solidFill>
                  <a:schemeClr val="accent2">
                    <a:lumMod val="75000"/>
                  </a:schemeClr>
                </a:solidFill>
                <a:cs typeface="Times New Roman" panose="02020603050405020304" pitchFamily="18" charset="0"/>
              </a:rPr>
              <a:t>]</a:t>
            </a:r>
            <a:r>
              <a:rPr kumimoji="0" lang="en-US" altLang="en-US" sz="2200" b="0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then 	</a:t>
            </a:r>
            <a:r>
              <a:rPr kumimoji="0" lang="en-US" altLang="en-US" sz="2200" b="0" i="1" u="none" strike="noStrike" kern="0" cap="none" spc="0" normalizeH="0" baseline="0" noProof="0" dirty="0" err="1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fmax</a:t>
            </a:r>
            <a:r>
              <a:rPr kumimoji="0" lang="en-US" altLang="en-US" sz="2200" b="0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← A[</a:t>
            </a:r>
            <a:r>
              <a:rPr kumimoji="0" lang="en-US" altLang="en-US" sz="2200" b="0" i="1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en-US" sz="2200" kern="0" dirty="0">
                <a:solidFill>
                  <a:schemeClr val="accent2">
                    <a:lumMod val="75000"/>
                  </a:schemeClr>
                </a:solidFill>
                <a:cs typeface="Times New Roman" panose="02020603050405020304" pitchFamily="18" charset="0"/>
              </a:rPr>
              <a:t>]</a:t>
            </a:r>
            <a:r>
              <a:rPr kumimoji="0" lang="en-US" altLang="en-US" sz="2200" b="0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200" b="0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							</a:t>
            </a:r>
            <a:r>
              <a:rPr kumimoji="0" lang="en-US" altLang="en-US" sz="2200" b="0" i="1" u="none" strike="noStrike" kern="0" cap="none" spc="0" normalizeH="0" baseline="0" noProof="0" dirty="0" err="1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fmin</a:t>
            </a:r>
            <a:r>
              <a:rPr kumimoji="0" lang="en-US" altLang="en-US" sz="2200" b="0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← A[</a:t>
            </a:r>
            <a:r>
              <a:rPr kumimoji="0" lang="en-US" altLang="en-US" sz="2200" b="0" i="1" u="none" strike="noStrike" kern="0" cap="none" spc="0" normalizeH="0" baseline="0" noProof="0" dirty="0" err="1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2200" kern="0" dirty="0">
                <a:solidFill>
                  <a:schemeClr val="accent2">
                    <a:lumMod val="75000"/>
                  </a:schemeClr>
                </a:solidFill>
                <a:cs typeface="Times New Roman" panose="02020603050405020304" pitchFamily="18" charset="0"/>
              </a:rPr>
              <a:t>]</a:t>
            </a:r>
            <a:r>
              <a:rPr kumimoji="0" lang="en-US" altLang="en-US" sz="2200" b="0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200" b="0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				else	</a:t>
            </a:r>
            <a:r>
              <a:rPr kumimoji="0" lang="en-US" altLang="en-US" sz="2200" b="0" i="1" u="none" strike="noStrike" kern="0" cap="none" spc="0" normalizeH="0" baseline="0" noProof="0" dirty="0" err="1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fmax</a:t>
            </a:r>
            <a:r>
              <a:rPr kumimoji="0" lang="en-US" altLang="en-US" sz="2200" b="0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← A[</a:t>
            </a:r>
            <a:r>
              <a:rPr kumimoji="0" lang="en-US" altLang="en-US" sz="2200" b="0" i="1" u="none" strike="noStrike" kern="0" cap="none" spc="0" normalizeH="0" baseline="0" noProof="0" dirty="0" err="1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2200" kern="0" dirty="0">
                <a:solidFill>
                  <a:schemeClr val="accent2">
                    <a:lumMod val="75000"/>
                  </a:schemeClr>
                </a:solidFill>
                <a:cs typeface="Times New Roman" panose="02020603050405020304" pitchFamily="18" charset="0"/>
              </a:rPr>
              <a:t>]</a:t>
            </a:r>
            <a:r>
              <a:rPr kumimoji="0" lang="en-US" altLang="en-US" sz="2200" b="0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200" b="0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					</a:t>
            </a:r>
            <a:r>
              <a:rPr kumimoji="0" lang="en-US" altLang="en-US" sz="2200" b="0" i="1" u="none" strike="noStrike" kern="0" cap="none" spc="0" normalizeH="0" baseline="0" noProof="0" dirty="0" err="1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fmin</a:t>
            </a:r>
            <a:r>
              <a:rPr kumimoji="0" lang="en-US" altLang="en-US" sz="2200" b="0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←  A[</a:t>
            </a:r>
            <a:r>
              <a:rPr kumimoji="0" lang="en-US" altLang="en-US" sz="2200" b="0" i="1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en-US" sz="2200" kern="0" dirty="0">
                <a:solidFill>
                  <a:schemeClr val="accent2">
                    <a:lumMod val="75000"/>
                  </a:schemeClr>
                </a:solidFill>
                <a:cs typeface="Times New Roman" panose="02020603050405020304" pitchFamily="18" charset="0"/>
              </a:rPr>
              <a:t>]</a:t>
            </a:r>
            <a:r>
              <a:rPr kumimoji="0" lang="en-US" altLang="en-US" sz="2200" b="0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		else:		</a:t>
            </a:r>
            <a:r>
              <a:rPr kumimoji="0" lang="en-US" altLang="en-US" sz="22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mid</a:t>
            </a:r>
            <a:r>
              <a:rPr kumimoji="0" lang="en-US" alt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← (</a:t>
            </a:r>
            <a:r>
              <a:rPr kumimoji="0" lang="en-US" altLang="en-US" sz="2200" b="0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0" lang="en-US" alt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kumimoji="0" lang="en-US" altLang="en-US" sz="22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kumimoji="0" lang="en-US" alt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)/2;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				call </a:t>
            </a:r>
            <a:r>
              <a:rPr kumimoji="0" lang="en-US" altLang="en-US" sz="2200" b="0" i="0" u="none" strike="noStrike" kern="0" cap="none" spc="0" normalizeH="0" baseline="0" noProof="0" dirty="0" err="1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Rmaxmin</a:t>
            </a:r>
            <a:r>
              <a:rPr kumimoji="0" lang="en-US" alt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kumimoji="0" lang="en-US" altLang="en-US" sz="2200" b="0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0" lang="en-US" alt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22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mid</a:t>
            </a:r>
            <a:r>
              <a:rPr kumimoji="0" lang="en-US" alt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2200" b="0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gmax</a:t>
            </a:r>
            <a:r>
              <a:rPr kumimoji="0" lang="en-US" alt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2200" b="0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gmin</a:t>
            </a:r>
            <a:r>
              <a:rPr kumimoji="0" lang="en-US" alt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				call </a:t>
            </a:r>
            <a:r>
              <a:rPr kumimoji="0" lang="en-US" altLang="en-US" sz="2200" b="0" i="0" u="none" strike="noStrike" kern="0" cap="none" spc="0" normalizeH="0" baseline="0" noProof="0" dirty="0" err="1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Rmaxmin</a:t>
            </a:r>
            <a:r>
              <a:rPr kumimoji="0" lang="en-US" alt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kumimoji="0" lang="en-US" altLang="en-US" sz="22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mid</a:t>
            </a:r>
            <a:r>
              <a:rPr kumimoji="0" lang="en-US" alt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+1, </a:t>
            </a:r>
            <a:r>
              <a:rPr kumimoji="0" lang="en-US" altLang="en-US" sz="22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kumimoji="0" lang="en-US" alt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2200" b="0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hmax</a:t>
            </a:r>
            <a:r>
              <a:rPr kumimoji="0" lang="en-US" alt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2200" b="0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hmin</a:t>
            </a:r>
            <a:r>
              <a:rPr kumimoji="0" lang="en-US" alt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				</a:t>
            </a:r>
            <a:r>
              <a:rPr kumimoji="0" lang="en-US" altLang="en-US" sz="2200" b="0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fmax</a:t>
            </a:r>
            <a:r>
              <a:rPr kumimoji="0" lang="en-US" alt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← MAX (</a:t>
            </a:r>
            <a:r>
              <a:rPr kumimoji="0" lang="en-US" altLang="en-US" sz="2200" b="0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gmax</a:t>
            </a:r>
            <a:r>
              <a:rPr kumimoji="0" lang="en-US" alt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2200" b="0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hmax</a:t>
            </a:r>
            <a:r>
              <a:rPr kumimoji="0" lang="en-US" alt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				</a:t>
            </a:r>
            <a:r>
              <a:rPr kumimoji="0" lang="en-US" altLang="en-US" sz="2200" b="0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fmin</a:t>
            </a:r>
            <a:r>
              <a:rPr kumimoji="0" lang="en-US" alt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← MIN (</a:t>
            </a:r>
            <a:r>
              <a:rPr kumimoji="0" lang="en-US" altLang="en-US" sz="2200" b="0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gmin</a:t>
            </a:r>
            <a:r>
              <a:rPr kumimoji="0" lang="en-US" alt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2200" b="0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hmin</a:t>
            </a:r>
            <a:r>
              <a:rPr kumimoji="0" lang="en-US" alt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	   end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	end;</a:t>
            </a:r>
          </a:p>
        </p:txBody>
      </p:sp>
      <p:sp>
        <p:nvSpPr>
          <p:cNvPr id="5" name="AutoShape 7"/>
          <p:cNvSpPr>
            <a:spLocks/>
          </p:cNvSpPr>
          <p:nvPr/>
        </p:nvSpPr>
        <p:spPr bwMode="auto">
          <a:xfrm>
            <a:off x="6372200" y="2780928"/>
            <a:ext cx="152400" cy="609600"/>
          </a:xfrm>
          <a:prstGeom prst="leftBracket">
            <a:avLst>
              <a:gd name="adj" fmla="val 33333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6" name="AutoShape 7"/>
          <p:cNvSpPr>
            <a:spLocks/>
          </p:cNvSpPr>
          <p:nvPr/>
        </p:nvSpPr>
        <p:spPr bwMode="auto">
          <a:xfrm>
            <a:off x="4499992" y="3440578"/>
            <a:ext cx="152400" cy="609600"/>
          </a:xfrm>
          <a:prstGeom prst="leftBracket">
            <a:avLst>
              <a:gd name="adj" fmla="val 33333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</p:spTree>
    <p:extLst>
      <p:ext uri="{BB962C8B-B14F-4D97-AF65-F5344CB8AC3E}">
        <p14:creationId xmlns:p14="http://schemas.microsoft.com/office/powerpoint/2010/main" val="2840883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  <p:bldP spid="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 lIns="91440" tIns="45720" rIns="91440" bIns="45720" anchor="b"/>
          <a:lstStyle/>
          <a:p>
            <a:pPr eaLnBrk="1" hangingPunct="1">
              <a:defRPr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Finding Maximum and Minimum</a:t>
            </a:r>
          </a:p>
        </p:txBody>
      </p:sp>
      <p:sp>
        <p:nvSpPr>
          <p:cNvPr id="155" name="Text Box 2"/>
          <p:cNvSpPr txBox="1">
            <a:spLocks noChangeArrowheads="1"/>
          </p:cNvSpPr>
          <p:nvPr/>
        </p:nvSpPr>
        <p:spPr bwMode="auto">
          <a:xfrm>
            <a:off x="258763" y="457200"/>
            <a:ext cx="8626475" cy="21236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Example: find max and min in the array: 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		22, 13, -5, -8, 15, 60, 17, 31, 47 ( n = 9 )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Index:	 </a:t>
            </a: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1	 2 	 3	 4	 5	 6	 7	 8	9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Array:	22	13	-5	-8	15	60	17	31         47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6" name="Text Box 3"/>
          <p:cNvSpPr txBox="1">
            <a:spLocks noChangeArrowheads="1"/>
          </p:cNvSpPr>
          <p:nvPr/>
        </p:nvSpPr>
        <p:spPr bwMode="auto">
          <a:xfrm>
            <a:off x="2590800" y="2743200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+mn-cs"/>
            </a:endParaRPr>
          </a:p>
        </p:txBody>
      </p:sp>
      <p:sp>
        <p:nvSpPr>
          <p:cNvPr id="157" name="Text Box 4"/>
          <p:cNvSpPr txBox="1">
            <a:spLocks noChangeArrowheads="1"/>
          </p:cNvSpPr>
          <p:nvPr/>
        </p:nvSpPr>
        <p:spPr bwMode="auto">
          <a:xfrm>
            <a:off x="2667000" y="2667000"/>
            <a:ext cx="4508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+mn-cs"/>
              </a:rPr>
              <a:t>(1)</a:t>
            </a:r>
          </a:p>
        </p:txBody>
      </p:sp>
      <p:sp>
        <p:nvSpPr>
          <p:cNvPr id="158" name="Line 5"/>
          <p:cNvSpPr>
            <a:spLocks noChangeShapeType="1"/>
          </p:cNvSpPr>
          <p:nvPr/>
        </p:nvSpPr>
        <p:spPr bwMode="auto">
          <a:xfrm flipH="1">
            <a:off x="2362200" y="2895599"/>
            <a:ext cx="1281336" cy="671691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+mn-cs"/>
            </a:endParaRPr>
          </a:p>
        </p:txBody>
      </p:sp>
      <p:sp>
        <p:nvSpPr>
          <p:cNvPr id="159" name="Line 6"/>
          <p:cNvSpPr>
            <a:spLocks noChangeShapeType="1"/>
          </p:cNvSpPr>
          <p:nvPr/>
        </p:nvSpPr>
        <p:spPr bwMode="auto">
          <a:xfrm flipV="1">
            <a:off x="2881313" y="2895600"/>
            <a:ext cx="1081087" cy="67169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+mn-cs"/>
            </a:endParaRPr>
          </a:p>
        </p:txBody>
      </p:sp>
      <p:sp>
        <p:nvSpPr>
          <p:cNvPr id="160" name="Text Box 7"/>
          <p:cNvSpPr txBox="1">
            <a:spLocks noChangeArrowheads="1"/>
          </p:cNvSpPr>
          <p:nvPr/>
        </p:nvSpPr>
        <p:spPr bwMode="auto">
          <a:xfrm>
            <a:off x="1676400" y="4038600"/>
            <a:ext cx="4508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+mn-cs"/>
              </a:rPr>
              <a:t>(2)</a:t>
            </a:r>
          </a:p>
        </p:txBody>
      </p:sp>
      <p:sp>
        <p:nvSpPr>
          <p:cNvPr id="161" name="Line 8"/>
          <p:cNvSpPr>
            <a:spLocks noChangeShapeType="1"/>
          </p:cNvSpPr>
          <p:nvPr/>
        </p:nvSpPr>
        <p:spPr bwMode="auto">
          <a:xfrm flipH="1">
            <a:off x="1600200" y="4052710"/>
            <a:ext cx="762000" cy="67169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+mn-cs"/>
            </a:endParaRPr>
          </a:p>
        </p:txBody>
      </p:sp>
      <p:sp>
        <p:nvSpPr>
          <p:cNvPr id="162" name="Line 9"/>
          <p:cNvSpPr>
            <a:spLocks noChangeShapeType="1"/>
          </p:cNvSpPr>
          <p:nvPr/>
        </p:nvSpPr>
        <p:spPr bwMode="auto">
          <a:xfrm flipV="1">
            <a:off x="1974850" y="4038600"/>
            <a:ext cx="692150" cy="6858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+mn-cs"/>
            </a:endParaRPr>
          </a:p>
        </p:txBody>
      </p:sp>
      <p:sp>
        <p:nvSpPr>
          <p:cNvPr id="163" name="Text Box 10"/>
          <p:cNvSpPr txBox="1">
            <a:spLocks noChangeArrowheads="1"/>
          </p:cNvSpPr>
          <p:nvPr/>
        </p:nvSpPr>
        <p:spPr bwMode="auto">
          <a:xfrm>
            <a:off x="457200" y="5105400"/>
            <a:ext cx="4508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+mn-cs"/>
              </a:rPr>
              <a:t>(3)</a:t>
            </a:r>
          </a:p>
        </p:txBody>
      </p:sp>
      <p:sp>
        <p:nvSpPr>
          <p:cNvPr id="164" name="Line 11"/>
          <p:cNvSpPr>
            <a:spLocks noChangeShapeType="1"/>
          </p:cNvSpPr>
          <p:nvPr/>
        </p:nvSpPr>
        <p:spPr bwMode="auto">
          <a:xfrm flipH="1">
            <a:off x="685800" y="5105400"/>
            <a:ext cx="685800" cy="68580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+mn-cs"/>
            </a:endParaRPr>
          </a:p>
        </p:txBody>
      </p:sp>
      <p:sp>
        <p:nvSpPr>
          <p:cNvPr id="165" name="Line 12"/>
          <p:cNvSpPr>
            <a:spLocks noChangeShapeType="1"/>
          </p:cNvSpPr>
          <p:nvPr/>
        </p:nvSpPr>
        <p:spPr bwMode="auto">
          <a:xfrm flipV="1">
            <a:off x="999530" y="5105400"/>
            <a:ext cx="692150" cy="6858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+mn-cs"/>
            </a:endParaRPr>
          </a:p>
        </p:txBody>
      </p:sp>
      <p:sp>
        <p:nvSpPr>
          <p:cNvPr id="166" name="Text Box 13"/>
          <p:cNvSpPr txBox="1">
            <a:spLocks noChangeArrowheads="1"/>
          </p:cNvSpPr>
          <p:nvPr/>
        </p:nvSpPr>
        <p:spPr bwMode="auto">
          <a:xfrm>
            <a:off x="1676400" y="5105400"/>
            <a:ext cx="4508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+mn-cs"/>
              </a:rPr>
              <a:t>(4)</a:t>
            </a:r>
          </a:p>
        </p:txBody>
      </p:sp>
      <p:sp>
        <p:nvSpPr>
          <p:cNvPr id="167" name="Line 14"/>
          <p:cNvSpPr>
            <a:spLocks noChangeShapeType="1"/>
          </p:cNvSpPr>
          <p:nvPr/>
        </p:nvSpPr>
        <p:spPr bwMode="auto">
          <a:xfrm>
            <a:off x="2057400" y="5105400"/>
            <a:ext cx="685800" cy="68580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+mn-cs"/>
            </a:endParaRPr>
          </a:p>
        </p:txBody>
      </p:sp>
      <p:sp>
        <p:nvSpPr>
          <p:cNvPr id="168" name="Line 15"/>
          <p:cNvSpPr>
            <a:spLocks noChangeShapeType="1"/>
          </p:cNvSpPr>
          <p:nvPr/>
        </p:nvSpPr>
        <p:spPr bwMode="auto">
          <a:xfrm flipH="1" flipV="1">
            <a:off x="2362200" y="5132040"/>
            <a:ext cx="685800" cy="65916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+mn-cs"/>
            </a:endParaRPr>
          </a:p>
        </p:txBody>
      </p:sp>
      <p:sp>
        <p:nvSpPr>
          <p:cNvPr id="169" name="Text Box 16"/>
          <p:cNvSpPr txBox="1">
            <a:spLocks noChangeArrowheads="1"/>
          </p:cNvSpPr>
          <p:nvPr/>
        </p:nvSpPr>
        <p:spPr bwMode="auto">
          <a:xfrm>
            <a:off x="2590800" y="4038600"/>
            <a:ext cx="4508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+mn-cs"/>
              </a:rPr>
              <a:t>(5)</a:t>
            </a:r>
          </a:p>
        </p:txBody>
      </p:sp>
      <p:sp>
        <p:nvSpPr>
          <p:cNvPr id="170" name="Line 17"/>
          <p:cNvSpPr>
            <a:spLocks noChangeShapeType="1"/>
          </p:cNvSpPr>
          <p:nvPr/>
        </p:nvSpPr>
        <p:spPr bwMode="auto">
          <a:xfrm>
            <a:off x="2915816" y="4039344"/>
            <a:ext cx="609600" cy="68580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+mn-cs"/>
            </a:endParaRPr>
          </a:p>
        </p:txBody>
      </p:sp>
      <p:sp>
        <p:nvSpPr>
          <p:cNvPr id="171" name="Line 18"/>
          <p:cNvSpPr>
            <a:spLocks noChangeShapeType="1"/>
          </p:cNvSpPr>
          <p:nvPr/>
        </p:nvSpPr>
        <p:spPr bwMode="auto">
          <a:xfrm flipH="1" flipV="1">
            <a:off x="3194050" y="4052710"/>
            <a:ext cx="585862" cy="67169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+mn-cs"/>
            </a:endParaRPr>
          </a:p>
        </p:txBody>
      </p:sp>
      <p:sp>
        <p:nvSpPr>
          <p:cNvPr id="172" name="Text Box 19"/>
          <p:cNvSpPr txBox="1">
            <a:spLocks noChangeArrowheads="1"/>
          </p:cNvSpPr>
          <p:nvPr/>
        </p:nvSpPr>
        <p:spPr bwMode="auto">
          <a:xfrm>
            <a:off x="4121150" y="2819400"/>
            <a:ext cx="4508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+mn-cs"/>
              </a:rPr>
              <a:t>(6)</a:t>
            </a:r>
          </a:p>
        </p:txBody>
      </p:sp>
      <p:sp>
        <p:nvSpPr>
          <p:cNvPr id="173" name="Line 20"/>
          <p:cNvSpPr>
            <a:spLocks noChangeShapeType="1"/>
          </p:cNvSpPr>
          <p:nvPr/>
        </p:nvSpPr>
        <p:spPr bwMode="auto">
          <a:xfrm>
            <a:off x="4648200" y="2895600"/>
            <a:ext cx="914400" cy="68580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+mn-cs"/>
            </a:endParaRPr>
          </a:p>
        </p:txBody>
      </p:sp>
      <p:sp>
        <p:nvSpPr>
          <p:cNvPr id="174" name="Line 21"/>
          <p:cNvSpPr>
            <a:spLocks noChangeShapeType="1"/>
          </p:cNvSpPr>
          <p:nvPr/>
        </p:nvSpPr>
        <p:spPr bwMode="auto">
          <a:xfrm flipH="1" flipV="1">
            <a:off x="4949552" y="2895599"/>
            <a:ext cx="994048" cy="671513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+mn-cs"/>
            </a:endParaRPr>
          </a:p>
        </p:txBody>
      </p:sp>
      <p:sp>
        <p:nvSpPr>
          <p:cNvPr id="175" name="Text Box 22"/>
          <p:cNvSpPr txBox="1">
            <a:spLocks noChangeArrowheads="1"/>
          </p:cNvSpPr>
          <p:nvPr/>
        </p:nvSpPr>
        <p:spPr bwMode="auto">
          <a:xfrm>
            <a:off x="5029200" y="3962400"/>
            <a:ext cx="4508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+mn-cs"/>
              </a:rPr>
              <a:t>(7)</a:t>
            </a:r>
          </a:p>
        </p:txBody>
      </p:sp>
      <p:sp>
        <p:nvSpPr>
          <p:cNvPr id="176" name="Line 23"/>
          <p:cNvSpPr>
            <a:spLocks noChangeShapeType="1"/>
          </p:cNvSpPr>
          <p:nvPr/>
        </p:nvSpPr>
        <p:spPr bwMode="auto">
          <a:xfrm flipH="1">
            <a:off x="5181600" y="4038600"/>
            <a:ext cx="457200" cy="68580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+mn-cs"/>
            </a:endParaRPr>
          </a:p>
        </p:txBody>
      </p:sp>
      <p:sp>
        <p:nvSpPr>
          <p:cNvPr id="177" name="Line 24"/>
          <p:cNvSpPr>
            <a:spLocks noChangeShapeType="1"/>
          </p:cNvSpPr>
          <p:nvPr/>
        </p:nvSpPr>
        <p:spPr bwMode="auto">
          <a:xfrm flipV="1">
            <a:off x="5486400" y="4038600"/>
            <a:ext cx="304800" cy="6858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+mn-cs"/>
            </a:endParaRPr>
          </a:p>
        </p:txBody>
      </p:sp>
      <p:sp>
        <p:nvSpPr>
          <p:cNvPr id="178" name="Text Box 25"/>
          <p:cNvSpPr txBox="1">
            <a:spLocks noChangeArrowheads="1"/>
          </p:cNvSpPr>
          <p:nvPr/>
        </p:nvSpPr>
        <p:spPr bwMode="auto">
          <a:xfrm>
            <a:off x="5867400" y="4038600"/>
            <a:ext cx="4508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+mn-cs"/>
              </a:rPr>
              <a:t>(8)</a:t>
            </a:r>
          </a:p>
        </p:txBody>
      </p:sp>
      <p:sp>
        <p:nvSpPr>
          <p:cNvPr id="179" name="Line 26"/>
          <p:cNvSpPr>
            <a:spLocks noChangeShapeType="1"/>
          </p:cNvSpPr>
          <p:nvPr/>
        </p:nvSpPr>
        <p:spPr bwMode="auto">
          <a:xfrm>
            <a:off x="6172200" y="4038600"/>
            <a:ext cx="838200" cy="68580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+mn-cs"/>
            </a:endParaRPr>
          </a:p>
        </p:txBody>
      </p:sp>
      <p:sp>
        <p:nvSpPr>
          <p:cNvPr id="180" name="Line 27"/>
          <p:cNvSpPr>
            <a:spLocks noChangeShapeType="1"/>
          </p:cNvSpPr>
          <p:nvPr/>
        </p:nvSpPr>
        <p:spPr bwMode="auto">
          <a:xfrm flipH="1" flipV="1">
            <a:off x="6482680" y="4056112"/>
            <a:ext cx="832520" cy="668288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+mn-cs"/>
            </a:endParaRPr>
          </a:p>
        </p:txBody>
      </p:sp>
      <p:sp>
        <p:nvSpPr>
          <p:cNvPr id="181" name="Rectangle 28"/>
          <p:cNvSpPr>
            <a:spLocks noChangeArrowheads="1"/>
          </p:cNvSpPr>
          <p:nvPr/>
        </p:nvSpPr>
        <p:spPr bwMode="auto">
          <a:xfrm>
            <a:off x="3048000" y="2514600"/>
            <a:ext cx="2971800" cy="381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+mn-cs"/>
            </a:endParaRPr>
          </a:p>
        </p:txBody>
      </p:sp>
      <p:sp>
        <p:nvSpPr>
          <p:cNvPr id="182" name="Rectangle 30"/>
          <p:cNvSpPr>
            <a:spLocks noChangeArrowheads="1"/>
          </p:cNvSpPr>
          <p:nvPr/>
        </p:nvSpPr>
        <p:spPr bwMode="auto">
          <a:xfrm>
            <a:off x="1905000" y="3581400"/>
            <a:ext cx="1752600" cy="4572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+mn-cs"/>
            </a:endParaRPr>
          </a:p>
        </p:txBody>
      </p:sp>
      <p:sp>
        <p:nvSpPr>
          <p:cNvPr id="183" name="Rectangle 31"/>
          <p:cNvSpPr>
            <a:spLocks noChangeArrowheads="1"/>
          </p:cNvSpPr>
          <p:nvPr/>
        </p:nvSpPr>
        <p:spPr bwMode="auto">
          <a:xfrm>
            <a:off x="4953000" y="3581400"/>
            <a:ext cx="1752600" cy="4572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+mn-cs"/>
            </a:endParaRPr>
          </a:p>
        </p:txBody>
      </p:sp>
      <p:sp>
        <p:nvSpPr>
          <p:cNvPr id="184" name="Rectangle 33"/>
          <p:cNvSpPr>
            <a:spLocks noChangeArrowheads="1"/>
          </p:cNvSpPr>
          <p:nvPr/>
        </p:nvSpPr>
        <p:spPr bwMode="auto">
          <a:xfrm>
            <a:off x="1066800" y="4724400"/>
            <a:ext cx="1676400" cy="381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+mn-cs"/>
            </a:endParaRPr>
          </a:p>
        </p:txBody>
      </p:sp>
      <p:sp>
        <p:nvSpPr>
          <p:cNvPr id="185" name="Rectangle 34"/>
          <p:cNvSpPr>
            <a:spLocks noChangeArrowheads="1"/>
          </p:cNvSpPr>
          <p:nvPr/>
        </p:nvSpPr>
        <p:spPr bwMode="auto">
          <a:xfrm>
            <a:off x="2819400" y="4724400"/>
            <a:ext cx="1676400" cy="381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+mn-cs"/>
            </a:endParaRPr>
          </a:p>
        </p:txBody>
      </p:sp>
      <p:sp>
        <p:nvSpPr>
          <p:cNvPr id="186" name="Rectangle 35"/>
          <p:cNvSpPr>
            <a:spLocks noChangeArrowheads="1"/>
          </p:cNvSpPr>
          <p:nvPr/>
        </p:nvSpPr>
        <p:spPr bwMode="auto">
          <a:xfrm>
            <a:off x="4572000" y="4724400"/>
            <a:ext cx="1676400" cy="381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+mn-cs"/>
            </a:endParaRPr>
          </a:p>
        </p:txBody>
      </p:sp>
      <p:sp>
        <p:nvSpPr>
          <p:cNvPr id="187" name="Rectangle 36"/>
          <p:cNvSpPr>
            <a:spLocks noChangeArrowheads="1"/>
          </p:cNvSpPr>
          <p:nvPr/>
        </p:nvSpPr>
        <p:spPr bwMode="auto">
          <a:xfrm>
            <a:off x="6400800" y="4724400"/>
            <a:ext cx="1676400" cy="381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+mn-cs"/>
            </a:endParaRPr>
          </a:p>
        </p:txBody>
      </p:sp>
      <p:sp>
        <p:nvSpPr>
          <p:cNvPr id="188" name="Rectangle 37"/>
          <p:cNvSpPr>
            <a:spLocks noChangeArrowheads="1"/>
          </p:cNvSpPr>
          <p:nvPr/>
        </p:nvSpPr>
        <p:spPr bwMode="auto">
          <a:xfrm>
            <a:off x="152400" y="5791200"/>
            <a:ext cx="1676400" cy="381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+mn-cs"/>
            </a:endParaRPr>
          </a:p>
        </p:txBody>
      </p:sp>
      <p:sp>
        <p:nvSpPr>
          <p:cNvPr id="189" name="Rectangle 38"/>
          <p:cNvSpPr>
            <a:spLocks noChangeArrowheads="1"/>
          </p:cNvSpPr>
          <p:nvPr/>
        </p:nvSpPr>
        <p:spPr bwMode="auto">
          <a:xfrm>
            <a:off x="2286000" y="5791200"/>
            <a:ext cx="1676400" cy="381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518662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 lIns="91440" tIns="45720" rIns="91440" bIns="45720" anchor="b"/>
          <a:lstStyle/>
          <a:p>
            <a:pPr eaLnBrk="1" hangingPunct="1">
              <a:defRPr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Finding Maximum and Minimum</a:t>
            </a:r>
          </a:p>
        </p:txBody>
      </p:sp>
      <p:sp>
        <p:nvSpPr>
          <p:cNvPr id="155" name="Text Box 2"/>
          <p:cNvSpPr txBox="1">
            <a:spLocks noChangeArrowheads="1"/>
          </p:cNvSpPr>
          <p:nvPr/>
        </p:nvSpPr>
        <p:spPr bwMode="auto">
          <a:xfrm>
            <a:off x="258763" y="457200"/>
            <a:ext cx="8626475" cy="61863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Example: find max and min in the array: 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		22, 13, -5, -8, 15, 60, 17, 31, 47 ( n = 9 )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Index:	 </a:t>
            </a: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1	 2 	 3	 4	 5	 6	 7	 8	9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Array:	22	13	-5	-8	15	60	17	31         47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Rmaxmin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(1, 9, </a:t>
            </a:r>
            <a:r>
              <a:rPr kumimoji="0" lang="en-US" altLang="en-US" sz="2400" b="0" i="0" u="sng" strike="noStrike" kern="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60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2400" b="0" i="0" u="sng" strike="noStrike" kern="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-8</a:t>
            </a:r>
            <a:r>
              <a:rPr kumimoji="0" lang="en-US" altLang="en-US" sz="2400" b="0" i="0" u="sng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+mn-cs"/>
              </a:rPr>
              <a:t>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1, 5, </a:t>
            </a:r>
            <a:r>
              <a:rPr kumimoji="0" lang="en-US" altLang="en-US" sz="2400" b="0" i="0" u="sng" strike="noStrike" kern="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22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2400" b="0" i="0" u="sng" strike="noStrike" kern="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-8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	                6, 9, </a:t>
            </a:r>
            <a:r>
              <a:rPr kumimoji="0" lang="en-US" altLang="en-US" sz="2400" b="0" i="0" u="sng" strike="noStrike" kern="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60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2400" b="0" i="0" u="sng" strike="noStrike" kern="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+mn-cs"/>
              </a:rPr>
              <a:t>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+mn-cs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1, 3,  </a:t>
            </a:r>
            <a:r>
              <a:rPr kumimoji="0" lang="en-US" altLang="en-US" sz="2400" b="0" i="0" u="sng" strike="noStrike" kern="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22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2400" b="0" i="0" u="sng" strike="noStrike" kern="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-5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   4, 5,  </a:t>
            </a:r>
            <a:r>
              <a:rPr kumimoji="0" lang="en-US" altLang="en-US" sz="2400" b="0" i="0" u="sng" strike="noStrike" kern="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2400" b="0" i="0" u="sng" strike="noStrike" kern="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-8 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  6, 7, </a:t>
            </a:r>
            <a:r>
              <a:rPr kumimoji="0" lang="en-US" altLang="en-US" sz="2400" b="0" i="0" u="sng" strike="noStrike" kern="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60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2400" b="0" i="0" u="sng" strike="noStrike" kern="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17 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     8, 9, </a:t>
            </a:r>
            <a:r>
              <a:rPr kumimoji="0" lang="en-US" altLang="en-US" sz="2400" b="0" i="0" u="sng" strike="noStrike" kern="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47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2400" b="0" i="0" u="sng" strike="noStrike" kern="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31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+mn-cs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+mn-cs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1, 2, </a:t>
            </a:r>
            <a:r>
              <a:rPr kumimoji="0" lang="en-US" altLang="en-US" sz="2400" b="0" i="0" u="sng" strike="noStrike" kern="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22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2400" b="0" i="0" u="sng" strike="noStrike" kern="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	   3, 3, </a:t>
            </a:r>
            <a:r>
              <a:rPr kumimoji="0" lang="en-US" altLang="en-US" sz="2400" b="0" i="0" u="sng" strike="noStrike" kern="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-5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2400" b="0" i="0" u="sng" strike="noStrike" kern="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-5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+mn-cs"/>
            </a:endParaRPr>
          </a:p>
        </p:txBody>
      </p:sp>
      <p:sp>
        <p:nvSpPr>
          <p:cNvPr id="156" name="Text Box 3"/>
          <p:cNvSpPr txBox="1">
            <a:spLocks noChangeArrowheads="1"/>
          </p:cNvSpPr>
          <p:nvPr/>
        </p:nvSpPr>
        <p:spPr bwMode="auto">
          <a:xfrm>
            <a:off x="2590800" y="2743200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+mn-cs"/>
            </a:endParaRPr>
          </a:p>
        </p:txBody>
      </p:sp>
      <p:sp>
        <p:nvSpPr>
          <p:cNvPr id="157" name="Text Box 4"/>
          <p:cNvSpPr txBox="1">
            <a:spLocks noChangeArrowheads="1"/>
          </p:cNvSpPr>
          <p:nvPr/>
        </p:nvSpPr>
        <p:spPr bwMode="auto">
          <a:xfrm>
            <a:off x="2667000" y="2667000"/>
            <a:ext cx="4508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+mn-cs"/>
              </a:rPr>
              <a:t>(1)</a:t>
            </a:r>
          </a:p>
        </p:txBody>
      </p:sp>
      <p:sp>
        <p:nvSpPr>
          <p:cNvPr id="158" name="Line 5"/>
          <p:cNvSpPr>
            <a:spLocks noChangeShapeType="1"/>
          </p:cNvSpPr>
          <p:nvPr/>
        </p:nvSpPr>
        <p:spPr bwMode="auto">
          <a:xfrm flipH="1">
            <a:off x="2362200" y="2895599"/>
            <a:ext cx="1281336" cy="671691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+mn-cs"/>
            </a:endParaRPr>
          </a:p>
        </p:txBody>
      </p:sp>
      <p:sp>
        <p:nvSpPr>
          <p:cNvPr id="159" name="Line 6"/>
          <p:cNvSpPr>
            <a:spLocks noChangeShapeType="1"/>
          </p:cNvSpPr>
          <p:nvPr/>
        </p:nvSpPr>
        <p:spPr bwMode="auto">
          <a:xfrm flipV="1">
            <a:off x="2881313" y="2895600"/>
            <a:ext cx="1081087" cy="67169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+mn-cs"/>
            </a:endParaRPr>
          </a:p>
        </p:txBody>
      </p:sp>
      <p:sp>
        <p:nvSpPr>
          <p:cNvPr id="160" name="Text Box 7"/>
          <p:cNvSpPr txBox="1">
            <a:spLocks noChangeArrowheads="1"/>
          </p:cNvSpPr>
          <p:nvPr/>
        </p:nvSpPr>
        <p:spPr bwMode="auto">
          <a:xfrm>
            <a:off x="1676400" y="4038600"/>
            <a:ext cx="4508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+mn-cs"/>
              </a:rPr>
              <a:t>(2)</a:t>
            </a:r>
          </a:p>
        </p:txBody>
      </p:sp>
      <p:sp>
        <p:nvSpPr>
          <p:cNvPr id="161" name="Line 8"/>
          <p:cNvSpPr>
            <a:spLocks noChangeShapeType="1"/>
          </p:cNvSpPr>
          <p:nvPr/>
        </p:nvSpPr>
        <p:spPr bwMode="auto">
          <a:xfrm flipH="1">
            <a:off x="1600200" y="4052710"/>
            <a:ext cx="762000" cy="67169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+mn-cs"/>
            </a:endParaRPr>
          </a:p>
        </p:txBody>
      </p:sp>
      <p:sp>
        <p:nvSpPr>
          <p:cNvPr id="162" name="Line 9"/>
          <p:cNvSpPr>
            <a:spLocks noChangeShapeType="1"/>
          </p:cNvSpPr>
          <p:nvPr/>
        </p:nvSpPr>
        <p:spPr bwMode="auto">
          <a:xfrm flipV="1">
            <a:off x="1974850" y="4038600"/>
            <a:ext cx="692150" cy="6858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+mn-cs"/>
            </a:endParaRPr>
          </a:p>
        </p:txBody>
      </p:sp>
      <p:sp>
        <p:nvSpPr>
          <p:cNvPr id="163" name="Text Box 10"/>
          <p:cNvSpPr txBox="1">
            <a:spLocks noChangeArrowheads="1"/>
          </p:cNvSpPr>
          <p:nvPr/>
        </p:nvSpPr>
        <p:spPr bwMode="auto">
          <a:xfrm>
            <a:off x="457200" y="5105400"/>
            <a:ext cx="4508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+mn-cs"/>
              </a:rPr>
              <a:t>(3)</a:t>
            </a:r>
          </a:p>
        </p:txBody>
      </p:sp>
      <p:sp>
        <p:nvSpPr>
          <p:cNvPr id="164" name="Line 11"/>
          <p:cNvSpPr>
            <a:spLocks noChangeShapeType="1"/>
          </p:cNvSpPr>
          <p:nvPr/>
        </p:nvSpPr>
        <p:spPr bwMode="auto">
          <a:xfrm flipH="1">
            <a:off x="685800" y="5105400"/>
            <a:ext cx="685800" cy="68580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+mn-cs"/>
            </a:endParaRPr>
          </a:p>
        </p:txBody>
      </p:sp>
      <p:sp>
        <p:nvSpPr>
          <p:cNvPr id="165" name="Line 12"/>
          <p:cNvSpPr>
            <a:spLocks noChangeShapeType="1"/>
          </p:cNvSpPr>
          <p:nvPr/>
        </p:nvSpPr>
        <p:spPr bwMode="auto">
          <a:xfrm flipV="1">
            <a:off x="999530" y="5105400"/>
            <a:ext cx="692150" cy="6858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+mn-cs"/>
            </a:endParaRPr>
          </a:p>
        </p:txBody>
      </p:sp>
      <p:sp>
        <p:nvSpPr>
          <p:cNvPr id="166" name="Text Box 13"/>
          <p:cNvSpPr txBox="1">
            <a:spLocks noChangeArrowheads="1"/>
          </p:cNvSpPr>
          <p:nvPr/>
        </p:nvSpPr>
        <p:spPr bwMode="auto">
          <a:xfrm>
            <a:off x="1676400" y="5105400"/>
            <a:ext cx="4508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+mn-cs"/>
              </a:rPr>
              <a:t>(4)</a:t>
            </a:r>
          </a:p>
        </p:txBody>
      </p:sp>
      <p:sp>
        <p:nvSpPr>
          <p:cNvPr id="167" name="Line 14"/>
          <p:cNvSpPr>
            <a:spLocks noChangeShapeType="1"/>
          </p:cNvSpPr>
          <p:nvPr/>
        </p:nvSpPr>
        <p:spPr bwMode="auto">
          <a:xfrm>
            <a:off x="2057400" y="5105400"/>
            <a:ext cx="685800" cy="68580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+mn-cs"/>
            </a:endParaRPr>
          </a:p>
        </p:txBody>
      </p:sp>
      <p:sp>
        <p:nvSpPr>
          <p:cNvPr id="168" name="Line 15"/>
          <p:cNvSpPr>
            <a:spLocks noChangeShapeType="1"/>
          </p:cNvSpPr>
          <p:nvPr/>
        </p:nvSpPr>
        <p:spPr bwMode="auto">
          <a:xfrm flipH="1" flipV="1">
            <a:off x="2362200" y="5132040"/>
            <a:ext cx="685800" cy="65916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+mn-cs"/>
            </a:endParaRPr>
          </a:p>
        </p:txBody>
      </p:sp>
      <p:sp>
        <p:nvSpPr>
          <p:cNvPr id="169" name="Text Box 16"/>
          <p:cNvSpPr txBox="1">
            <a:spLocks noChangeArrowheads="1"/>
          </p:cNvSpPr>
          <p:nvPr/>
        </p:nvSpPr>
        <p:spPr bwMode="auto">
          <a:xfrm>
            <a:off x="2590800" y="4038600"/>
            <a:ext cx="4508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+mn-cs"/>
              </a:rPr>
              <a:t>(5)</a:t>
            </a:r>
          </a:p>
        </p:txBody>
      </p:sp>
      <p:sp>
        <p:nvSpPr>
          <p:cNvPr id="170" name="Line 17"/>
          <p:cNvSpPr>
            <a:spLocks noChangeShapeType="1"/>
          </p:cNvSpPr>
          <p:nvPr/>
        </p:nvSpPr>
        <p:spPr bwMode="auto">
          <a:xfrm>
            <a:off x="2915816" y="4039344"/>
            <a:ext cx="609600" cy="68580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+mn-cs"/>
            </a:endParaRPr>
          </a:p>
        </p:txBody>
      </p:sp>
      <p:sp>
        <p:nvSpPr>
          <p:cNvPr id="171" name="Line 18"/>
          <p:cNvSpPr>
            <a:spLocks noChangeShapeType="1"/>
          </p:cNvSpPr>
          <p:nvPr/>
        </p:nvSpPr>
        <p:spPr bwMode="auto">
          <a:xfrm flipH="1" flipV="1">
            <a:off x="3194050" y="4052710"/>
            <a:ext cx="585862" cy="67169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+mn-cs"/>
            </a:endParaRPr>
          </a:p>
        </p:txBody>
      </p:sp>
      <p:sp>
        <p:nvSpPr>
          <p:cNvPr id="172" name="Text Box 19"/>
          <p:cNvSpPr txBox="1">
            <a:spLocks noChangeArrowheads="1"/>
          </p:cNvSpPr>
          <p:nvPr/>
        </p:nvSpPr>
        <p:spPr bwMode="auto">
          <a:xfrm>
            <a:off x="4121150" y="2819400"/>
            <a:ext cx="4508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+mn-cs"/>
              </a:rPr>
              <a:t>(6)</a:t>
            </a:r>
          </a:p>
        </p:txBody>
      </p:sp>
      <p:sp>
        <p:nvSpPr>
          <p:cNvPr id="173" name="Line 20"/>
          <p:cNvSpPr>
            <a:spLocks noChangeShapeType="1"/>
          </p:cNvSpPr>
          <p:nvPr/>
        </p:nvSpPr>
        <p:spPr bwMode="auto">
          <a:xfrm>
            <a:off x="4648200" y="2895600"/>
            <a:ext cx="914400" cy="68580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+mn-cs"/>
            </a:endParaRPr>
          </a:p>
        </p:txBody>
      </p:sp>
      <p:sp>
        <p:nvSpPr>
          <p:cNvPr id="174" name="Line 21"/>
          <p:cNvSpPr>
            <a:spLocks noChangeShapeType="1"/>
          </p:cNvSpPr>
          <p:nvPr/>
        </p:nvSpPr>
        <p:spPr bwMode="auto">
          <a:xfrm flipH="1" flipV="1">
            <a:off x="4949552" y="2895599"/>
            <a:ext cx="994048" cy="671513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+mn-cs"/>
            </a:endParaRPr>
          </a:p>
        </p:txBody>
      </p:sp>
      <p:sp>
        <p:nvSpPr>
          <p:cNvPr id="175" name="Text Box 22"/>
          <p:cNvSpPr txBox="1">
            <a:spLocks noChangeArrowheads="1"/>
          </p:cNvSpPr>
          <p:nvPr/>
        </p:nvSpPr>
        <p:spPr bwMode="auto">
          <a:xfrm>
            <a:off x="5029200" y="3962400"/>
            <a:ext cx="4508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+mn-cs"/>
              </a:rPr>
              <a:t>(7)</a:t>
            </a:r>
          </a:p>
        </p:txBody>
      </p:sp>
      <p:sp>
        <p:nvSpPr>
          <p:cNvPr id="176" name="Line 23"/>
          <p:cNvSpPr>
            <a:spLocks noChangeShapeType="1"/>
          </p:cNvSpPr>
          <p:nvPr/>
        </p:nvSpPr>
        <p:spPr bwMode="auto">
          <a:xfrm flipH="1">
            <a:off x="5181600" y="4038600"/>
            <a:ext cx="457200" cy="68580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+mn-cs"/>
            </a:endParaRPr>
          </a:p>
        </p:txBody>
      </p:sp>
      <p:sp>
        <p:nvSpPr>
          <p:cNvPr id="177" name="Line 24"/>
          <p:cNvSpPr>
            <a:spLocks noChangeShapeType="1"/>
          </p:cNvSpPr>
          <p:nvPr/>
        </p:nvSpPr>
        <p:spPr bwMode="auto">
          <a:xfrm flipV="1">
            <a:off x="5486400" y="4038600"/>
            <a:ext cx="304800" cy="6858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+mn-cs"/>
            </a:endParaRPr>
          </a:p>
        </p:txBody>
      </p:sp>
      <p:sp>
        <p:nvSpPr>
          <p:cNvPr id="178" name="Text Box 25"/>
          <p:cNvSpPr txBox="1">
            <a:spLocks noChangeArrowheads="1"/>
          </p:cNvSpPr>
          <p:nvPr/>
        </p:nvSpPr>
        <p:spPr bwMode="auto">
          <a:xfrm>
            <a:off x="5867400" y="4038600"/>
            <a:ext cx="4508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+mn-cs"/>
              </a:rPr>
              <a:t>(8)</a:t>
            </a:r>
          </a:p>
        </p:txBody>
      </p:sp>
      <p:sp>
        <p:nvSpPr>
          <p:cNvPr id="179" name="Line 26"/>
          <p:cNvSpPr>
            <a:spLocks noChangeShapeType="1"/>
          </p:cNvSpPr>
          <p:nvPr/>
        </p:nvSpPr>
        <p:spPr bwMode="auto">
          <a:xfrm>
            <a:off x="6172200" y="4038600"/>
            <a:ext cx="838200" cy="68580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+mn-cs"/>
            </a:endParaRPr>
          </a:p>
        </p:txBody>
      </p:sp>
      <p:sp>
        <p:nvSpPr>
          <p:cNvPr id="180" name="Line 27"/>
          <p:cNvSpPr>
            <a:spLocks noChangeShapeType="1"/>
          </p:cNvSpPr>
          <p:nvPr/>
        </p:nvSpPr>
        <p:spPr bwMode="auto">
          <a:xfrm flipH="1" flipV="1">
            <a:off x="6482680" y="4056112"/>
            <a:ext cx="832520" cy="668288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+mn-cs"/>
            </a:endParaRPr>
          </a:p>
        </p:txBody>
      </p:sp>
      <p:sp>
        <p:nvSpPr>
          <p:cNvPr id="181" name="Rectangle 28"/>
          <p:cNvSpPr>
            <a:spLocks noChangeArrowheads="1"/>
          </p:cNvSpPr>
          <p:nvPr/>
        </p:nvSpPr>
        <p:spPr bwMode="auto">
          <a:xfrm>
            <a:off x="3048000" y="2514600"/>
            <a:ext cx="2971800" cy="381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+mn-cs"/>
            </a:endParaRPr>
          </a:p>
        </p:txBody>
      </p:sp>
      <p:sp>
        <p:nvSpPr>
          <p:cNvPr id="182" name="Rectangle 30"/>
          <p:cNvSpPr>
            <a:spLocks noChangeArrowheads="1"/>
          </p:cNvSpPr>
          <p:nvPr/>
        </p:nvSpPr>
        <p:spPr bwMode="auto">
          <a:xfrm>
            <a:off x="1905000" y="3581400"/>
            <a:ext cx="1752600" cy="4572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+mn-cs"/>
            </a:endParaRPr>
          </a:p>
        </p:txBody>
      </p:sp>
      <p:sp>
        <p:nvSpPr>
          <p:cNvPr id="183" name="Rectangle 31"/>
          <p:cNvSpPr>
            <a:spLocks noChangeArrowheads="1"/>
          </p:cNvSpPr>
          <p:nvPr/>
        </p:nvSpPr>
        <p:spPr bwMode="auto">
          <a:xfrm>
            <a:off x="4953000" y="3581400"/>
            <a:ext cx="1752600" cy="4572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+mn-cs"/>
            </a:endParaRPr>
          </a:p>
        </p:txBody>
      </p:sp>
      <p:sp>
        <p:nvSpPr>
          <p:cNvPr id="184" name="Rectangle 33"/>
          <p:cNvSpPr>
            <a:spLocks noChangeArrowheads="1"/>
          </p:cNvSpPr>
          <p:nvPr/>
        </p:nvSpPr>
        <p:spPr bwMode="auto">
          <a:xfrm>
            <a:off x="1066800" y="4724400"/>
            <a:ext cx="1676400" cy="381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+mn-cs"/>
            </a:endParaRPr>
          </a:p>
        </p:txBody>
      </p:sp>
      <p:sp>
        <p:nvSpPr>
          <p:cNvPr id="185" name="Rectangle 34"/>
          <p:cNvSpPr>
            <a:spLocks noChangeArrowheads="1"/>
          </p:cNvSpPr>
          <p:nvPr/>
        </p:nvSpPr>
        <p:spPr bwMode="auto">
          <a:xfrm>
            <a:off x="2819400" y="4724400"/>
            <a:ext cx="1676400" cy="381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+mn-cs"/>
            </a:endParaRPr>
          </a:p>
        </p:txBody>
      </p:sp>
      <p:sp>
        <p:nvSpPr>
          <p:cNvPr id="186" name="Rectangle 35"/>
          <p:cNvSpPr>
            <a:spLocks noChangeArrowheads="1"/>
          </p:cNvSpPr>
          <p:nvPr/>
        </p:nvSpPr>
        <p:spPr bwMode="auto">
          <a:xfrm>
            <a:off x="4572000" y="4724400"/>
            <a:ext cx="1676400" cy="381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+mn-cs"/>
            </a:endParaRPr>
          </a:p>
        </p:txBody>
      </p:sp>
      <p:sp>
        <p:nvSpPr>
          <p:cNvPr id="187" name="Rectangle 36"/>
          <p:cNvSpPr>
            <a:spLocks noChangeArrowheads="1"/>
          </p:cNvSpPr>
          <p:nvPr/>
        </p:nvSpPr>
        <p:spPr bwMode="auto">
          <a:xfrm>
            <a:off x="6400800" y="4724400"/>
            <a:ext cx="1676400" cy="381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+mn-cs"/>
            </a:endParaRPr>
          </a:p>
        </p:txBody>
      </p:sp>
      <p:sp>
        <p:nvSpPr>
          <p:cNvPr id="188" name="Rectangle 37"/>
          <p:cNvSpPr>
            <a:spLocks noChangeArrowheads="1"/>
          </p:cNvSpPr>
          <p:nvPr/>
        </p:nvSpPr>
        <p:spPr bwMode="auto">
          <a:xfrm>
            <a:off x="152400" y="5791200"/>
            <a:ext cx="1676400" cy="381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+mn-cs"/>
            </a:endParaRPr>
          </a:p>
        </p:txBody>
      </p:sp>
      <p:sp>
        <p:nvSpPr>
          <p:cNvPr id="189" name="Rectangle 38"/>
          <p:cNvSpPr>
            <a:spLocks noChangeArrowheads="1"/>
          </p:cNvSpPr>
          <p:nvPr/>
        </p:nvSpPr>
        <p:spPr bwMode="auto">
          <a:xfrm>
            <a:off x="2286000" y="5791200"/>
            <a:ext cx="1676400" cy="381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667408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 lIns="91440" tIns="45720" rIns="91440" bIns="45720" anchor="b"/>
          <a:lstStyle/>
          <a:p>
            <a:pPr eaLnBrk="1" hangingPunct="1">
              <a:defRPr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Finding Maximum and Minimum</a:t>
            </a:r>
          </a:p>
        </p:txBody>
      </p:sp>
      <p:sp>
        <p:nvSpPr>
          <p:cNvPr id="4" name="Rectangle 3"/>
          <p:cNvSpPr/>
          <p:nvPr/>
        </p:nvSpPr>
        <p:spPr>
          <a:xfrm>
            <a:off x="755576" y="1166843"/>
            <a:ext cx="7560840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eaLnBrk="1" hangingPunct="1"/>
            <a:r>
              <a:rPr lang="en-US" altLang="en-US" dirty="0">
                <a:latin typeface="Times New Roman" panose="02020603050405020304" pitchFamily="18" charset="0"/>
              </a:rPr>
              <a:t>The recurrence for the worst-case running time </a:t>
            </a:r>
            <a:r>
              <a:rPr lang="en-US" altLang="en-US" i="1" dirty="0">
                <a:latin typeface="Times New Roman" panose="02020603050405020304" pitchFamily="18" charset="0"/>
              </a:rPr>
              <a:t>T</a:t>
            </a:r>
            <a:r>
              <a:rPr lang="en-US" altLang="en-US" dirty="0">
                <a:latin typeface="Times New Roman" panose="02020603050405020304" pitchFamily="18" charset="0"/>
              </a:rPr>
              <a:t>(</a:t>
            </a:r>
            <a:r>
              <a:rPr lang="en-US" altLang="en-US" i="1" dirty="0">
                <a:latin typeface="Times New Roman" panose="02020603050405020304" pitchFamily="18" charset="0"/>
              </a:rPr>
              <a:t>n</a:t>
            </a:r>
            <a:r>
              <a:rPr lang="en-US" altLang="en-US" dirty="0">
                <a:latin typeface="Times New Roman" panose="02020603050405020304" pitchFamily="18" charset="0"/>
              </a:rPr>
              <a:t>) is </a:t>
            </a:r>
          </a:p>
          <a:p>
            <a:pPr algn="l" eaLnBrk="1" hangingPunct="1"/>
            <a:endParaRPr lang="en-US" altLang="en-US" dirty="0">
              <a:latin typeface="Times New Roman" panose="02020603050405020304" pitchFamily="18" charset="0"/>
            </a:endParaRPr>
          </a:p>
          <a:p>
            <a:pPr algn="l" eaLnBrk="1" hangingPunct="1"/>
            <a:r>
              <a:rPr lang="en-US" altLang="en-US" i="1" dirty="0">
                <a:latin typeface="Times New Roman" panose="02020603050405020304" pitchFamily="18" charset="0"/>
              </a:rPr>
              <a:t>T</a:t>
            </a:r>
            <a:r>
              <a:rPr lang="en-US" altLang="en-US" dirty="0">
                <a:latin typeface="Times New Roman" panose="02020603050405020304" pitchFamily="18" charset="0"/>
              </a:rPr>
              <a:t>(</a:t>
            </a:r>
            <a:r>
              <a:rPr lang="en-US" altLang="en-US" i="1" dirty="0">
                <a:latin typeface="Times New Roman" panose="02020603050405020304" pitchFamily="18" charset="0"/>
              </a:rPr>
              <a:t>n</a:t>
            </a:r>
            <a:r>
              <a:rPr lang="en-US" altLang="en-US" dirty="0">
                <a:latin typeface="Times New Roman" panose="02020603050405020304" pitchFamily="18" charset="0"/>
              </a:rPr>
              <a:t>) =     </a:t>
            </a:r>
            <a:r>
              <a:rPr lang="en-US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(1)                       if </a:t>
            </a:r>
            <a:r>
              <a:rPr lang="en-US" altLang="en-US" i="1" dirty="0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 = 1 or 2</a:t>
            </a:r>
          </a:p>
          <a:p>
            <a:pPr algn="l" eaLnBrk="1" hangingPunct="1"/>
            <a:r>
              <a:rPr lang="en-US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               2T(</a:t>
            </a:r>
            <a:r>
              <a:rPr lang="en-US" altLang="en-US" i="1" dirty="0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/2) + (1)       if </a:t>
            </a:r>
            <a:r>
              <a:rPr lang="en-US" altLang="en-US" i="1" dirty="0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 &gt; 2</a:t>
            </a:r>
          </a:p>
          <a:p>
            <a:pPr algn="l" eaLnBrk="1" hangingPunct="1"/>
            <a:endParaRPr lang="en-US" altLang="en-US" dirty="0">
              <a:latin typeface="Times New Roman" panose="02020603050405020304" pitchFamily="18" charset="0"/>
            </a:endParaRPr>
          </a:p>
          <a:p>
            <a:pPr algn="l" eaLnBrk="1" hangingPunct="1"/>
            <a:r>
              <a:rPr lang="en-US" altLang="en-US" b="1" dirty="0">
                <a:latin typeface="Times New Roman" panose="02020603050405020304" pitchFamily="18" charset="0"/>
              </a:rPr>
              <a:t>equivalently</a:t>
            </a:r>
          </a:p>
          <a:p>
            <a:pPr algn="l" eaLnBrk="1" hangingPunct="1"/>
            <a:endParaRPr lang="en-US" altLang="en-US" b="1" dirty="0">
              <a:latin typeface="Times New Roman" panose="02020603050405020304" pitchFamily="18" charset="0"/>
            </a:endParaRPr>
          </a:p>
          <a:p>
            <a:pPr algn="l" eaLnBrk="1" hangingPunct="1"/>
            <a:r>
              <a:rPr lang="en-US" altLang="en-US" i="1" dirty="0">
                <a:latin typeface="Times New Roman" panose="02020603050405020304" pitchFamily="18" charset="0"/>
              </a:rPr>
              <a:t>T</a:t>
            </a:r>
            <a:r>
              <a:rPr lang="en-US" altLang="en-US" dirty="0">
                <a:latin typeface="Times New Roman" panose="02020603050405020304" pitchFamily="18" charset="0"/>
              </a:rPr>
              <a:t>(</a:t>
            </a:r>
            <a:r>
              <a:rPr lang="en-US" altLang="en-US" i="1" dirty="0">
                <a:latin typeface="Times New Roman" panose="02020603050405020304" pitchFamily="18" charset="0"/>
              </a:rPr>
              <a:t>n</a:t>
            </a:r>
            <a:r>
              <a:rPr lang="en-US" altLang="en-US" dirty="0">
                <a:latin typeface="Times New Roman" panose="02020603050405020304" pitchFamily="18" charset="0"/>
              </a:rPr>
              <a:t>) =     </a:t>
            </a:r>
            <a:r>
              <a:rPr lang="en-US" altLang="en-US" i="1" dirty="0">
                <a:latin typeface="Times New Roman" panose="02020603050405020304" pitchFamily="18" charset="0"/>
                <a:sym typeface="Symbol" panose="05050102010706020507" pitchFamily="18" charset="2"/>
              </a:rPr>
              <a:t>b </a:t>
            </a:r>
            <a:r>
              <a:rPr lang="en-US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                         if </a:t>
            </a:r>
            <a:r>
              <a:rPr lang="en-US" altLang="en-US" i="1" dirty="0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 = 1 or 2</a:t>
            </a:r>
          </a:p>
          <a:p>
            <a:pPr algn="l" eaLnBrk="1" hangingPunct="1"/>
            <a:r>
              <a:rPr lang="en-US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               2</a:t>
            </a:r>
            <a:r>
              <a:rPr lang="en-US" altLang="en-US" i="1" dirty="0">
                <a:latin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lang="en-US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en-US" i="1" dirty="0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/2) + </a:t>
            </a:r>
            <a:r>
              <a:rPr lang="en-US" altLang="en-US" i="1" dirty="0"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          if </a:t>
            </a:r>
            <a:r>
              <a:rPr lang="en-US" altLang="en-US" i="1" dirty="0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 &gt; 2</a:t>
            </a:r>
          </a:p>
          <a:p>
            <a:pPr algn="l" eaLnBrk="1" hangingPunct="1"/>
            <a:endParaRPr lang="en-US" altLang="en-US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algn="l" eaLnBrk="1" hangingPunct="1"/>
            <a:endParaRPr lang="en-US" altLang="en-US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algn="l" eaLnBrk="1" hangingPunct="1"/>
            <a:r>
              <a:rPr lang="en-US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By solving the recurrence, we get</a:t>
            </a:r>
          </a:p>
          <a:p>
            <a:pPr algn="l" eaLnBrk="1" hangingPunct="1"/>
            <a:r>
              <a:rPr lang="en-US" altLang="en-US" i="1" dirty="0">
                <a:solidFill>
                  <a:srgbClr val="0000FF"/>
                </a:solidFill>
                <a:latin typeface="Times New Roman" panose="02020603050405020304" pitchFamily="18" charset="0"/>
              </a:rPr>
              <a:t>	T</a:t>
            </a:r>
            <a:r>
              <a:rPr lang="en-US" altLang="en-US" dirty="0">
                <a:solidFill>
                  <a:srgbClr val="0000FF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i="1" dirty="0">
                <a:solidFill>
                  <a:srgbClr val="0000FF"/>
                </a:solidFill>
                <a:latin typeface="Times New Roman" panose="02020603050405020304" pitchFamily="18" charset="0"/>
              </a:rPr>
              <a:t>n</a:t>
            </a:r>
            <a:r>
              <a:rPr lang="en-US" altLang="en-US" dirty="0">
                <a:solidFill>
                  <a:srgbClr val="0000FF"/>
                </a:solidFill>
                <a:latin typeface="Times New Roman" panose="02020603050405020304" pitchFamily="18" charset="0"/>
              </a:rPr>
              <a:t>) is </a:t>
            </a:r>
            <a:r>
              <a:rPr lang="en-US" altLang="en-US" i="1" dirty="0">
                <a:solidFill>
                  <a:srgbClr val="0000FF"/>
                </a:solidFill>
                <a:latin typeface="Times New Roman" panose="02020603050405020304" pitchFamily="18" charset="0"/>
              </a:rPr>
              <a:t>O</a:t>
            </a:r>
            <a:r>
              <a:rPr lang="en-US" altLang="en-US" dirty="0">
                <a:solidFill>
                  <a:srgbClr val="0000FF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800" dirty="0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i="1" dirty="0">
                <a:solidFill>
                  <a:srgbClr val="0000FF"/>
                </a:solidFill>
                <a:latin typeface="Times New Roman" panose="02020603050405020304" pitchFamily="18" charset="0"/>
              </a:rPr>
              <a:t>n</a:t>
            </a:r>
            <a:r>
              <a:rPr lang="en-US" altLang="en-US" sz="800" dirty="0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dirty="0">
                <a:solidFill>
                  <a:srgbClr val="0000FF"/>
                </a:solidFill>
                <a:latin typeface="Times New Roman" panose="02020603050405020304" pitchFamily="18" charset="0"/>
              </a:rPr>
              <a:t>)</a:t>
            </a:r>
            <a:endParaRPr lang="en-US" altLang="en-US" dirty="0">
              <a:solidFill>
                <a:srgbClr val="0000FF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5870780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computer-bunny.blue">
  <a:themeElements>
    <a:clrScheme name="">
      <a:dk1>
        <a:srgbClr val="000000"/>
      </a:dk1>
      <a:lt1>
        <a:srgbClr val="FFFFFF"/>
      </a:lt1>
      <a:dk2>
        <a:srgbClr val="CC0000"/>
      </a:dk2>
      <a:lt2>
        <a:srgbClr val="969696"/>
      </a:lt2>
      <a:accent1>
        <a:srgbClr val="0033CC"/>
      </a:accent1>
      <a:accent2>
        <a:srgbClr val="339933"/>
      </a:accent2>
      <a:accent3>
        <a:srgbClr val="FFFFFF"/>
      </a:accent3>
      <a:accent4>
        <a:srgbClr val="000000"/>
      </a:accent4>
      <a:accent5>
        <a:srgbClr val="AAADE2"/>
      </a:accent5>
      <a:accent6>
        <a:srgbClr val="2D8A2D"/>
      </a:accent6>
      <a:hlink>
        <a:srgbClr val="9900CC"/>
      </a:hlink>
      <a:folHlink>
        <a:srgbClr val="B2B2B2"/>
      </a:folHlink>
    </a:clrScheme>
    <a:fontScheme name="1_computer-bunny.blue">
      <a:majorFont>
        <a:latin typeface="Arial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90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90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1_computer-bunny.blue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omputer-bunny.blu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omputer-bunny.blue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omputer-bunny.blue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omputer-bunny.blue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omputer-bunny.blue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omputer-bunny.blue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omputer-bunny.blue 8">
        <a:dk1>
          <a:srgbClr val="000000"/>
        </a:dk1>
        <a:lt1>
          <a:srgbClr val="FFFFFF"/>
        </a:lt1>
        <a:dk2>
          <a:srgbClr val="CC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Default Design">
  <a:themeElements>
    <a:clrScheme name="1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Default Design">
      <a:majorFont>
        <a:latin typeface="Arial"/>
        <a:ea typeface="ＭＳ Ｐゴシック"/>
        <a:cs typeface="Arial"/>
      </a:majorFont>
      <a:minorFont>
        <a:latin typeface="Arial"/>
        <a:ea typeface="ＭＳ Ｐゴシック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90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90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1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2_computer-bunny.blue">
  <a:themeElements>
    <a:clrScheme name="">
      <a:dk1>
        <a:srgbClr val="000000"/>
      </a:dk1>
      <a:lt1>
        <a:srgbClr val="FFFFFF"/>
      </a:lt1>
      <a:dk2>
        <a:srgbClr val="CC0000"/>
      </a:dk2>
      <a:lt2>
        <a:srgbClr val="969696"/>
      </a:lt2>
      <a:accent1>
        <a:srgbClr val="0033CC"/>
      </a:accent1>
      <a:accent2>
        <a:srgbClr val="339933"/>
      </a:accent2>
      <a:accent3>
        <a:srgbClr val="FFFFFF"/>
      </a:accent3>
      <a:accent4>
        <a:srgbClr val="000000"/>
      </a:accent4>
      <a:accent5>
        <a:srgbClr val="AAADE2"/>
      </a:accent5>
      <a:accent6>
        <a:srgbClr val="2D8A2D"/>
      </a:accent6>
      <a:hlink>
        <a:srgbClr val="9900CC"/>
      </a:hlink>
      <a:folHlink>
        <a:srgbClr val="B2B2B2"/>
      </a:folHlink>
    </a:clrScheme>
    <a:fontScheme name="1_computer-bunny.blue">
      <a:majorFont>
        <a:latin typeface="Arial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90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90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1_computer-bunny.blue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omputer-bunny.blu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omputer-bunny.blue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omputer-bunny.blue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omputer-bunny.blue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omputer-bunny.blue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omputer-bunny.blue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omputer-bunny.blue 8">
        <a:dk1>
          <a:srgbClr val="000000"/>
        </a:dk1>
        <a:lt1>
          <a:srgbClr val="FFFFFF"/>
        </a:lt1>
        <a:dk2>
          <a:srgbClr val="CC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19314</TotalTime>
  <Words>392</Words>
  <Application>Microsoft Office PowerPoint</Application>
  <PresentationFormat>On-screen Show (4:3)</PresentationFormat>
  <Paragraphs>146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1_computer-bunny.blue</vt:lpstr>
      <vt:lpstr>1_Default Design</vt:lpstr>
      <vt:lpstr>2_computer-bunny.blue</vt:lpstr>
      <vt:lpstr>Divide-and-Conquer Technique:   Finding Maximum &amp; Minimum </vt:lpstr>
      <vt:lpstr>Divide-and-Conquer</vt:lpstr>
      <vt:lpstr>Divide-and-Conquer</vt:lpstr>
      <vt:lpstr>Finding Maximum and Minimum</vt:lpstr>
      <vt:lpstr>Finding Maximum and Minimum</vt:lpstr>
      <vt:lpstr>Finding Maximum and Minimum (FTI)</vt:lpstr>
      <vt:lpstr>Finding Maximum and Minimum</vt:lpstr>
      <vt:lpstr>Finding Maximum and Minimum</vt:lpstr>
      <vt:lpstr>Finding Maximum and Minimum</vt:lpstr>
      <vt:lpstr>Finding Maximum and Minimum</vt:lpstr>
    </vt:vector>
  </TitlesOfParts>
  <Company>Brown University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Analysis of Algorithms</dc:title>
  <dc:creator>Roberto Tamassia</dc:creator>
  <cp:lastModifiedBy>UIU</cp:lastModifiedBy>
  <cp:revision>1813</cp:revision>
  <dcterms:created xsi:type="dcterms:W3CDTF">2002-01-21T02:22:10Z</dcterms:created>
  <dcterms:modified xsi:type="dcterms:W3CDTF">2022-10-22T04:10:36Z</dcterms:modified>
</cp:coreProperties>
</file>